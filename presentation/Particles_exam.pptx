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One-liner of the result up front: six implementations of the same numerical model, five of them bitwise-identical to the serial baseline, up to 543× on one GPU and 114× across 4 nodes with MPI.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kernel is 99+% of the runtime — the whole project is about that loop. Weight doubles as mass; the numerical model, input format, and validation quantities are contractual and must not 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of the talk. Parallel ≠ nondeterministic: if you preserve the accumulation order per output element, an embarrassingly parallel outer loop reproduces serial floating point exactly. The measured cost of this choice comes later (profiling slide): −31% of potential GPU throughput. Worth it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numerical model six times. C++ family and Python family share their respective baselines' I/O and validation code verbatim; only the hot loops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is dataset-level over full trajectories (6 frames × N × 2), not just final scalars — position errors would compound over 200 steps and get caught.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"Bitwise" is the headline — it validates the design invariant of S3. The Numba-CUDA deviation is the one place we can't control contraction as precisely (nvvm codegen); it stays 3 orders of magnitude inside the course tolerance. Momentum components are catastrophic-cancellation quantities (~10⁻⁸ on 10¹¹-scale sums), so their trailing digits are not meaningful — expected and documented.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 during local verification before touching the cluster. A single fused multiply-add changed the particle COUNT — the dataset shapes stop matching, not just values. This motivates the no-contraction discipline of S3 and shows validation must compare structure, not only tolerances. On the exam platform the issue does not arise, but the report documents it for reproducibility on other machines.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deliverable #4 verbatim. Serial reference: 3.516 s for 200 steps at N=2231 = 0.283 GInteractions/s, flat across problem sizes (compute-bound, cache-resident).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pragmas on the baseline; deliberately minimal so the diff vs serial is reviewable. Bitwise at every thread count tested (1…32).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Near-ideal to 8 threads; 91% at the full socket. The 16/32-thread dips are memory-subsystem sharing, not algorithmic — the Amdahl fit next quantifies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topic "measuring performance". The tiny serial fraction is the integrator + loop bookkeeping. Ceiling ≈480× is the Amdahl asymptote 1/(serial fraction) — the fitted intercept of the linearized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shared-memory tiling: at these N the kernel is compute-bound with all data in L1/L2 (profiling slide), so tiling adds complexity for ~nothing — the honest engineering answer, backed by ncu data two slides ahead.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teaching moment: the official problem is too small for the GPU. N=2231 sits almost exactly at the CPU/GPU crossover. Numba-CPU at 27.5× ≈ hand-written OpenMP is remarkable for Python; Numba-CUDA pays kernel-launch + codegen overheads at tiny 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 is size-independent (0.283 flat); OpenMP saturates at ~8.4 GInt/s (~29×); the A100 climbs with occupancy and is 19× faster than the full CPU socket at N=144k. XXL serial is extrapolated from the flat rate (stated in the report). Different step counts per size are fine — GInt/s is a 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profiler-quantified price of reproducibility: we know exactly what bitwise costs (+31% forgone) and chose it deliberately. On the memory/compute roofline the kernel sits under the compute roof, far from the memory roof.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course's MPI day applied. The 1-node-vs-4-node pair at fixed rank count is the cleanest single number for "what does the network cost".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32/64/128-rank multi-size runs used a 4-node allocation with ranks spread across nodes (Dragonfly+). Same unifying lesson as S14: performance = keeping every processing element fed, whether SMs or ranks.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FMA anecdote callback: correctness in parallel computing is a design choice, not luck — and it is measurable.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talk is regenerable from the committed logs by tools/parse_benchmarks.py, tools/parse_scaling.py, tools/parse_mpi.py, tools/amdahl_fit.py.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17320"/>
            <a:ext cx="10515600" cy="1280160"/>
          </a:xfrm>
          <a:prstGeom prst="rect">
            <a:avLst/>
          </a:prstGeom>
          <a:noFill/>
        </p:spPr>
        <p:txBody>
          <a:bodyPr wrap="square">
            <a:spAutoFit/>
          </a:bodyPr>
          <a:lstStyle/>
          <a:p>
            <a:r>
              <a:rPr sz="4000" b="1">
                <a:solidFill>
                  <a:srgbClr val="1A1A1A"/>
                </a:solidFill>
                <a:latin typeface="Calibri"/>
              </a:rPr>
              <a:t>Particles: parallelizing an </a:t>
            </a:r>
            <a:r>
              <a:rPr sz="4000" b="1">
                <a:solidFill>
                  <a:srgbClr val="1F6FEB"/>
                </a:solidFill>
                <a:latin typeface="Calibri"/>
              </a:rPr>
              <a:t>O(N²)</a:t>
            </a:r>
            <a:r>
              <a:rPr sz="4000" b="1">
                <a:solidFill>
                  <a:srgbClr val="1A1A1A"/>
                </a:solidFill>
                <a:latin typeface="Calibri"/>
              </a:rPr>
              <a:t> N-body solver</a:t>
            </a:r>
          </a:p>
        </p:txBody>
      </p:sp>
      <p:sp>
        <p:nvSpPr>
          <p:cNvPr id="3" name="TextBox 2"/>
          <p:cNvSpPr txBox="1"/>
          <p:nvPr/>
        </p:nvSpPr>
        <p:spPr>
          <a:xfrm>
            <a:off x="841248" y="2697480"/>
            <a:ext cx="10424160" cy="457200"/>
          </a:xfrm>
          <a:prstGeom prst="rect">
            <a:avLst/>
          </a:prstGeom>
          <a:noFill/>
        </p:spPr>
        <p:txBody>
          <a:bodyPr wrap="none">
            <a:spAutoFit/>
          </a:bodyPr>
          <a:lstStyle/>
          <a:p>
            <a:r>
              <a:rPr sz="2000">
                <a:solidFill>
                  <a:srgbClr val="1F6FEB"/>
                </a:solidFill>
                <a:latin typeface="Calibri"/>
              </a:rPr>
              <a:t>Serial → OpenMP → CUDA → MPI → Numba, validated bitwise on Leonardo (A100)</a:t>
            </a:r>
          </a:p>
        </p:txBody>
      </p:sp>
      <p:sp>
        <p:nvSpPr>
          <p:cNvPr id="4" name="TextBox 3"/>
          <p:cNvSpPr txBox="1"/>
          <p:nvPr/>
        </p:nvSpPr>
        <p:spPr>
          <a:xfrm>
            <a:off x="841248" y="3200400"/>
            <a:ext cx="10424160" cy="457200"/>
          </a:xfrm>
          <a:prstGeom prst="rect">
            <a:avLst/>
          </a:prstGeom>
          <a:noFill/>
        </p:spPr>
        <p:txBody>
          <a:bodyPr wrap="none">
            <a:spAutoFit/>
          </a:bodyPr>
          <a:lstStyle/>
          <a:p>
            <a:r>
              <a:rPr sz="1600">
                <a:solidFill>
                  <a:srgbClr val="5A5A5A"/>
                </a:solidFill>
                <a:latin typeface="Calibri"/>
              </a:rPr>
              <a:t>Leonardo Scappatura  —  Polimi PhD School, HPC course final project  —  July 2026</a:t>
            </a:r>
          </a:p>
        </p:txBody>
      </p:sp>
      <p:sp>
        <p:nvSpPr>
          <p:cNvPr id="5" name="Rectangle 4"/>
          <p:cNvSpPr/>
          <p:nvPr/>
        </p:nvSpPr>
        <p:spPr>
          <a:xfrm>
            <a:off x="655167" y="4480560"/>
            <a:ext cx="2514600" cy="1371600"/>
          </a:xfrm>
          <a:prstGeom prst="rect">
            <a:avLst/>
          </a:prstGeom>
          <a:solidFill>
            <a:srgbClr val="F1F5FB"/>
          </a:solidFill>
          <a:ln w="9525">
            <a:solidFill>
              <a:srgbClr val="F1F5FB"/>
            </a:solidFill>
          </a:ln>
          <a:effectLst/>
        </p:spPr>
        <p:style>
          <a:lnRef idx="1">
            <a:schemeClr val="accent1"/>
          </a:lnRef>
          <a:fillRef idx="3">
            <a:schemeClr val="accent1"/>
          </a:fillRef>
          <a:effectRef idx="2">
            <a:schemeClr val="accent1"/>
          </a:effectRef>
          <a:fontRef idx="minor">
            <a:schemeClr val="lt1"/>
          </a:fontRef>
        </p:style>
        <p:txBody>
          <a:bodyPr rtlCol="0" anchor="ctr" wrap="square" tIns="109728" bIns="73152"/>
          <a:lstStyle/>
          <a:p>
            <a:pPr algn="ctr"/>
            <a:r>
              <a:rPr sz="3400" b="1">
                <a:solidFill>
                  <a:srgbClr val="1F6FEB"/>
                </a:solidFill>
                <a:latin typeface="Calibri"/>
              </a:rPr>
              <a:t>6</a:t>
            </a:r>
          </a:p>
          <a:p>
            <a:pPr algn="ctr"/>
            <a:r>
              <a:rPr sz="1250">
                <a:solidFill>
                  <a:srgbClr val="1A1A1A"/>
                </a:solidFill>
                <a:latin typeface="Calibri"/>
              </a:rPr>
              <a:t>implementations</a:t>
            </a:r>
          </a:p>
        </p:txBody>
      </p:sp>
      <p:sp>
        <p:nvSpPr>
          <p:cNvPr id="6" name="Rectangle 5"/>
          <p:cNvSpPr/>
          <p:nvPr/>
        </p:nvSpPr>
        <p:spPr>
          <a:xfrm>
            <a:off x="3444087" y="4480560"/>
            <a:ext cx="2514600" cy="1371600"/>
          </a:xfrm>
          <a:prstGeom prst="rect">
            <a:avLst/>
          </a:prstGeom>
          <a:solidFill>
            <a:srgbClr val="F1F5FB"/>
          </a:solidFill>
          <a:ln w="9525">
            <a:solidFill>
              <a:srgbClr val="F1F5FB"/>
            </a:solidFill>
          </a:ln>
          <a:effectLst/>
        </p:spPr>
        <p:style>
          <a:lnRef idx="1">
            <a:schemeClr val="accent1"/>
          </a:lnRef>
          <a:fillRef idx="3">
            <a:schemeClr val="accent1"/>
          </a:fillRef>
          <a:effectRef idx="2">
            <a:schemeClr val="accent1"/>
          </a:effectRef>
          <a:fontRef idx="minor">
            <a:schemeClr val="lt1"/>
          </a:fontRef>
        </p:style>
        <p:txBody>
          <a:bodyPr rtlCol="0" anchor="ctr" wrap="square" tIns="109728" bIns="73152"/>
          <a:lstStyle/>
          <a:p>
            <a:pPr algn="ctr"/>
            <a:r>
              <a:rPr sz="3400" b="1">
                <a:solidFill>
                  <a:srgbClr val="1F6FEB"/>
                </a:solidFill>
                <a:latin typeface="Calibri"/>
              </a:rPr>
              <a:t>5</a:t>
            </a:r>
          </a:p>
          <a:p>
            <a:pPr algn="ctr"/>
            <a:r>
              <a:rPr sz="1250">
                <a:solidFill>
                  <a:srgbClr val="1A1A1A"/>
                </a:solidFill>
                <a:latin typeface="Calibri"/>
              </a:rPr>
              <a:t>bitwise-identical to serial</a:t>
            </a:r>
          </a:p>
        </p:txBody>
      </p:sp>
      <p:sp>
        <p:nvSpPr>
          <p:cNvPr id="7" name="Rectangle 6"/>
          <p:cNvSpPr/>
          <p:nvPr/>
        </p:nvSpPr>
        <p:spPr>
          <a:xfrm>
            <a:off x="6233007" y="4480560"/>
            <a:ext cx="2514600" cy="1371600"/>
          </a:xfrm>
          <a:prstGeom prst="rect">
            <a:avLst/>
          </a:prstGeom>
          <a:solidFill>
            <a:srgbClr val="F1F5FB"/>
          </a:solidFill>
          <a:ln w="9525">
            <a:solidFill>
              <a:srgbClr val="F1F5FB"/>
            </a:solidFill>
          </a:ln>
          <a:effectLst/>
        </p:spPr>
        <p:style>
          <a:lnRef idx="1">
            <a:schemeClr val="accent1"/>
          </a:lnRef>
          <a:fillRef idx="3">
            <a:schemeClr val="accent1"/>
          </a:fillRef>
          <a:effectRef idx="2">
            <a:schemeClr val="accent1"/>
          </a:effectRef>
          <a:fontRef idx="minor">
            <a:schemeClr val="lt1"/>
          </a:fontRef>
        </p:style>
        <p:txBody>
          <a:bodyPr rtlCol="0" anchor="ctr" wrap="square" tIns="109728" bIns="73152"/>
          <a:lstStyle/>
          <a:p>
            <a:pPr algn="ctr"/>
            <a:r>
              <a:rPr sz="3400" b="1">
                <a:solidFill>
                  <a:srgbClr val="1F6FEB"/>
                </a:solidFill>
                <a:latin typeface="Calibri"/>
              </a:rPr>
              <a:t>543×</a:t>
            </a:r>
          </a:p>
          <a:p>
            <a:pPr algn="ctr"/>
            <a:r>
              <a:rPr sz="1250">
                <a:solidFill>
                  <a:srgbClr val="1A1A1A"/>
                </a:solidFill>
                <a:latin typeface="Calibri"/>
              </a:rPr>
              <a:t>max GPU speed-up</a:t>
            </a:r>
          </a:p>
        </p:txBody>
      </p:sp>
      <p:sp>
        <p:nvSpPr>
          <p:cNvPr id="8" name="Rectangle 7"/>
          <p:cNvSpPr/>
          <p:nvPr/>
        </p:nvSpPr>
        <p:spPr>
          <a:xfrm>
            <a:off x="9021927" y="4480560"/>
            <a:ext cx="2514600" cy="1371600"/>
          </a:xfrm>
          <a:prstGeom prst="rect">
            <a:avLst/>
          </a:prstGeom>
          <a:solidFill>
            <a:srgbClr val="F1F5FB"/>
          </a:solidFill>
          <a:ln w="9525">
            <a:solidFill>
              <a:srgbClr val="F1F5FB"/>
            </a:solidFill>
          </a:ln>
          <a:effectLst/>
        </p:spPr>
        <p:style>
          <a:lnRef idx="1">
            <a:schemeClr val="accent1"/>
          </a:lnRef>
          <a:fillRef idx="3">
            <a:schemeClr val="accent1"/>
          </a:fillRef>
          <a:effectRef idx="2">
            <a:schemeClr val="accent1"/>
          </a:effectRef>
          <a:fontRef idx="minor">
            <a:schemeClr val="lt1"/>
          </a:fontRef>
        </p:style>
        <p:txBody>
          <a:bodyPr rtlCol="0" anchor="ctr" wrap="square" tIns="109728" bIns="73152"/>
          <a:lstStyle/>
          <a:p>
            <a:pPr algn="ctr"/>
            <a:r>
              <a:rPr sz="3400" b="1">
                <a:solidFill>
                  <a:srgbClr val="1F6FEB"/>
                </a:solidFill>
                <a:latin typeface="Calibri"/>
              </a:rPr>
              <a:t>113.7×</a:t>
            </a:r>
          </a:p>
          <a:p>
            <a:pPr algn="ctr"/>
            <a:r>
              <a:rPr sz="1250">
                <a:solidFill>
                  <a:srgbClr val="1A1A1A"/>
                </a:solidFill>
                <a:latin typeface="Calibri"/>
              </a:rPr>
              <a:t>MPI, 128 ranks</a:t>
            </a:r>
          </a:p>
        </p:txBody>
      </p:sp>
      <p:sp>
        <p:nvSpPr>
          <p:cNvPr id="9" name="TextBox 8"/>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The application</a:t>
            </a:r>
          </a:p>
        </p:txBody>
      </p:sp>
      <p:sp>
        <p:nvSpPr>
          <p:cNvPr id="3" name="TextBox 2"/>
          <p:cNvSpPr txBox="1"/>
          <p:nvPr/>
        </p:nvSpPr>
        <p:spPr>
          <a:xfrm>
            <a:off x="685800" y="1417320"/>
            <a:ext cx="10881360" cy="475488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2D particle-dynamics toy solver from the course repository (C++17 + Python baselines).</a:t>
            </a:r>
          </a:p>
          <a:p>
            <a:pPr algn="l" marL="285750" indent="-285750">
              <a:lnSpc>
                <a:spcPct val="104000"/>
              </a:lnSpc>
              <a:spcAft>
                <a:spcPts val="800"/>
              </a:spcAft>
              <a:buClr>
                <a:srgbClr val="1F6FEB"/>
              </a:buClr>
              <a:buFont typeface="Arial"/>
              <a:buChar char="•"/>
            </a:pPr>
            <a:r>
              <a:rPr sz="1800">
                <a:solidFill>
                  <a:srgbClr val="1A1A1A"/>
                </a:solidFill>
                <a:latin typeface="Calibri"/>
              </a:rPr>
              <a:t>Particle generation: Mandelbrot field on a 1200×1000 grid (3000 iters); cells above threshold become particles → </a:t>
            </a:r>
            <a:r>
              <a:rPr b="1" sz="1800">
                <a:solidFill>
                  <a:srgbClr val="1F6FEB"/>
                </a:solidFill>
                <a:latin typeface="Calibri"/>
              </a:rPr>
              <a:t>N = 2231</a:t>
            </a:r>
            <a:r>
              <a:rPr sz="1800">
                <a:solidFill>
                  <a:srgbClr val="1A1A1A"/>
                </a:solidFill>
                <a:latin typeface="Calibri"/>
              </a:rPr>
              <a:t>, weight = mass.</a:t>
            </a:r>
          </a:p>
          <a:p>
            <a:pPr algn="l" marL="285750" indent="-285750">
              <a:lnSpc>
                <a:spcPct val="104000"/>
              </a:lnSpc>
              <a:spcAft>
                <a:spcPts val="800"/>
              </a:spcAft>
              <a:buClr>
                <a:srgbClr val="1F6FEB"/>
              </a:buClr>
              <a:buFont typeface="Arial"/>
              <a:buChar char="•"/>
            </a:pPr>
            <a:r>
              <a:rPr sz="1800">
                <a:solidFill>
                  <a:srgbClr val="1A1A1A"/>
                </a:solidFill>
                <a:latin typeface="Calibri"/>
              </a:rPr>
              <a:t>Dynamics: </a:t>
            </a:r>
            <a:r>
              <a:rPr b="1" sz="1800">
                <a:solidFill>
                  <a:srgbClr val="1F6FEB"/>
                </a:solidFill>
                <a:latin typeface="Calibri"/>
              </a:rPr>
              <a:t>all-pairs softened force</a:t>
            </a:r>
            <a:r>
              <a:rPr sz="1800">
                <a:solidFill>
                  <a:srgbClr val="1A1A1A"/>
                </a:solidFill>
                <a:latin typeface="Calibri"/>
              </a:rPr>
              <a:t> — kForce·wᵢwⱼ/(r²+ε²)</a:t>
            </a:r>
            <a:r>
              <a:rPr sz="1100" baseline="30000">
                <a:solidFill>
                  <a:srgbClr val="1A1A1A"/>
                </a:solidFill>
                <a:latin typeface="Calibri"/>
              </a:rPr>
              <a:t>3/2</a:t>
            </a:r>
            <a:r>
              <a:rPr sz="1800">
                <a:solidFill>
                  <a:srgbClr val="1A1A1A"/>
                </a:solidFill>
                <a:latin typeface="Calibri"/>
              </a:rPr>
              <a:t>, kForce=10⁻³, ε²=10⁻⁴.</a:t>
            </a:r>
          </a:p>
          <a:p>
            <a:pPr algn="l" marL="285750" indent="-285750">
              <a:lnSpc>
                <a:spcPct val="104000"/>
              </a:lnSpc>
              <a:spcAft>
                <a:spcPts val="800"/>
              </a:spcAft>
              <a:buClr>
                <a:srgbClr val="1F6FEB"/>
              </a:buClr>
              <a:buFont typeface="Arial"/>
              <a:buChar char="•"/>
            </a:pPr>
            <a:r>
              <a:rPr sz="1800">
                <a:solidFill>
                  <a:srgbClr val="1A1A1A"/>
                </a:solidFill>
                <a:latin typeface="Calibri"/>
              </a:rPr>
              <a:t>Integrator: velocity-Verlet, 200 steps, dt=10⁻³ → </a:t>
            </a:r>
            <a:r>
              <a:rPr b="1" sz="1800">
                <a:solidFill>
                  <a:srgbClr val="1F6FEB"/>
                </a:solidFill>
                <a:latin typeface="Calibri"/>
              </a:rPr>
              <a:t>O(N²)·steps ≈ 10⁹ interactions</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Output: HDF5 (/pos /vel /step /weight) + 11 printed validation quantities (sums, momenta, kinetic/potential-like energy).</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Strategy: reproducibility first</a:t>
            </a:r>
          </a:p>
        </p:txBody>
      </p:sp>
      <p:sp>
        <p:nvSpPr>
          <p:cNvPr id="3" name="TextBox 2"/>
          <p:cNvSpPr txBox="1"/>
          <p:nvPr/>
        </p:nvSpPr>
        <p:spPr>
          <a:xfrm>
            <a:off x="685800" y="1417320"/>
            <a:ext cx="10881360" cy="475488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Design invariant used in EVERY port: </a:t>
            </a:r>
            <a:r>
              <a:rPr b="1" sz="1800">
                <a:solidFill>
                  <a:srgbClr val="1F6FEB"/>
                </a:solidFill>
                <a:latin typeface="Calibri"/>
              </a:rPr>
              <a:t>parallelize only the outer particle index i; keep the inner j-sum in serial order (j = 0…N−1)</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Each fx[i] then accumulates in exactly the serial order → results can be </a:t>
            </a:r>
            <a:r>
              <a:rPr b="1" sz="1800">
                <a:solidFill>
                  <a:srgbClr val="1F6FEB"/>
                </a:solidFill>
                <a:latin typeface="Calibri"/>
              </a:rPr>
              <a:t>bitwise identical</a:t>
            </a:r>
            <a:r>
              <a:rPr sz="1800">
                <a:solidFill>
                  <a:srgbClr val="1A1A1A"/>
                </a:solidFill>
                <a:latin typeface="Calibri"/>
              </a:rPr>
              <a:t>, not just "within tolerance".</a:t>
            </a:r>
          </a:p>
          <a:p>
            <a:pPr algn="l" marL="285750" indent="-285750">
              <a:lnSpc>
                <a:spcPct val="104000"/>
              </a:lnSpc>
              <a:spcAft>
                <a:spcPts val="800"/>
              </a:spcAft>
              <a:buClr>
                <a:srgbClr val="1F6FEB"/>
              </a:buClr>
              <a:buFont typeface="Arial"/>
              <a:buChar char="•"/>
            </a:pPr>
            <a:r>
              <a:rPr sz="1800">
                <a:solidFill>
                  <a:srgbClr val="1A1A1A"/>
                </a:solidFill>
                <a:latin typeface="Calibri"/>
              </a:rPr>
              <a:t>Corollaries: no fast-math anywhere; no FMA contraction (CUDA uses </a:t>
            </a:r>
            <a:r>
              <a:rPr sz="1700">
                <a:solidFill>
                  <a:srgbClr val="0B3D91"/>
                </a:solidFill>
                <a:latin typeface="Consolas"/>
              </a:rPr>
              <a:t>__dadd_rn</a:t>
            </a:r>
            <a:r>
              <a:rPr sz="1800">
                <a:solidFill>
                  <a:srgbClr val="1A1A1A"/>
                </a:solidFill>
                <a:latin typeface="Calibri"/>
              </a:rPr>
              <a:t>/</a:t>
            </a:r>
            <a:r>
              <a:rPr sz="1700">
                <a:solidFill>
                  <a:srgbClr val="0B3D91"/>
                </a:solidFill>
                <a:latin typeface="Consolas"/>
              </a:rPr>
              <a:t>__dmul_rn</a:t>
            </a:r>
            <a:r>
              <a:rPr sz="1800">
                <a:solidFill>
                  <a:srgbClr val="1A1A1A"/>
                </a:solidFill>
                <a:latin typeface="Calibri"/>
              </a:rPr>
              <a:t> intrinsics); no pair-symmetry tricks that create write races.</a:t>
            </a:r>
          </a:p>
          <a:p>
            <a:pPr algn="l" marL="285750" indent="-285750">
              <a:lnSpc>
                <a:spcPct val="104000"/>
              </a:lnSpc>
              <a:spcAft>
                <a:spcPts val="800"/>
              </a:spcAft>
              <a:buClr>
                <a:srgbClr val="1F6FEB"/>
              </a:buClr>
              <a:buFont typeface="Arial"/>
              <a:buChar char="•"/>
            </a:pPr>
            <a:r>
              <a:rPr sz="1800">
                <a:solidFill>
                  <a:srgbClr val="1A1A1A"/>
                </a:solidFill>
                <a:latin typeface="Calibri"/>
              </a:rPr>
              <a:t>Baseline untouched: each port is a separate self-contained source file, exactly as the CMake scaffold expects.</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Six implementations</a:t>
            </a:r>
          </a:p>
        </p:txBody>
      </p:sp>
      <p:graphicFrame>
        <p:nvGraphicFramePr>
          <p:cNvPr id="3" name="Table 2"/>
          <p:cNvGraphicFramePr>
            <a:graphicFrameLocks noGrp="1"/>
          </p:cNvGraphicFramePr>
          <p:nvPr/>
        </p:nvGraphicFramePr>
        <p:xfrm>
          <a:off x="548640" y="1463040"/>
          <a:ext cx="10972799" cy="4078224"/>
        </p:xfrm>
        <a:graphic>
          <a:graphicData uri="http://schemas.openxmlformats.org/drawingml/2006/table">
            <a:tbl>
              <a:tblPr firstRow="0" bandRow="0" lastRow="0" firstCol="0" lastCol="0" bandCol="0"/>
              <a:tblGrid>
                <a:gridCol w="1874519"/>
                <a:gridCol w="3703320"/>
                <a:gridCol w="5394960"/>
              </a:tblGrid>
              <a:tr h="457200">
                <a:tc>
                  <a:txBody>
                    <a:bodyPr wrap="square"/>
                    <a:lstStyle/>
                    <a:p>
                      <a:pPr algn="ctr"/>
                      <a:r>
                        <a:rPr sz="1300" b="1">
                          <a:solidFill>
                            <a:srgbClr val="FFFFFF"/>
                          </a:solidFill>
                          <a:latin typeface="Calibri"/>
                        </a:rPr>
                        <a:t>Implementation</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300" b="1">
                          <a:solidFill>
                            <a:srgbClr val="FFFFFF"/>
                          </a:solidFill>
                          <a:latin typeface="Calibri"/>
                        </a:rPr>
                        <a:t>Source file</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300" b="1">
                          <a:solidFill>
                            <a:srgbClr val="FFFFFF"/>
                          </a:solidFill>
                          <a:latin typeface="Calibri"/>
                        </a:rPr>
                        <a:t>Key techniques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r>
              <a:tr h="603504">
                <a:tc>
                  <a:txBody>
                    <a:bodyPr wrap="square"/>
                    <a:lstStyle/>
                    <a:p>
                      <a:pPr algn="l"/>
                      <a:r>
                        <a:rPr sz="1200" b="1">
                          <a:solidFill>
                            <a:srgbClr val="1F6FEB"/>
                          </a:solidFill>
                          <a:latin typeface="Calibri"/>
                        </a:rPr>
                        <a:t>Serial (baseline)</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onsolas"/>
                        </a:rPr>
                        <a:t>src/cpp/particles.cpp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alibri"/>
                        </a:rPr>
                        <a:t>reference; SoA layout</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603504">
                <a:tc>
                  <a:txBody>
                    <a:bodyPr wrap="square"/>
                    <a:lstStyle/>
                    <a:p>
                      <a:pPr algn="l"/>
                      <a:r>
                        <a:rPr sz="1200" b="1">
                          <a:solidFill>
                            <a:srgbClr val="1F6FEB"/>
                          </a:solidFill>
                          <a:latin typeface="Calibri"/>
                        </a:rPr>
                        <a:t>OpenMP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onsolas"/>
                        </a:rPr>
                        <a:t>src/cpp/particles_omp.cpp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alibri"/>
                        </a:rPr>
                        <a:t>parallel for on outer loops; reductions for validation sums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603504">
                <a:tc>
                  <a:txBody>
                    <a:bodyPr wrap="square"/>
                    <a:lstStyle/>
                    <a:p>
                      <a:pPr algn="l"/>
                      <a:r>
                        <a:rPr sz="1200" b="1">
                          <a:solidFill>
                            <a:srgbClr val="1F6FEB"/>
                          </a:solidFill>
                          <a:latin typeface="Calibri"/>
                        </a:rPr>
                        <a:t>CUDA</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onsolas"/>
                        </a:rPr>
                        <a:t>src/cpp/particles.cu</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alibri"/>
                        </a:rPr>
                        <a:t>1 thread = 1 particle; device-resident SoA; __d*_rn intrinsics; sm_80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603504">
                <a:tc>
                  <a:txBody>
                    <a:bodyPr wrap="square"/>
                    <a:lstStyle/>
                    <a:p>
                      <a:pPr algn="l"/>
                      <a:r>
                        <a:rPr sz="1200" b="1">
                          <a:solidFill>
                            <a:srgbClr val="1F6FEB"/>
                          </a:solidFill>
                          <a:latin typeface="Calibri"/>
                        </a:rPr>
                        <a:t>MPI</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onsolas"/>
                        </a:rPr>
                        <a:t>src/cpp/particles_mpi.cpp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alibri"/>
                        </a:rPr>
                        <a:t>block decomposition of i; per-step MPI_Allgatherv of positions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603504">
                <a:tc>
                  <a:txBody>
                    <a:bodyPr wrap="square"/>
                    <a:lstStyle/>
                    <a:p>
                      <a:pPr algn="l"/>
                      <a:r>
                        <a:rPr sz="1200" b="1">
                          <a:solidFill>
                            <a:srgbClr val="1F6FEB"/>
                          </a:solidFill>
                          <a:latin typeface="Calibri"/>
                        </a:rPr>
                        <a:t>Numba CPU</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onsolas"/>
                        </a:rPr>
                        <a:t>src/python/particles_numba.py</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l"/>
                      <a:r>
                        <a:rPr sz="1200" b="0">
                          <a:solidFill>
                            <a:srgbClr val="1A1A1A"/>
                          </a:solidFill>
                          <a:latin typeface="Calibri"/>
                        </a:rPr>
                        <a:t>@njit(parallel=True) + prange, fastmath=False</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603504">
                <a:tc>
                  <a:txBody>
                    <a:bodyPr wrap="square"/>
                    <a:lstStyle/>
                    <a:p>
                      <a:pPr algn="l"/>
                      <a:r>
                        <a:rPr sz="1200" b="1">
                          <a:solidFill>
                            <a:srgbClr val="1F6FEB"/>
                          </a:solidFill>
                          <a:latin typeface="Calibri"/>
                        </a:rPr>
                        <a:t>Numba CUDA</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onsolas"/>
                        </a:rPr>
                        <a:t>src/python/particles_numba_cuda.py</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l"/>
                      <a:r>
                        <a:rPr sz="1200" b="0">
                          <a:solidFill>
                            <a:srgbClr val="1A1A1A"/>
                          </a:solidFill>
                          <a:latin typeface="Calibri"/>
                        </a:rPr>
                        <a:t>@cuda.jit kernels, float64, device-resident</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bl>
          </a:graphicData>
        </a:graphic>
      </p:graphicFrame>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Correctness methodology</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Every implementation writes the same HDF5 datasets; the course validator compares </a:t>
            </a:r>
            <a:r>
              <a:rPr sz="1700">
                <a:solidFill>
                  <a:srgbClr val="0B3D91"/>
                </a:solidFill>
                <a:latin typeface="Consolas"/>
              </a:rPr>
              <a:t>/step /weight /pos /vel</a:t>
            </a:r>
            <a:r>
              <a:rPr sz="1800">
                <a:solidFill>
                  <a:srgbClr val="1A1A1A"/>
                </a:solidFill>
                <a:latin typeface="Calibri"/>
              </a:rPr>
              <a:t> pairwise.</a:t>
            </a:r>
          </a:p>
          <a:p>
            <a:pPr algn="l" marL="285750" indent="-285750">
              <a:lnSpc>
                <a:spcPct val="104000"/>
              </a:lnSpc>
              <a:spcAft>
                <a:spcPts val="800"/>
              </a:spcAft>
              <a:buClr>
                <a:srgbClr val="1F6FEB"/>
              </a:buClr>
              <a:buFont typeface="Arial"/>
              <a:buChar char="•"/>
            </a:pPr>
            <a:r>
              <a:rPr b="1" sz="1800">
                <a:solidFill>
                  <a:srgbClr val="1F6FEB"/>
                </a:solidFill>
                <a:latin typeface="Calibri"/>
              </a:rPr>
              <a:t>15-pair full matrix</a:t>
            </a:r>
            <a:r>
              <a:rPr sz="1800">
                <a:solidFill>
                  <a:srgbClr val="1A1A1A"/>
                </a:solidFill>
                <a:latin typeface="Calibri"/>
              </a:rPr>
              <a:t> (all six implementations) at the course gate rtol=atol=2·10⁻³.</a:t>
            </a:r>
          </a:p>
          <a:p>
            <a:pPr algn="l" marL="285750" indent="-285750">
              <a:lnSpc>
                <a:spcPct val="104000"/>
              </a:lnSpc>
              <a:spcAft>
                <a:spcPts val="800"/>
              </a:spcAft>
              <a:buClr>
                <a:srgbClr val="1F6FEB"/>
              </a:buClr>
              <a:buFont typeface="Arial"/>
              <a:buChar char="•"/>
            </a:pPr>
            <a:r>
              <a:rPr sz="1800">
                <a:solidFill>
                  <a:srgbClr val="1A1A1A"/>
                </a:solidFill>
                <a:latin typeface="Calibri"/>
              </a:rPr>
              <a:t>Extra strict pass at rtol=10⁻¹² ("near-bitwise") within each language family.</a:t>
            </a:r>
          </a:p>
          <a:p>
            <a:pPr algn="l" marL="285750" indent="-285750">
              <a:lnSpc>
                <a:spcPct val="104000"/>
              </a:lnSpc>
              <a:spcAft>
                <a:spcPts val="800"/>
              </a:spcAft>
              <a:buClr>
                <a:srgbClr val="1F6FEB"/>
              </a:buClr>
              <a:buFont typeface="Arial"/>
              <a:buChar char="•"/>
            </a:pPr>
            <a:r>
              <a:rPr sz="1800">
                <a:solidFill>
                  <a:srgbClr val="1A1A1A"/>
                </a:solidFill>
                <a:latin typeface="Calibri"/>
              </a:rPr>
              <a:t>Plus: 17-significant-digit comparison of the 11 printed validation quantities.</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Correctness results (Leonardo A100, official input)</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b="1" sz="1800">
                <a:solidFill>
                  <a:srgbClr val="1F6FEB"/>
                </a:solidFill>
                <a:latin typeface="Calibri"/>
              </a:rPr>
              <a:t>15/15 pairs PASS</a:t>
            </a:r>
            <a:r>
              <a:rPr sz="1800">
                <a:solidFill>
                  <a:srgbClr val="1A1A1A"/>
                </a:solidFill>
                <a:latin typeface="Calibri"/>
              </a:rPr>
              <a:t> the course gate.</a:t>
            </a:r>
          </a:p>
          <a:p>
            <a:pPr algn="l" marL="285750" indent="-285750">
              <a:lnSpc>
                <a:spcPct val="104000"/>
              </a:lnSpc>
              <a:spcAft>
                <a:spcPts val="800"/>
              </a:spcAft>
              <a:buClr>
                <a:srgbClr val="1F6FEB"/>
              </a:buClr>
              <a:buFont typeface="Arial"/>
              <a:buChar char="•"/>
            </a:pPr>
            <a:r>
              <a:rPr sz="1800">
                <a:solidFill>
                  <a:srgbClr val="1A1A1A"/>
                </a:solidFill>
                <a:latin typeface="Calibri"/>
              </a:rPr>
              <a:t>serial, OpenMP, CUDA, MPI, Python, Numba: </a:t>
            </a:r>
            <a:r>
              <a:rPr b="1" sz="1800">
                <a:solidFill>
                  <a:srgbClr val="1F6FEB"/>
                </a:solidFill>
                <a:latin typeface="Calibri"/>
              </a:rPr>
              <a:t>bitwise identical</a:t>
            </a:r>
            <a:r>
              <a:rPr sz="1800">
                <a:solidFill>
                  <a:srgbClr val="1A1A1A"/>
                </a:solidFill>
                <a:latin typeface="Calibri"/>
              </a:rPr>
              <a:t> — validator max_abs_diff = 0 on /pos and /vel.</a:t>
            </a:r>
          </a:p>
          <a:p>
            <a:pPr algn="l" marL="285750" indent="-285750">
              <a:lnSpc>
                <a:spcPct val="104000"/>
              </a:lnSpc>
              <a:spcAft>
                <a:spcPts val="800"/>
              </a:spcAft>
              <a:buClr>
                <a:srgbClr val="1F6FEB"/>
              </a:buClr>
              <a:buFont typeface="Arial"/>
              <a:buChar char="•"/>
            </a:pPr>
            <a:r>
              <a:rPr sz="1800">
                <a:solidFill>
                  <a:srgbClr val="1A1A1A"/>
                </a:solidFill>
                <a:latin typeface="Calibri"/>
              </a:rPr>
              <a:t>CUDA = serial in </a:t>
            </a:r>
            <a:r>
              <a:rPr b="1" sz="1800">
                <a:solidFill>
                  <a:srgbClr val="1F6FEB"/>
                </a:solidFill>
                <a:latin typeface="Calibri"/>
              </a:rPr>
              <a:t>all 11 validation quantities to all 17 printed digits</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MPI bitwise-identical from </a:t>
            </a:r>
            <a:r>
              <a:rPr b="1" sz="1800">
                <a:solidFill>
                  <a:srgbClr val="1F6FEB"/>
                </a:solidFill>
                <a:latin typeface="Calibri"/>
              </a:rPr>
              <a:t>1 to 128 ranks</a:t>
            </a:r>
            <a:r>
              <a:rPr sz="1800">
                <a:solidFill>
                  <a:srgbClr val="1A1A1A"/>
                </a:solidFill>
                <a:latin typeface="Calibri"/>
              </a:rPr>
              <a:t> (decomposition preserves sum order).</a:t>
            </a:r>
          </a:p>
          <a:p>
            <a:pPr algn="l" marL="285750" indent="-285750">
              <a:lnSpc>
                <a:spcPct val="104000"/>
              </a:lnSpc>
              <a:spcAft>
                <a:spcPts val="800"/>
              </a:spcAft>
              <a:buClr>
                <a:srgbClr val="1F6FEB"/>
              </a:buClr>
              <a:buFont typeface="Arial"/>
              <a:buChar char="•"/>
            </a:pPr>
            <a:r>
              <a:rPr sz="1800">
                <a:solidFill>
                  <a:srgbClr val="1A1A1A"/>
                </a:solidFill>
                <a:latin typeface="Calibri"/>
              </a:rPr>
              <a:t>Only exception: Numba-CUDA ≤ 1.2·10⁻³ abs on positions (within gate; fails only the strict 10⁻¹² pass).</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Case study: one FMA, one particle</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On macOS (clang, default </a:t>
            </a:r>
            <a:r>
              <a:rPr sz="1700">
                <a:solidFill>
                  <a:srgbClr val="0B3D91"/>
                </a:solidFill>
                <a:latin typeface="Consolas"/>
              </a:rPr>
              <a:t>-ffp-contract</a:t>
            </a:r>
            <a:r>
              <a:rPr sz="1800">
                <a:solidFill>
                  <a:srgbClr val="1A1A1A"/>
                </a:solidFill>
                <a:latin typeface="Calibri"/>
              </a:rPr>
              <a:t>), the </a:t>
            </a:r>
            <a:r>
              <a:rPr b="1" sz="1800">
                <a:solidFill>
                  <a:srgbClr val="1F6FEB"/>
                </a:solidFill>
                <a:latin typeface="Calibri"/>
              </a:rPr>
              <a:t>baseline itself</a:t>
            </a:r>
            <a:r>
              <a:rPr sz="1800">
                <a:solidFill>
                  <a:srgbClr val="1A1A1A"/>
                </a:solidFill>
                <a:latin typeface="Calibri"/>
              </a:rPr>
              <a:t> generates </a:t>
            </a:r>
            <a:r>
              <a:rPr b="1" sz="1800">
                <a:solidFill>
                  <a:srgbClr val="1F6FEB"/>
                </a:solidFill>
                <a:latin typeface="Calibri"/>
              </a:rPr>
              <a:t>2232</a:t>
            </a:r>
            <a:r>
              <a:rPr sz="1800">
                <a:solidFill>
                  <a:srgbClr val="1A1A1A"/>
                </a:solidFill>
                <a:latin typeface="Calibri"/>
              </a:rPr>
              <a:t> particles; Python generates </a:t>
            </a:r>
            <a:r>
              <a:rPr b="1" sz="1800">
                <a:solidFill>
                  <a:srgbClr val="1F6FEB"/>
                </a:solidFill>
                <a:latin typeface="Calibri"/>
              </a:rPr>
              <a:t>2231</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Root cause: FMA contraction in the Mandelbrot loop changes 14 of 1.2 M cells; ONE cell (i=1157, j=489) crosses the selection threshold (2900).</a:t>
            </a:r>
          </a:p>
          <a:p>
            <a:pPr algn="l" marL="285750" indent="-285750">
              <a:lnSpc>
                <a:spcPct val="104000"/>
              </a:lnSpc>
              <a:spcAft>
                <a:spcPts val="800"/>
              </a:spcAft>
              <a:buClr>
                <a:srgbClr val="1F6FEB"/>
              </a:buClr>
              <a:buFont typeface="Arial"/>
              <a:buChar char="•"/>
            </a:pPr>
            <a:r>
              <a:rPr sz="1800">
                <a:solidFill>
                  <a:srgbClr val="1A1A1A"/>
                </a:solidFill>
                <a:latin typeface="Calibri"/>
              </a:rPr>
              <a:t>Fix/proof: </a:t>
            </a:r>
            <a:r>
              <a:rPr sz="1700">
                <a:solidFill>
                  <a:srgbClr val="0B3D91"/>
                </a:solidFill>
                <a:latin typeface="Consolas"/>
              </a:rPr>
              <a:t>-ffp-contract=off</a:t>
            </a:r>
            <a:r>
              <a:rPr sz="1800">
                <a:solidFill>
                  <a:srgbClr val="1A1A1A"/>
                </a:solidFill>
                <a:latin typeface="Calibri"/>
              </a:rPr>
              <a:t> → C++ matches Python </a:t>
            </a:r>
            <a:r>
              <a:rPr b="1" sz="1800">
                <a:solidFill>
                  <a:srgbClr val="1F6FEB"/>
                </a:solidFill>
                <a:latin typeface="Calibri"/>
              </a:rPr>
              <a:t>bitwise</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On Leonardo (gcc 12 + nvcc): all six agree at </a:t>
            </a:r>
            <a:r>
              <a:rPr b="1" sz="1800">
                <a:solidFill>
                  <a:srgbClr val="1F6FEB"/>
                </a:solidFill>
                <a:latin typeface="Calibri"/>
              </a:rPr>
              <a:t>N = 2231</a:t>
            </a:r>
            <a:r>
              <a:rPr sz="1800">
                <a:solidFill>
                  <a:srgbClr val="1A1A1A"/>
                </a:solidFill>
                <a:latin typeface="Calibri"/>
              </a:rPr>
              <a:t> — no divergence.</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Benchmark setup (hardware / compilers / method)</a:t>
            </a:r>
          </a:p>
        </p:txBody>
      </p:sp>
      <p:sp>
        <p:nvSpPr>
          <p:cNvPr id="3" name="TextBox 2"/>
          <p:cNvSpPr txBox="1"/>
          <p:nvPr/>
        </p:nvSpPr>
        <p:spPr>
          <a:xfrm>
            <a:off x="685800" y="1417320"/>
            <a:ext cx="10881360" cy="475488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Leonardo Booster node: Xeon Platinum 8358 (32 cores) + </a:t>
            </a:r>
            <a:r>
              <a:rPr b="1" sz="1800">
                <a:solidFill>
                  <a:srgbClr val="1F6FEB"/>
                </a:solidFill>
                <a:latin typeface="Calibri"/>
              </a:rPr>
              <a:t>NVIDIA A100-SXM-64GB</a:t>
            </a:r>
            <a:r>
              <a:rPr sz="1800">
                <a:solidFill>
                  <a:srgbClr val="1A1A1A"/>
                </a:solidFill>
                <a:latin typeface="Calibri"/>
              </a:rPr>
              <a:t> (108 SMs, driver 535.274.02); MPI: up to 4 nodes / 128 ranks over Dragonfly+.</a:t>
            </a:r>
          </a:p>
          <a:p>
            <a:pPr algn="l" marL="285750" indent="-285750">
              <a:lnSpc>
                <a:spcPct val="104000"/>
              </a:lnSpc>
              <a:spcAft>
                <a:spcPts val="800"/>
              </a:spcAft>
              <a:buClr>
                <a:srgbClr val="1F6FEB"/>
              </a:buClr>
              <a:buFont typeface="Arial"/>
              <a:buChar char="•"/>
            </a:pPr>
            <a:r>
              <a:rPr sz="1800">
                <a:solidFill>
                  <a:srgbClr val="1A1A1A"/>
                </a:solidFill>
                <a:latin typeface="Calibri"/>
              </a:rPr>
              <a:t>Toolchain: gcc 12.2.0, CUDA 12.2 (nvcc, sm_80), cmake 3.27.9, hdf5 1.14.3, python 3.11.7, numpy 2.4.6, numba 0.65.1.</a:t>
            </a:r>
          </a:p>
          <a:p>
            <a:pPr algn="l" marL="285750" indent="-285750">
              <a:lnSpc>
                <a:spcPct val="104000"/>
              </a:lnSpc>
              <a:spcAft>
                <a:spcPts val="800"/>
              </a:spcAft>
              <a:buClr>
                <a:srgbClr val="1F6FEB"/>
              </a:buClr>
              <a:buFont typeface="Arial"/>
              <a:buChar char="•"/>
            </a:pPr>
            <a:r>
              <a:rPr sz="1800">
                <a:solidFill>
                  <a:srgbClr val="1A1A1A"/>
                </a:solidFill>
                <a:latin typeface="Calibri"/>
              </a:rPr>
              <a:t>Flags: </a:t>
            </a:r>
            <a:r>
              <a:rPr sz="1700">
                <a:solidFill>
                  <a:srgbClr val="0B3D91"/>
                </a:solidFill>
                <a:latin typeface="Consolas"/>
              </a:rPr>
              <a:t>-O3 -std=c++17</a:t>
            </a:r>
            <a:r>
              <a:rPr sz="1800">
                <a:solidFill>
                  <a:srgbClr val="1A1A1A"/>
                </a:solidFill>
                <a:latin typeface="Calibri"/>
              </a:rPr>
              <a:t> (+</a:t>
            </a:r>
            <a:r>
              <a:rPr sz="1700">
                <a:solidFill>
                  <a:srgbClr val="0B3D91"/>
                </a:solidFill>
                <a:latin typeface="Consolas"/>
              </a:rPr>
              <a:t>-fopenmp</a:t>
            </a:r>
            <a:r>
              <a:rPr sz="1800">
                <a:solidFill>
                  <a:srgbClr val="1A1A1A"/>
                </a:solidFill>
                <a:latin typeface="Calibri"/>
              </a:rPr>
              <a:t>); </a:t>
            </a:r>
            <a:r>
              <a:rPr b="1" sz="1800">
                <a:solidFill>
                  <a:srgbClr val="1F6FEB"/>
                </a:solidFill>
                <a:latin typeface="Calibri"/>
              </a:rPr>
              <a:t>no fast-math, no -march=native</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Method: benchmark mode = HDF5 </a:t>
            </a:r>
            <a:r>
              <a:rPr b="1" sz="1800">
                <a:solidFill>
                  <a:srgbClr val="1F6FEB"/>
                </a:solidFill>
                <a:latin typeface="Calibri"/>
              </a:rPr>
              <a:t>disabled</a:t>
            </a:r>
            <a:r>
              <a:rPr sz="1800">
                <a:solidFill>
                  <a:srgbClr val="1A1A1A"/>
                </a:solidFill>
                <a:latin typeface="Calibri"/>
              </a:rPr>
              <a:t> (</a:t>
            </a:r>
            <a:r>
              <a:rPr sz="1700">
                <a:solidFill>
                  <a:srgbClr val="0B3D91"/>
                </a:solidFill>
                <a:latin typeface="Consolas"/>
              </a:rPr>
              <a:t>none 0</a:t>
            </a:r>
            <a:r>
              <a:rPr sz="1800">
                <a:solidFill>
                  <a:srgbClr val="1A1A1A"/>
                </a:solidFill>
                <a:latin typeface="Calibri"/>
              </a:rPr>
              <a:t>); metric = "pure dynamics" time (excludes JIT warm-up &amp; I/O); </a:t>
            </a:r>
            <a:r>
              <a:rPr b="1" sz="1800">
                <a:solidFill>
                  <a:srgbClr val="1F6FEB"/>
                </a:solidFill>
                <a:latin typeface="Calibri"/>
              </a:rPr>
              <a:t>median of 3 runs</a:t>
            </a:r>
            <a:r>
              <a:rPr sz="1800">
                <a:solidFill>
                  <a:srgbClr val="1A1A1A"/>
                </a:solidFill>
                <a:latin typeface="Calibri"/>
              </a:rPr>
              <a:t>; threads pinned (</a:t>
            </a:r>
            <a:r>
              <a:rPr sz="1700">
                <a:solidFill>
                  <a:srgbClr val="0B3D91"/>
                </a:solidFill>
                <a:latin typeface="Consolas"/>
              </a:rPr>
              <a:t>OMP_PROC_BIND=close, OMP_PLACES=cores</a:t>
            </a:r>
            <a:r>
              <a:rPr sz="1800">
                <a:solidFill>
                  <a:srgbClr val="1A1A1A"/>
                </a:solidFill>
                <a:latin typeface="Calibri"/>
              </a:rPr>
              <a:t>).</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OpenMP: what was parallelized</a:t>
            </a:r>
          </a:p>
        </p:txBody>
      </p:sp>
      <p:sp>
        <p:nvSpPr>
          <p:cNvPr id="3" name="TextBox 2"/>
          <p:cNvSpPr txBox="1"/>
          <p:nvPr/>
        </p:nvSpPr>
        <p:spPr>
          <a:xfrm>
            <a:off x="685800" y="1554480"/>
            <a:ext cx="10881360" cy="420624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700">
                <a:solidFill>
                  <a:srgbClr val="0B3D91"/>
                </a:solidFill>
                <a:latin typeface="Consolas"/>
              </a:rPr>
              <a:t>#pragma omp parallel for schedule(static)</a:t>
            </a:r>
            <a:r>
              <a:rPr sz="1800">
                <a:solidFill>
                  <a:srgbClr val="1A1A1A"/>
                </a:solidFill>
                <a:latin typeface="Calibri"/>
              </a:rPr>
              <a:t> on: force outer loop, both Verlet half-kick loops, Mandelbrot rows (</a:t>
            </a:r>
            <a:r>
              <a:rPr sz="1700">
                <a:solidFill>
                  <a:srgbClr val="0B3D91"/>
                </a:solidFill>
                <a:latin typeface="Consolas"/>
              </a:rPr>
              <a:t>collapse(2)</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Validation reductions: </a:t>
            </a:r>
            <a:r>
              <a:rPr sz="1700">
                <a:solidFill>
                  <a:srgbClr val="0B3D91"/>
                </a:solidFill>
                <a:latin typeface="Consolas"/>
              </a:rPr>
              <a:t>reduction(+:…)</a:t>
            </a:r>
            <a:r>
              <a:rPr sz="1800">
                <a:solidFill>
                  <a:srgbClr val="1A1A1A"/>
                </a:solidFill>
                <a:latin typeface="Calibri"/>
              </a:rPr>
              <a:t> incl. the O(N²) potential.</a:t>
            </a:r>
          </a:p>
          <a:p>
            <a:pPr algn="l" marL="285750" indent="-285750">
              <a:lnSpc>
                <a:spcPct val="104000"/>
              </a:lnSpc>
              <a:spcAft>
                <a:spcPts val="800"/>
              </a:spcAft>
              <a:buClr>
                <a:srgbClr val="1F6FEB"/>
              </a:buClr>
              <a:buFont typeface="Arial"/>
              <a:buChar char="•"/>
            </a:pPr>
            <a:r>
              <a:rPr sz="1800">
                <a:solidFill>
                  <a:srgbClr val="1A1A1A"/>
                </a:solidFill>
                <a:latin typeface="Calibri"/>
              </a:rPr>
              <a:t>Each thread writes only its own fx[i]/fy[i] → race-free by construction, inner order untouched → bitwise result for ANY thread count.</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OpenMP strong scaling</a:t>
            </a:r>
          </a:p>
        </p:txBody>
      </p:sp>
      <p:graphicFrame>
        <p:nvGraphicFramePr>
          <p:cNvPr id="3" name="Table 2"/>
          <p:cNvGraphicFramePr>
            <a:graphicFrameLocks noGrp="1"/>
          </p:cNvGraphicFramePr>
          <p:nvPr/>
        </p:nvGraphicFramePr>
        <p:xfrm>
          <a:off x="640080" y="2011680"/>
          <a:ext cx="3977640" cy="2852928"/>
        </p:xfrm>
        <a:graphic>
          <a:graphicData uri="http://schemas.openxmlformats.org/drawingml/2006/table">
            <a:tbl>
              <a:tblPr firstRow="0" bandRow="0" lastRow="0" firstCol="0" lastCol="0" bandCol="0"/>
              <a:tblGrid>
                <a:gridCol w="1143000"/>
                <a:gridCol w="1371600"/>
                <a:gridCol w="1463040"/>
              </a:tblGrid>
              <a:tr h="475488">
                <a:tc>
                  <a:txBody>
                    <a:bodyPr wrap="square"/>
                    <a:lstStyle/>
                    <a:p>
                      <a:pPr algn="ctr"/>
                      <a:r>
                        <a:rPr sz="1350" b="1">
                          <a:solidFill>
                            <a:srgbClr val="FFFFFF"/>
                          </a:solidFill>
                          <a:latin typeface="Calibri"/>
                        </a:rPr>
                        <a:t>Threads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350" b="1">
                          <a:solidFill>
                            <a:srgbClr val="FFFFFF"/>
                          </a:solidFill>
                          <a:latin typeface="Calibri"/>
                        </a:rPr>
                        <a:t>Speed-up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350" b="1">
                          <a:solidFill>
                            <a:srgbClr val="FFFFFF"/>
                          </a:solidFill>
                          <a:latin typeface="Calibri"/>
                        </a:rPr>
                        <a:t>Efficiency</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r>
              <a:tr h="475488">
                <a:tc>
                  <a:txBody>
                    <a:bodyPr wrap="square"/>
                    <a:lstStyle/>
                    <a:p>
                      <a:pPr algn="r"/>
                      <a:r>
                        <a:rPr sz="1400" b="0">
                          <a:solidFill>
                            <a:srgbClr val="1A1A1A"/>
                          </a:solidFill>
                          <a:latin typeface="Calibri"/>
                        </a:rPr>
                        <a:t>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400" b="0">
                          <a:solidFill>
                            <a:srgbClr val="1A1A1A"/>
                          </a:solidFill>
                          <a:latin typeface="Calibri"/>
                        </a:rPr>
                        <a:t>2.00×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400" b="0">
                          <a:solidFill>
                            <a:srgbClr val="1A1A1A"/>
                          </a:solidFill>
                          <a:latin typeface="Calibri"/>
                        </a:rPr>
                        <a:t>100%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475488">
                <a:tc>
                  <a:txBody>
                    <a:bodyPr wrap="square"/>
                    <a:lstStyle/>
                    <a:p>
                      <a:pPr algn="r"/>
                      <a:r>
                        <a:rPr sz="1400" b="0">
                          <a:solidFill>
                            <a:srgbClr val="1A1A1A"/>
                          </a:solidFill>
                          <a:latin typeface="Calibri"/>
                        </a:rPr>
                        <a:t>4</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400" b="0">
                          <a:solidFill>
                            <a:srgbClr val="1A1A1A"/>
                          </a:solidFill>
                          <a:latin typeface="Calibri"/>
                        </a:rPr>
                        <a:t>3.99×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400" b="0">
                          <a:solidFill>
                            <a:srgbClr val="1A1A1A"/>
                          </a:solidFill>
                          <a:latin typeface="Calibri"/>
                        </a:rPr>
                        <a:t>100%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475488">
                <a:tc>
                  <a:txBody>
                    <a:bodyPr wrap="square"/>
                    <a:lstStyle/>
                    <a:p>
                      <a:pPr algn="r"/>
                      <a:r>
                        <a:rPr sz="1400" b="0">
                          <a:solidFill>
                            <a:srgbClr val="1A1A1A"/>
                          </a:solidFill>
                          <a:latin typeface="Calibri"/>
                        </a:rPr>
                        <a:t>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400" b="0">
                          <a:solidFill>
                            <a:srgbClr val="1A1A1A"/>
                          </a:solidFill>
                          <a:latin typeface="Calibri"/>
                        </a:rPr>
                        <a:t>7.97×</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400" b="0">
                          <a:solidFill>
                            <a:srgbClr val="1A1A1A"/>
                          </a:solidFill>
                          <a:latin typeface="Calibri"/>
                        </a:rPr>
                        <a:t>100%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475488">
                <a:tc>
                  <a:txBody>
                    <a:bodyPr wrap="square"/>
                    <a:lstStyle/>
                    <a:p>
                      <a:pPr algn="r"/>
                      <a:r>
                        <a:rPr sz="1400" b="0">
                          <a:solidFill>
                            <a:srgbClr val="1A1A1A"/>
                          </a:solidFill>
                          <a:latin typeface="Calibri"/>
                        </a:rPr>
                        <a:t>16</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400" b="0">
                          <a:solidFill>
                            <a:srgbClr val="1A1A1A"/>
                          </a:solidFill>
                          <a:latin typeface="Calibri"/>
                        </a:rPr>
                        <a:t>15.31×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400" b="0">
                          <a:solidFill>
                            <a:srgbClr val="1A1A1A"/>
                          </a:solidFill>
                          <a:latin typeface="Calibri"/>
                        </a:rPr>
                        <a:t>96%</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475488">
                <a:tc>
                  <a:txBody>
                    <a:bodyPr wrap="square"/>
                    <a:lstStyle/>
                    <a:p>
                      <a:pPr algn="r"/>
                      <a:r>
                        <a:rPr sz="1400" b="1">
                          <a:solidFill>
                            <a:srgbClr val="1F6FEB"/>
                          </a:solidFill>
                          <a:latin typeface="Calibri"/>
                        </a:rPr>
                        <a:t>32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400" b="1">
                          <a:solidFill>
                            <a:srgbClr val="1F6FEB"/>
                          </a:solidFill>
                          <a:latin typeface="Calibri"/>
                        </a:rPr>
                        <a:t>29.20×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400" b="1">
                          <a:solidFill>
                            <a:srgbClr val="1F6FEB"/>
                          </a:solidFill>
                          <a:latin typeface="Calibri"/>
                        </a:rPr>
                        <a:t>91%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r>
            </a:tbl>
          </a:graphicData>
        </a:graphic>
      </p:graphicFrame>
      <p:pic>
        <p:nvPicPr>
          <p:cNvPr id="4" name="Picture 3" descr="speedup_omp.png"/>
          <p:cNvPicPr>
            <a:picLocks noChangeAspect="1"/>
          </p:cNvPicPr>
          <p:nvPr/>
        </p:nvPicPr>
        <p:blipFill>
          <a:blip r:embed="rId2"/>
          <a:stretch>
            <a:fillRect/>
          </a:stretch>
        </p:blipFill>
        <p:spPr>
          <a:xfrm>
            <a:off x="4892040" y="2514600"/>
            <a:ext cx="3429000" cy="2286000"/>
          </a:xfrm>
          <a:prstGeom prst="rect">
            <a:avLst/>
          </a:prstGeom>
        </p:spPr>
      </p:pic>
      <p:pic>
        <p:nvPicPr>
          <p:cNvPr id="5" name="Picture 4" descr="efficiency_omp.png"/>
          <p:cNvPicPr>
            <a:picLocks noChangeAspect="1"/>
          </p:cNvPicPr>
          <p:nvPr/>
        </p:nvPicPr>
        <p:blipFill>
          <a:blip r:embed="rId3"/>
          <a:stretch>
            <a:fillRect/>
          </a:stretch>
        </p:blipFill>
        <p:spPr>
          <a:xfrm>
            <a:off x="8412480" y="2514600"/>
            <a:ext cx="3429000" cy="2286000"/>
          </a:xfrm>
          <a:prstGeom prst="rect">
            <a:avLst/>
          </a:prstGeom>
        </p:spPr>
      </p:pic>
      <p:sp>
        <p:nvSpPr>
          <p:cNvPr id="6" name="TextBox 5"/>
          <p:cNvSpPr txBox="1"/>
          <p:nvPr/>
        </p:nvSpPr>
        <p:spPr>
          <a:xfrm>
            <a:off x="4892040" y="5742432"/>
            <a:ext cx="3429000" cy="274320"/>
          </a:xfrm>
          <a:prstGeom prst="rect">
            <a:avLst/>
          </a:prstGeom>
          <a:noFill/>
        </p:spPr>
        <p:txBody>
          <a:bodyPr wrap="none">
            <a:spAutoFit/>
          </a:bodyPr>
          <a:lstStyle/>
          <a:p>
            <a:pPr algn="ctr"/>
            <a:r>
              <a:rPr sz="1100" i="1">
                <a:solidFill>
                  <a:srgbClr val="5A5A5A"/>
                </a:solidFill>
                <a:latin typeface="Calibri"/>
              </a:rPr>
              <a:t>Speed-up vs threads</a:t>
            </a:r>
          </a:p>
        </p:txBody>
      </p:sp>
      <p:sp>
        <p:nvSpPr>
          <p:cNvPr id="7" name="TextBox 6"/>
          <p:cNvSpPr txBox="1"/>
          <p:nvPr/>
        </p:nvSpPr>
        <p:spPr>
          <a:xfrm>
            <a:off x="8412480" y="5742432"/>
            <a:ext cx="3429000" cy="274320"/>
          </a:xfrm>
          <a:prstGeom prst="rect">
            <a:avLst/>
          </a:prstGeom>
          <a:noFill/>
        </p:spPr>
        <p:txBody>
          <a:bodyPr wrap="none">
            <a:spAutoFit/>
          </a:bodyPr>
          <a:lstStyle/>
          <a:p>
            <a:pPr algn="ctr"/>
            <a:r>
              <a:rPr sz="1100" i="1">
                <a:solidFill>
                  <a:srgbClr val="5A5A5A"/>
                </a:solidFill>
                <a:latin typeface="Calibri"/>
              </a:rPr>
              <a:t>Parallel efficiency vs threads</a:t>
            </a:r>
          </a:p>
        </p:txBody>
      </p:sp>
      <p:sp>
        <p:nvSpPr>
          <p:cNvPr id="8" name="TextBox 7"/>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Amdahl's law fit</a:t>
            </a:r>
          </a:p>
        </p:txBody>
      </p:sp>
      <p:sp>
        <p:nvSpPr>
          <p:cNvPr id="3" name="TextBox 2"/>
          <p:cNvSpPr txBox="1"/>
          <p:nvPr/>
        </p:nvSpPr>
        <p:spPr>
          <a:xfrm>
            <a:off x="685800" y="1600200"/>
            <a:ext cx="5486400" cy="420624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Least-squares fit of 1/S vs 1/p over p = 1…32.</a:t>
            </a:r>
          </a:p>
          <a:p>
            <a:pPr algn="l" marL="285750" indent="-285750">
              <a:lnSpc>
                <a:spcPct val="104000"/>
              </a:lnSpc>
              <a:spcAft>
                <a:spcPts val="800"/>
              </a:spcAft>
              <a:buClr>
                <a:srgbClr val="1F6FEB"/>
              </a:buClr>
              <a:buFont typeface="Arial"/>
              <a:buChar char="•"/>
            </a:pPr>
            <a:r>
              <a:rPr b="1" sz="1800">
                <a:solidFill>
                  <a:srgbClr val="1F6FEB"/>
                </a:solidFill>
                <a:latin typeface="Calibri"/>
              </a:rPr>
              <a:t>Serial fraction ≈ 0.21% → speedup ceiling ≈ 480×.</a:t>
            </a:r>
          </a:p>
          <a:p>
            <a:pPr algn="l" marL="285750" indent="-285750">
              <a:lnSpc>
                <a:spcPct val="104000"/>
              </a:lnSpc>
              <a:spcAft>
                <a:spcPts val="800"/>
              </a:spcAft>
              <a:buClr>
                <a:srgbClr val="1F6FEB"/>
              </a:buClr>
              <a:buFont typeface="Arial"/>
              <a:buChar char="•"/>
            </a:pPr>
            <a:r>
              <a:rPr sz="1800">
                <a:solidFill>
                  <a:srgbClr val="1A1A1A"/>
                </a:solidFill>
                <a:latin typeface="Calibri"/>
              </a:rPr>
              <a:t>Measured points match the model within ~3% at every p.</a:t>
            </a:r>
          </a:p>
          <a:p>
            <a:pPr algn="l" marL="285750" indent="-285750">
              <a:lnSpc>
                <a:spcPct val="104000"/>
              </a:lnSpc>
              <a:spcAft>
                <a:spcPts val="800"/>
              </a:spcAft>
              <a:buClr>
                <a:srgbClr val="1F6FEB"/>
              </a:buClr>
              <a:buFont typeface="Arial"/>
              <a:buChar char="•"/>
            </a:pPr>
            <a:r>
              <a:rPr sz="1800">
                <a:solidFill>
                  <a:srgbClr val="1A1A1A"/>
                </a:solidFill>
                <a:latin typeface="Calibri"/>
              </a:rPr>
              <a:t>The 32-core node exploits only ~6% of the parallel headroom → the algorithm scales far beyond one CPU (motivates GPU + MPI).</a:t>
            </a:r>
          </a:p>
        </p:txBody>
      </p:sp>
      <p:pic>
        <p:nvPicPr>
          <p:cNvPr id="4" name="Picture 3" descr="amdahl_omp.png"/>
          <p:cNvPicPr>
            <a:picLocks noChangeAspect="1"/>
          </p:cNvPicPr>
          <p:nvPr/>
        </p:nvPicPr>
        <p:blipFill>
          <a:blip r:embed="rId2"/>
          <a:stretch>
            <a:fillRect/>
          </a:stretch>
        </p:blipFill>
        <p:spPr>
          <a:xfrm>
            <a:off x="6355080" y="1844040"/>
            <a:ext cx="5440680" cy="3627120"/>
          </a:xfrm>
          <a:prstGeom prst="rect">
            <a:avLst/>
          </a:prstGeom>
        </p:spPr>
      </p:pic>
      <p:sp>
        <p:nvSpPr>
          <p:cNvPr id="5" name="TextBox 4"/>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CUDA port: what was offloaded</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One thread per particle i (128-thread blocks); inner j-loop in registers, serial order preserved.</a:t>
            </a:r>
          </a:p>
          <a:p>
            <a:pPr algn="l" marL="285750" indent="-285750">
              <a:lnSpc>
                <a:spcPct val="104000"/>
              </a:lnSpc>
              <a:spcAft>
                <a:spcPts val="800"/>
              </a:spcAft>
              <a:buClr>
                <a:srgbClr val="1F6FEB"/>
              </a:buClr>
              <a:buFont typeface="Arial"/>
              <a:buChar char="•"/>
            </a:pPr>
            <a:r>
              <a:rPr sz="1800">
                <a:solidFill>
                  <a:srgbClr val="1A1A1A"/>
                </a:solidFill>
                <a:latin typeface="Calibri"/>
              </a:rPr>
              <a:t>Whole SoA state </a:t>
            </a:r>
            <a:r>
              <a:rPr b="1" sz="1800">
                <a:solidFill>
                  <a:srgbClr val="1F6FEB"/>
                </a:solidFill>
                <a:latin typeface="Calibri"/>
              </a:rPr>
              <a:t>device-resident across all 200 steps</a:t>
            </a:r>
            <a:r>
              <a:rPr sz="1800">
                <a:solidFill>
                  <a:srgbClr val="1A1A1A"/>
                </a:solidFill>
                <a:latin typeface="Calibri"/>
              </a:rPr>
              <a:t>; copies only for HDF5 frames and the final validation (9 memcpys, 0.19 ms total).</a:t>
            </a:r>
          </a:p>
          <a:p>
            <a:pPr algn="l" marL="285750" indent="-285750">
              <a:lnSpc>
                <a:spcPct val="104000"/>
              </a:lnSpc>
              <a:spcAft>
                <a:spcPts val="800"/>
              </a:spcAft>
              <a:buClr>
                <a:srgbClr val="1F6FEB"/>
              </a:buClr>
              <a:buFont typeface="Arial"/>
              <a:buChar char="•"/>
            </a:pPr>
            <a:r>
              <a:rPr sz="1800">
                <a:solidFill>
                  <a:srgbClr val="1A1A1A"/>
                </a:solidFill>
                <a:latin typeface="Calibri"/>
              </a:rPr>
              <a:t>Round-to-nearest intrinsics (</a:t>
            </a:r>
            <a:r>
              <a:rPr sz="1700">
                <a:solidFill>
                  <a:srgbClr val="0B3D91"/>
                </a:solidFill>
                <a:latin typeface="Consolas"/>
              </a:rPr>
              <a:t>__dadd_rn</a:t>
            </a:r>
            <a:r>
              <a:rPr sz="1800">
                <a:solidFill>
                  <a:srgbClr val="1A1A1A"/>
                </a:solidFill>
                <a:latin typeface="Calibri"/>
              </a:rPr>
              <a:t>, </a:t>
            </a:r>
            <a:r>
              <a:rPr sz="1700">
                <a:solidFill>
                  <a:srgbClr val="0B3D91"/>
                </a:solidFill>
                <a:latin typeface="Consolas"/>
              </a:rPr>
              <a:t>__dmul_rn</a:t>
            </a:r>
            <a:r>
              <a:rPr sz="1800">
                <a:solidFill>
                  <a:srgbClr val="1A1A1A"/>
                </a:solidFill>
                <a:latin typeface="Calibri"/>
              </a:rPr>
              <a:t>, </a:t>
            </a:r>
            <a:r>
              <a:rPr sz="1700">
                <a:solidFill>
                  <a:srgbClr val="0B3D91"/>
                </a:solidFill>
                <a:latin typeface="Consolas"/>
              </a:rPr>
              <a:t>__drcp_rn(sqrt)</a:t>
            </a:r>
            <a:r>
              <a:rPr sz="1800">
                <a:solidFill>
                  <a:srgbClr val="1A1A1A"/>
                </a:solidFill>
                <a:latin typeface="Calibri"/>
              </a:rPr>
              <a:t>) — immune to </a:t>
            </a:r>
            <a:r>
              <a:rPr sz="1700">
                <a:solidFill>
                  <a:srgbClr val="0B3D91"/>
                </a:solidFill>
                <a:latin typeface="Consolas"/>
              </a:rPr>
              <a:t>--fmad</a:t>
            </a:r>
            <a:r>
              <a:rPr sz="1800">
                <a:solidFill>
                  <a:srgbClr val="1A1A1A"/>
                </a:solidFill>
                <a:latin typeface="Calibri"/>
              </a:rPr>
              <a:t> contraction by construction.</a:t>
            </a:r>
          </a:p>
          <a:p>
            <a:pPr algn="l" marL="285750" indent="-285750">
              <a:lnSpc>
                <a:spcPct val="104000"/>
              </a:lnSpc>
              <a:spcAft>
                <a:spcPts val="800"/>
              </a:spcAft>
              <a:buClr>
                <a:srgbClr val="1F6FEB"/>
              </a:buClr>
              <a:buFont typeface="Arial"/>
              <a:buChar char="•"/>
            </a:pPr>
            <a:r>
              <a:rPr sz="1800">
                <a:solidFill>
                  <a:srgbClr val="1A1A1A"/>
                </a:solidFill>
                <a:latin typeface="Calibri"/>
              </a:rPr>
              <a:t>Result (S6): </a:t>
            </a:r>
            <a:r>
              <a:rPr b="1" sz="1800">
                <a:solidFill>
                  <a:srgbClr val="1F6FEB"/>
                </a:solidFill>
                <a:latin typeface="Calibri"/>
              </a:rPr>
              <a:t>bitwise identical to serial</a:t>
            </a:r>
            <a:r>
              <a:rPr sz="1800">
                <a:solidFill>
                  <a:srgbClr val="1A1A1A"/>
                </a:solidFill>
                <a:latin typeface="Calibri"/>
              </a:rPr>
              <a:t> on the A100.</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CPU vs GPU at the official size</a:t>
            </a:r>
          </a:p>
        </p:txBody>
      </p:sp>
      <p:graphicFrame>
        <p:nvGraphicFramePr>
          <p:cNvPr id="3" name="Table 2"/>
          <p:cNvGraphicFramePr>
            <a:graphicFrameLocks noGrp="1"/>
          </p:cNvGraphicFramePr>
          <p:nvPr/>
        </p:nvGraphicFramePr>
        <p:xfrm>
          <a:off x="640080" y="1508760"/>
          <a:ext cx="5897880" cy="2560320"/>
        </p:xfrm>
        <a:graphic>
          <a:graphicData uri="http://schemas.openxmlformats.org/drawingml/2006/table">
            <a:tbl>
              <a:tblPr firstRow="0" bandRow="0" lastRow="0" firstCol="0" lastCol="0" bandCol="0"/>
              <a:tblGrid>
                <a:gridCol w="2331720"/>
                <a:gridCol w="1417320"/>
                <a:gridCol w="2148840"/>
              </a:tblGrid>
              <a:tr h="457200">
                <a:tc>
                  <a:txBody>
                    <a:bodyPr wrap="square"/>
                    <a:lstStyle/>
                    <a:p>
                      <a:pPr algn="ctr"/>
                      <a:r>
                        <a:rPr sz="1250" b="1">
                          <a:solidFill>
                            <a:srgbClr val="FFFFFF"/>
                          </a:solidFill>
                          <a:latin typeface="Calibri"/>
                        </a:rPr>
                        <a:t>Implementation</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GInt/s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Speed-up vs serial</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r>
              <a:tr h="420624">
                <a:tc>
                  <a:txBody>
                    <a:bodyPr wrap="square"/>
                    <a:lstStyle/>
                    <a:p>
                      <a:pPr algn="l"/>
                      <a:r>
                        <a:rPr sz="1350" b="0">
                          <a:solidFill>
                            <a:srgbClr val="1A1A1A"/>
                          </a:solidFill>
                          <a:latin typeface="Calibri"/>
                        </a:rPr>
                        <a:t>serial</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350" b="0">
                          <a:solidFill>
                            <a:srgbClr val="1A1A1A"/>
                          </a:solidFill>
                          <a:latin typeface="Calibri"/>
                        </a:rPr>
                        <a:t>0.283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350" b="0">
                          <a:solidFill>
                            <a:srgbClr val="1A1A1A"/>
                          </a:solidFill>
                          <a:latin typeface="Calibri"/>
                        </a:rPr>
                        <a:t>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420624">
                <a:tc>
                  <a:txBody>
                    <a:bodyPr wrap="square"/>
                    <a:lstStyle/>
                    <a:p>
                      <a:pPr algn="l"/>
                      <a:r>
                        <a:rPr sz="1350" b="0">
                          <a:solidFill>
                            <a:srgbClr val="1A1A1A"/>
                          </a:solidFill>
                          <a:latin typeface="Calibri"/>
                        </a:rPr>
                        <a:t>OpenMP-32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350" b="0">
                          <a:solidFill>
                            <a:srgbClr val="1A1A1A"/>
                          </a:solidFill>
                          <a:latin typeface="Calibri"/>
                        </a:rPr>
                        <a:t>8.31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350" b="0">
                          <a:solidFill>
                            <a:srgbClr val="1A1A1A"/>
                          </a:solidFill>
                          <a:latin typeface="Calibri"/>
                        </a:rPr>
                        <a:t>29.2×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420624">
                <a:tc>
                  <a:txBody>
                    <a:bodyPr wrap="square"/>
                    <a:lstStyle/>
                    <a:p>
                      <a:pPr algn="l"/>
                      <a:r>
                        <a:rPr sz="1350" b="1">
                          <a:solidFill>
                            <a:srgbClr val="1F6FEB"/>
                          </a:solidFill>
                          <a:latin typeface="Calibri"/>
                        </a:rPr>
                        <a:t>CUDA A100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350" b="1">
                          <a:solidFill>
                            <a:srgbClr val="1F6FEB"/>
                          </a:solidFill>
                          <a:latin typeface="Calibri"/>
                        </a:rPr>
                        <a:t>8.80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350" b="1">
                          <a:solidFill>
                            <a:srgbClr val="1F6FEB"/>
                          </a:solidFill>
                          <a:latin typeface="Calibri"/>
                        </a:rPr>
                        <a:t>31.1×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r>
              <a:tr h="420624">
                <a:tc>
                  <a:txBody>
                    <a:bodyPr wrap="square"/>
                    <a:lstStyle/>
                    <a:p>
                      <a:pPr algn="l"/>
                      <a:r>
                        <a:rPr sz="1350" b="0">
                          <a:solidFill>
                            <a:srgbClr val="1A1A1A"/>
                          </a:solidFill>
                          <a:latin typeface="Calibri"/>
                        </a:rPr>
                        <a:t>Numba CPU</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350" b="0">
                          <a:solidFill>
                            <a:srgbClr val="1A1A1A"/>
                          </a:solidFill>
                          <a:latin typeface="Calibri"/>
                        </a:rPr>
                        <a:t>7.83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350" b="0">
                          <a:solidFill>
                            <a:srgbClr val="1A1A1A"/>
                          </a:solidFill>
                          <a:latin typeface="Calibri"/>
                        </a:rPr>
                        <a:t>27.5×</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420624">
                <a:tc>
                  <a:txBody>
                    <a:bodyPr wrap="square"/>
                    <a:lstStyle/>
                    <a:p>
                      <a:pPr algn="l"/>
                      <a:r>
                        <a:rPr sz="1350" b="0">
                          <a:solidFill>
                            <a:srgbClr val="1A1A1A"/>
                          </a:solidFill>
                          <a:latin typeface="Calibri"/>
                        </a:rPr>
                        <a:t>Numba CUDA</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350" b="0">
                          <a:solidFill>
                            <a:srgbClr val="1A1A1A"/>
                          </a:solidFill>
                          <a:latin typeface="Calibri"/>
                        </a:rPr>
                        <a:t>3.42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350" b="0">
                          <a:solidFill>
                            <a:srgbClr val="1A1A1A"/>
                          </a:solidFill>
                          <a:latin typeface="Calibri"/>
                        </a:rPr>
                        <a:t>11.9×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bl>
          </a:graphicData>
        </a:graphic>
      </p:graphicFrame>
      <p:sp>
        <p:nvSpPr>
          <p:cNvPr id="4" name="TextBox 3"/>
          <p:cNvSpPr txBox="1"/>
          <p:nvPr/>
        </p:nvSpPr>
        <p:spPr>
          <a:xfrm>
            <a:off x="685800" y="4251960"/>
            <a:ext cx="5623560" cy="2011680"/>
          </a:xfrm>
          <a:prstGeom prst="rect">
            <a:avLst/>
          </a:prstGeom>
          <a:noFill/>
        </p:spPr>
        <p:txBody>
          <a:bodyPr wrap="square">
            <a:noAutofit/>
          </a:bodyPr>
          <a:lstStyle/>
          <a:p>
            <a:pPr algn="l" marL="285750" indent="-285750">
              <a:lnSpc>
                <a:spcPct val="104000"/>
              </a:lnSpc>
              <a:spcAft>
                <a:spcPts val="600"/>
              </a:spcAft>
              <a:buClr>
                <a:srgbClr val="1F6FEB"/>
              </a:buClr>
              <a:buFont typeface="Arial"/>
              <a:buChar char="•"/>
            </a:pPr>
            <a:r>
              <a:rPr sz="1500">
                <a:solidFill>
                  <a:srgbClr val="1A1A1A"/>
                </a:solidFill>
                <a:latin typeface="Calibri"/>
              </a:rPr>
              <a:t>At N=2231 the A100 </a:t>
            </a:r>
            <a:r>
              <a:rPr b="1" sz="1500">
                <a:solidFill>
                  <a:srgbClr val="1F6FEB"/>
                </a:solidFill>
                <a:latin typeface="Calibri"/>
              </a:rPr>
              <a:t>barely beats 32 CPU cores</a:t>
            </a:r>
            <a:r>
              <a:rPr sz="1500">
                <a:solidFill>
                  <a:srgbClr val="1A1A1A"/>
                </a:solidFill>
                <a:latin typeface="Calibri"/>
              </a:rPr>
              <a:t> — why?</a:t>
            </a:r>
          </a:p>
          <a:p>
            <a:pPr algn="l" marL="285750" indent="-285750">
              <a:lnSpc>
                <a:spcPct val="104000"/>
              </a:lnSpc>
              <a:spcAft>
                <a:spcPts val="600"/>
              </a:spcAft>
              <a:buClr>
                <a:srgbClr val="1F6FEB"/>
              </a:buClr>
              <a:buFont typeface="Arial"/>
              <a:buChar char="•"/>
            </a:pPr>
            <a:r>
              <a:rPr sz="1500">
                <a:solidFill>
                  <a:srgbClr val="1A1A1A"/>
                </a:solidFill>
                <a:latin typeface="Calibri"/>
              </a:rPr>
              <a:t>ncu: grid = 18 blocks on </a:t>
            </a:r>
            <a:r>
              <a:rPr b="1" sz="1500">
                <a:solidFill>
                  <a:srgbClr val="1F6FEB"/>
                </a:solidFill>
                <a:latin typeface="Calibri"/>
              </a:rPr>
              <a:t>108 SMs</a:t>
            </a:r>
            <a:r>
              <a:rPr sz="1500">
                <a:solidFill>
                  <a:srgbClr val="1A1A1A"/>
                </a:solidFill>
                <a:latin typeface="Calibri"/>
              </a:rPr>
              <a:t> → occupancy </a:t>
            </a:r>
            <a:r>
              <a:rPr b="1" sz="1500">
                <a:solidFill>
                  <a:srgbClr val="1F6FEB"/>
                </a:solidFill>
                <a:latin typeface="Calibri"/>
              </a:rPr>
              <a:t>6.1%</a:t>
            </a:r>
            <a:r>
              <a:rPr sz="1500">
                <a:solidFill>
                  <a:srgbClr val="1A1A1A"/>
                </a:solidFill>
                <a:latin typeface="Calibri"/>
              </a:rPr>
              <a:t>, SM throughput 4.5% — the GPU is ~95% idle.</a:t>
            </a:r>
          </a:p>
        </p:txBody>
      </p:sp>
      <p:pic>
        <p:nvPicPr>
          <p:cNvPr id="5" name="Picture 4" descr="throughput.png"/>
          <p:cNvPicPr>
            <a:picLocks noChangeAspect="1"/>
          </p:cNvPicPr>
          <p:nvPr/>
        </p:nvPicPr>
        <p:blipFill>
          <a:blip r:embed="rId2"/>
          <a:stretch>
            <a:fillRect/>
          </a:stretch>
        </p:blipFill>
        <p:spPr>
          <a:xfrm>
            <a:off x="6537960" y="2155371"/>
            <a:ext cx="5257800" cy="3004457"/>
          </a:xfrm>
          <a:prstGeom prst="rect">
            <a:avLst/>
          </a:prstGeom>
        </p:spPr>
      </p:pic>
      <p:sp>
        <p:nvSpPr>
          <p:cNvPr id="6" name="TextBox 5"/>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Problem-size scaling: the GPU needs work</a:t>
            </a:r>
          </a:p>
        </p:txBody>
      </p:sp>
      <p:graphicFrame>
        <p:nvGraphicFramePr>
          <p:cNvPr id="3" name="Table 2"/>
          <p:cNvGraphicFramePr>
            <a:graphicFrameLocks noGrp="1"/>
          </p:cNvGraphicFramePr>
          <p:nvPr/>
        </p:nvGraphicFramePr>
        <p:xfrm>
          <a:off x="594360" y="1371600"/>
          <a:ext cx="10972800" cy="2340864"/>
        </p:xfrm>
        <a:graphic>
          <a:graphicData uri="http://schemas.openxmlformats.org/drawingml/2006/table">
            <a:tbl>
              <a:tblPr firstRow="0" bandRow="0" lastRow="0" firstCol="0" lastCol="0" bandCol="0"/>
              <a:tblGrid>
                <a:gridCol w="1554480"/>
                <a:gridCol w="2286000"/>
                <a:gridCol w="2194560"/>
                <a:gridCol w="1828800"/>
                <a:gridCol w="3108960"/>
              </a:tblGrid>
              <a:tr h="420624">
                <a:tc>
                  <a:txBody>
                    <a:bodyPr wrap="square"/>
                    <a:lstStyle/>
                    <a:p>
                      <a:pPr algn="ctr"/>
                      <a:r>
                        <a:rPr sz="1250" b="1">
                          <a:solidFill>
                            <a:srgbClr val="FFFFFF"/>
                          </a:solidFill>
                          <a:latin typeface="Calibri"/>
                        </a:rPr>
                        <a:t>N</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serial GInt/s</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OpenMP-32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CUDA</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CUDA speed-up</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r>
              <a:tr h="384048">
                <a:tc>
                  <a:txBody>
                    <a:bodyPr wrap="square"/>
                    <a:lstStyle/>
                    <a:p>
                      <a:pPr algn="r"/>
                      <a:r>
                        <a:rPr sz="1250" b="0">
                          <a:solidFill>
                            <a:srgbClr val="1A1A1A"/>
                          </a:solidFill>
                          <a:latin typeface="Calibri"/>
                        </a:rPr>
                        <a:t>567</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0.282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5.78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1.78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6.3×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384048">
                <a:tc>
                  <a:txBody>
                    <a:bodyPr wrap="square"/>
                    <a:lstStyle/>
                    <a:p>
                      <a:pPr algn="r"/>
                      <a:r>
                        <a:rPr sz="1250" b="0">
                          <a:solidFill>
                            <a:srgbClr val="1A1A1A"/>
                          </a:solidFill>
                          <a:latin typeface="Calibri"/>
                        </a:rPr>
                        <a:t>2,231</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FF4FF"/>
                    </a:solidFill>
                  </a:tcPr>
                </a:tc>
                <a:tc>
                  <a:txBody>
                    <a:bodyPr wrap="square"/>
                    <a:lstStyle/>
                    <a:p>
                      <a:pPr algn="r"/>
                      <a:r>
                        <a:rPr sz="1250" b="0">
                          <a:solidFill>
                            <a:srgbClr val="1A1A1A"/>
                          </a:solidFill>
                          <a:latin typeface="Calibri"/>
                        </a:rPr>
                        <a:t>0.283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FF4FF"/>
                    </a:solidFill>
                  </a:tcPr>
                </a:tc>
                <a:tc>
                  <a:txBody>
                    <a:bodyPr wrap="square"/>
                    <a:lstStyle/>
                    <a:p>
                      <a:pPr algn="r"/>
                      <a:r>
                        <a:rPr sz="1250" b="0">
                          <a:solidFill>
                            <a:srgbClr val="1A1A1A"/>
                          </a:solidFill>
                          <a:latin typeface="Calibri"/>
                        </a:rPr>
                        <a:t>8.37</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FF4FF"/>
                    </a:solidFill>
                  </a:tcPr>
                </a:tc>
                <a:tc>
                  <a:txBody>
                    <a:bodyPr wrap="square"/>
                    <a:lstStyle/>
                    <a:p>
                      <a:pPr algn="r"/>
                      <a:r>
                        <a:rPr sz="1250" b="0">
                          <a:solidFill>
                            <a:srgbClr val="1A1A1A"/>
                          </a:solidFill>
                          <a:latin typeface="Calibri"/>
                        </a:rPr>
                        <a:t>8.86</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FF4FF"/>
                    </a:solidFill>
                  </a:tcPr>
                </a:tc>
                <a:tc>
                  <a:txBody>
                    <a:bodyPr wrap="square"/>
                    <a:lstStyle/>
                    <a:p>
                      <a:pPr algn="r"/>
                      <a:r>
                        <a:rPr sz="1250" b="0">
                          <a:solidFill>
                            <a:srgbClr val="1A1A1A"/>
                          </a:solidFill>
                          <a:latin typeface="Calibri"/>
                        </a:rPr>
                        <a:t>31×  ← crossover</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FF4FF"/>
                    </a:solidFill>
                  </a:tcPr>
                </a:tc>
              </a:tr>
              <a:tr h="384048">
                <a:tc>
                  <a:txBody>
                    <a:bodyPr wrap="square"/>
                    <a:lstStyle/>
                    <a:p>
                      <a:pPr algn="r"/>
                      <a:r>
                        <a:rPr sz="1250" b="0">
                          <a:solidFill>
                            <a:srgbClr val="1A1A1A"/>
                          </a:solidFill>
                          <a:latin typeface="Calibri"/>
                        </a:rPr>
                        <a:t>8,996</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0.283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8.39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36.8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r"/>
                      <a:r>
                        <a:rPr sz="1250" b="0">
                          <a:solidFill>
                            <a:srgbClr val="1A1A1A"/>
                          </a:solidFill>
                          <a:latin typeface="Calibri"/>
                        </a:rPr>
                        <a:t>130×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384048">
                <a:tc>
                  <a:txBody>
                    <a:bodyPr wrap="square"/>
                    <a:lstStyle/>
                    <a:p>
                      <a:pPr algn="r"/>
                      <a:r>
                        <a:rPr sz="1250" b="0">
                          <a:solidFill>
                            <a:srgbClr val="1A1A1A"/>
                          </a:solidFill>
                          <a:latin typeface="Calibri"/>
                        </a:rPr>
                        <a:t>35,919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250" b="0">
                          <a:solidFill>
                            <a:srgbClr val="1A1A1A"/>
                          </a:solidFill>
                          <a:latin typeface="Calibri"/>
                        </a:rPr>
                        <a:t>0.283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250" b="0">
                          <a:solidFill>
                            <a:srgbClr val="1A1A1A"/>
                          </a:solidFill>
                          <a:latin typeface="Calibri"/>
                        </a:rPr>
                        <a:t>8.44</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250" b="0">
                          <a:solidFill>
                            <a:srgbClr val="1A1A1A"/>
                          </a:solidFill>
                          <a:latin typeface="Calibri"/>
                        </a:rPr>
                        <a:t>105.4</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r"/>
                      <a:r>
                        <a:rPr sz="1250" b="0">
                          <a:solidFill>
                            <a:srgbClr val="1A1A1A"/>
                          </a:solidFill>
                          <a:latin typeface="Calibri"/>
                        </a:rPr>
                        <a:t>372×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384048">
                <a:tc>
                  <a:txBody>
                    <a:bodyPr wrap="square"/>
                    <a:lstStyle/>
                    <a:p>
                      <a:pPr algn="r"/>
                      <a:r>
                        <a:rPr sz="1250" b="0">
                          <a:solidFill>
                            <a:srgbClr val="1A1A1A"/>
                          </a:solidFill>
                          <a:latin typeface="Calibri"/>
                        </a:rPr>
                        <a:t>143,768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250" b="0">
                          <a:solidFill>
                            <a:srgbClr val="1A1A1A"/>
                          </a:solidFill>
                          <a:latin typeface="Calibri"/>
                        </a:rPr>
                        <a:t>(0.283)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250" b="0">
                          <a:solidFill>
                            <a:srgbClr val="1A1A1A"/>
                          </a:solidFill>
                          <a:latin typeface="Calibri"/>
                        </a:rPr>
                        <a:t>8.07</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250" b="1">
                          <a:solidFill>
                            <a:srgbClr val="1F6FEB"/>
                          </a:solidFill>
                          <a:latin typeface="Calibri"/>
                        </a:rPr>
                        <a:t>153.9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r"/>
                      <a:r>
                        <a:rPr sz="1250" b="1">
                          <a:solidFill>
                            <a:srgbClr val="1F6FEB"/>
                          </a:solidFill>
                          <a:latin typeface="Calibri"/>
                        </a:rPr>
                        <a:t>543×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r>
            </a:tbl>
          </a:graphicData>
        </a:graphic>
      </p:graphicFrame>
      <p:pic>
        <p:nvPicPr>
          <p:cNvPr id="4" name="Picture 3" descr="scaling_giups.png"/>
          <p:cNvPicPr>
            <a:picLocks noChangeAspect="1"/>
          </p:cNvPicPr>
          <p:nvPr/>
        </p:nvPicPr>
        <p:blipFill>
          <a:blip r:embed="rId2"/>
          <a:stretch>
            <a:fillRect/>
          </a:stretch>
        </p:blipFill>
        <p:spPr>
          <a:xfrm>
            <a:off x="1858771" y="4041648"/>
            <a:ext cx="3460496" cy="2395728"/>
          </a:xfrm>
          <a:prstGeom prst="rect">
            <a:avLst/>
          </a:prstGeom>
        </p:spPr>
      </p:pic>
      <p:pic>
        <p:nvPicPr>
          <p:cNvPr id="5" name="Picture 4" descr="scaling_speedup.png"/>
          <p:cNvPicPr>
            <a:picLocks noChangeAspect="1"/>
          </p:cNvPicPr>
          <p:nvPr/>
        </p:nvPicPr>
        <p:blipFill>
          <a:blip r:embed="rId3"/>
          <a:stretch>
            <a:fillRect/>
          </a:stretch>
        </p:blipFill>
        <p:spPr>
          <a:xfrm>
            <a:off x="6705092" y="4041648"/>
            <a:ext cx="3460496" cy="2395728"/>
          </a:xfrm>
          <a:prstGeom prst="rect">
            <a:avLst/>
          </a:prstGeom>
        </p:spPr>
      </p:pic>
      <p:sp>
        <p:nvSpPr>
          <p:cNvPr id="6" name="TextBox 5"/>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GPU profiling: nsys + ncu (roofline view)</a:t>
            </a:r>
          </a:p>
        </p:txBody>
      </p:sp>
      <p:sp>
        <p:nvSpPr>
          <p:cNvPr id="3" name="TextBox 2"/>
          <p:cNvSpPr txBox="1"/>
          <p:nvPr/>
        </p:nvSpPr>
        <p:spPr>
          <a:xfrm>
            <a:off x="685800" y="1417320"/>
            <a:ext cx="10881360" cy="475488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nsys: </a:t>
            </a:r>
            <a:r>
              <a:rPr sz="1700">
                <a:solidFill>
                  <a:srgbClr val="0B3D91"/>
                </a:solidFill>
                <a:latin typeface="Consolas"/>
              </a:rPr>
              <a:t>computeForcesKernel</a:t>
            </a:r>
            <a:r>
              <a:rPr sz="1800">
                <a:solidFill>
                  <a:srgbClr val="1A1A1A"/>
                </a:solidFill>
                <a:latin typeface="Calibri"/>
              </a:rPr>
              <a:t> = </a:t>
            </a:r>
            <a:r>
              <a:rPr b="1" sz="1800">
                <a:solidFill>
                  <a:srgbClr val="1F6FEB"/>
                </a:solidFill>
                <a:latin typeface="Calibri"/>
              </a:rPr>
              <a:t>99.1%</a:t>
            </a:r>
            <a:r>
              <a:rPr sz="1800">
                <a:solidFill>
                  <a:srgbClr val="1A1A1A"/>
                </a:solidFill>
                <a:latin typeface="Calibri"/>
              </a:rPr>
              <a:t> of GPU time; memcpy total </a:t>
            </a:r>
            <a:r>
              <a:rPr b="1" sz="1800">
                <a:solidFill>
                  <a:srgbClr val="1F6FEB"/>
                </a:solidFill>
                <a:latin typeface="Calibri"/>
              </a:rPr>
              <a:t>0.19 ms</a:t>
            </a:r>
            <a:r>
              <a:rPr sz="1800">
                <a:solidFill>
                  <a:srgbClr val="1A1A1A"/>
                </a:solidFill>
                <a:latin typeface="Calibri"/>
              </a:rPr>
              <a:t> → streams/overlap would buy nothing.</a:t>
            </a:r>
          </a:p>
          <a:p>
            <a:pPr algn="l" marL="285750" indent="-285750">
              <a:lnSpc>
                <a:spcPct val="104000"/>
              </a:lnSpc>
              <a:spcAft>
                <a:spcPts val="800"/>
              </a:spcAft>
              <a:buClr>
                <a:srgbClr val="1F6FEB"/>
              </a:buClr>
              <a:buFont typeface="Arial"/>
              <a:buChar char="•"/>
            </a:pPr>
            <a:r>
              <a:rPr sz="1800">
                <a:solidFill>
                  <a:srgbClr val="1A1A1A"/>
                </a:solidFill>
                <a:latin typeface="Calibri"/>
              </a:rPr>
              <a:t>ncu @ XL: SM throughput 53.5%, </a:t>
            </a:r>
            <a:r>
              <a:rPr b="1" sz="1800">
                <a:solidFill>
                  <a:srgbClr val="1F6FEB"/>
                </a:solidFill>
                <a:latin typeface="Calibri"/>
              </a:rPr>
              <a:t>DRAM ≈ 0%</a:t>
            </a:r>
            <a:r>
              <a:rPr sz="1800">
                <a:solidFill>
                  <a:srgbClr val="1A1A1A"/>
                </a:solidFill>
                <a:latin typeface="Calibri"/>
              </a:rPr>
              <a:t> → purely </a:t>
            </a:r>
            <a:r>
              <a:rPr b="1" sz="1800">
                <a:solidFill>
                  <a:srgbClr val="1F6FEB"/>
                </a:solidFill>
                <a:latin typeface="Calibri"/>
              </a:rPr>
              <a:t>compute-bound</a:t>
            </a:r>
            <a:r>
              <a:rPr sz="1800">
                <a:solidFill>
                  <a:srgbClr val="1A1A1A"/>
                </a:solidFill>
                <a:latin typeface="Calibri"/>
              </a:rPr>
              <a:t> (all particle data lives in L1/L2; effectively infinite arithmetic intensity).</a:t>
            </a:r>
          </a:p>
          <a:p>
            <a:pPr algn="l" marL="285750" indent="-285750">
              <a:lnSpc>
                <a:spcPct val="104000"/>
              </a:lnSpc>
              <a:spcAft>
                <a:spcPts val="800"/>
              </a:spcAft>
              <a:buClr>
                <a:srgbClr val="1F6FEB"/>
              </a:buClr>
              <a:buFont typeface="Arial"/>
              <a:buChar char="•"/>
            </a:pPr>
            <a:r>
              <a:rPr sz="1800">
                <a:solidFill>
                  <a:srgbClr val="1A1A1A"/>
                </a:solidFill>
                <a:latin typeface="Calibri"/>
              </a:rPr>
              <a:t>Hottest pipe: </a:t>
            </a:r>
            <a:r>
              <a:rPr b="1" sz="1800">
                <a:solidFill>
                  <a:srgbClr val="1F6FEB"/>
                </a:solidFill>
                <a:latin typeface="Calibri"/>
              </a:rPr>
              <a:t>FP64 at 63%</a:t>
            </a:r>
            <a:r>
              <a:rPr sz="1800">
                <a:solidFill>
                  <a:srgbClr val="1A1A1A"/>
                </a:solidFill>
                <a:latin typeface="Calibri"/>
              </a:rPr>
              <a:t>; achieved ≈ </a:t>
            </a:r>
            <a:r>
              <a:rPr b="1" sz="1800">
                <a:solidFill>
                  <a:srgbClr val="1F6FEB"/>
                </a:solidFill>
                <a:latin typeface="Calibri"/>
              </a:rPr>
              <a:t>37% of A100 FP64 peak</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ncu optimizer: fusing to FMA would gain ≈ </a:t>
            </a:r>
            <a:r>
              <a:rPr b="1" sz="1800">
                <a:solidFill>
                  <a:srgbClr val="1F6FEB"/>
                </a:solidFill>
                <a:latin typeface="Calibri"/>
              </a:rPr>
              <a:t>+31%</a:t>
            </a:r>
            <a:r>
              <a:rPr sz="1800">
                <a:solidFill>
                  <a:srgbClr val="1A1A1A"/>
                </a:solidFill>
                <a:latin typeface="Calibri"/>
              </a:rPr>
              <a:t> — </a:t>
            </a:r>
            <a:r>
              <a:rPr b="1" sz="1800">
                <a:solidFill>
                  <a:srgbClr val="1F6FEB"/>
                </a:solidFill>
                <a:latin typeface="Calibri"/>
              </a:rPr>
              <a:t>declined</a:t>
            </a:r>
            <a:r>
              <a:rPr sz="1800">
                <a:solidFill>
                  <a:srgbClr val="1A1A1A"/>
                </a:solidFill>
                <a:latin typeface="Calibri"/>
              </a:rPr>
              <a:t>: non-contracted arithmetic is what makes the GPU bitwise-identical to serial.</a:t>
            </a:r>
          </a:p>
          <a:p>
            <a:pPr algn="l" marL="285750" indent="-285750">
              <a:lnSpc>
                <a:spcPct val="104000"/>
              </a:lnSpc>
              <a:spcAft>
                <a:spcPts val="800"/>
              </a:spcAft>
              <a:buClr>
                <a:srgbClr val="1F6FEB"/>
              </a:buClr>
              <a:buFont typeface="Arial"/>
              <a:buChar char="•"/>
            </a:pPr>
            <a:r>
              <a:rPr sz="1800">
                <a:solidFill>
                  <a:srgbClr val="1A1A1A"/>
                </a:solidFill>
                <a:latin typeface="Calibri"/>
              </a:rPr>
              <a:t>Occupancy M → XL: 6.1% → 13.8%; waves/SM 0.02 → 0.25 (explains S13/S14).</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MPI: distributed memory across nodes</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Block decomposition of the outer index; each rank computes its slice against ALL positions; per-step </a:t>
            </a:r>
            <a:r>
              <a:rPr sz="1700">
                <a:solidFill>
                  <a:srgbClr val="0B3D91"/>
                </a:solidFill>
                <a:latin typeface="Consolas"/>
              </a:rPr>
              <a:t>MPI_Allgatherv</a:t>
            </a:r>
            <a:r>
              <a:rPr sz="1800">
                <a:solidFill>
                  <a:srgbClr val="1A1A1A"/>
                </a:solidFill>
                <a:latin typeface="Calibri"/>
              </a:rPr>
              <a:t> (positions only).</a:t>
            </a:r>
          </a:p>
          <a:p>
            <a:pPr algn="l" marL="285750" indent="-285750">
              <a:lnSpc>
                <a:spcPct val="104000"/>
              </a:lnSpc>
              <a:spcAft>
                <a:spcPts val="800"/>
              </a:spcAft>
              <a:buClr>
                <a:srgbClr val="1F6FEB"/>
              </a:buClr>
              <a:buFont typeface="Arial"/>
              <a:buChar char="•"/>
            </a:pPr>
            <a:r>
              <a:rPr sz="1800">
                <a:solidFill>
                  <a:srgbClr val="1A1A1A"/>
                </a:solidFill>
                <a:latin typeface="Calibri"/>
              </a:rPr>
              <a:t>Preserves the inner sum order → </a:t>
            </a:r>
            <a:r>
              <a:rPr b="1" sz="1800">
                <a:solidFill>
                  <a:srgbClr val="1F6FEB"/>
                </a:solidFill>
                <a:latin typeface="Calibri"/>
              </a:rPr>
              <a:t>bitwise identical to serial, 1 → 128 ranks</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Same 32-way node: MPI 27.5× (86%) vs OpenMP 29.2× (91%) — the gap IS the Allgatherv that shared memory avoids → argument for hybrid MPI+OpenMP.</a:t>
            </a:r>
          </a:p>
          <a:p>
            <a:pPr algn="l" marL="285750" indent="-285750">
              <a:lnSpc>
                <a:spcPct val="104000"/>
              </a:lnSpc>
              <a:spcAft>
                <a:spcPts val="800"/>
              </a:spcAft>
              <a:buClr>
                <a:srgbClr val="1F6FEB"/>
              </a:buClr>
              <a:buFont typeface="Arial"/>
              <a:buChar char="•"/>
            </a:pPr>
            <a:r>
              <a:rPr sz="1800">
                <a:solidFill>
                  <a:srgbClr val="1A1A1A"/>
                </a:solidFill>
                <a:latin typeface="Calibri"/>
              </a:rPr>
              <a:t>Communication cost isolated: 32 ranks packed on 1 node = </a:t>
            </a:r>
            <a:r>
              <a:rPr b="1" sz="1800">
                <a:solidFill>
                  <a:srgbClr val="1F6FEB"/>
                </a:solidFill>
                <a:latin typeface="Calibri"/>
              </a:rPr>
              <a:t>27.5×</a:t>
            </a:r>
            <a:r>
              <a:rPr sz="1800">
                <a:solidFill>
                  <a:srgbClr val="1A1A1A"/>
                </a:solidFill>
                <a:latin typeface="Calibri"/>
              </a:rPr>
              <a:t> vs spread over 4 nodes = </a:t>
            </a:r>
            <a:r>
              <a:rPr b="1" sz="1800">
                <a:solidFill>
                  <a:srgbClr val="1F6FEB"/>
                </a:solidFill>
                <a:latin typeface="Calibri"/>
              </a:rPr>
              <a:t>19.2×</a:t>
            </a:r>
            <a:r>
              <a:rPr sz="1800">
                <a:solidFill>
                  <a:srgbClr val="1A1A1A"/>
                </a:solidFill>
                <a:latin typeface="Calibri"/>
              </a:rPr>
              <a:t> (same ranks, same N).</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MPI scaling</a:t>
            </a:r>
          </a:p>
        </p:txBody>
      </p:sp>
      <p:sp>
        <p:nvSpPr>
          <p:cNvPr id="3" name="TextBox 2"/>
          <p:cNvSpPr txBox="1"/>
          <p:nvPr/>
        </p:nvSpPr>
        <p:spPr>
          <a:xfrm>
            <a:off x="640080" y="1234440"/>
            <a:ext cx="5669280" cy="274320"/>
          </a:xfrm>
          <a:prstGeom prst="rect">
            <a:avLst/>
          </a:prstGeom>
          <a:noFill/>
        </p:spPr>
        <p:txBody>
          <a:bodyPr wrap="none">
            <a:spAutoFit/>
          </a:bodyPr>
          <a:lstStyle/>
          <a:p>
            <a:pPr algn="l"/>
            <a:r>
              <a:rPr sz="1200" i="1">
                <a:solidFill>
                  <a:srgbClr val="5A5A5A"/>
                </a:solidFill>
                <a:latin typeface="Calibri"/>
              </a:rPr>
              <a:t>Strong-scaling speed-up @ ranks</a:t>
            </a:r>
          </a:p>
        </p:txBody>
      </p:sp>
      <p:graphicFrame>
        <p:nvGraphicFramePr>
          <p:cNvPr id="4" name="Table 3"/>
          <p:cNvGraphicFramePr>
            <a:graphicFrameLocks noGrp="1"/>
          </p:cNvGraphicFramePr>
          <p:nvPr/>
        </p:nvGraphicFramePr>
        <p:xfrm>
          <a:off x="640080" y="1554480"/>
          <a:ext cx="6080760" cy="1792224"/>
        </p:xfrm>
        <a:graphic>
          <a:graphicData uri="http://schemas.openxmlformats.org/drawingml/2006/table">
            <a:tbl>
              <a:tblPr firstRow="0" bandRow="0" lastRow="0" firstCol="0" lastCol="0" bandCol="0"/>
              <a:tblGrid>
                <a:gridCol w="1554480"/>
                <a:gridCol w="1691640"/>
                <a:gridCol w="1234440"/>
                <a:gridCol w="1600200"/>
              </a:tblGrid>
              <a:tr h="420624">
                <a:tc>
                  <a:txBody>
                    <a:bodyPr wrap="square"/>
                    <a:lstStyle/>
                    <a:p>
                      <a:pPr algn="ctr"/>
                      <a:r>
                        <a:rPr sz="1250" b="1">
                          <a:solidFill>
                            <a:srgbClr val="FFFFFF"/>
                          </a:solidFill>
                          <a:latin typeface="Calibri"/>
                        </a:rPr>
                        <a:t>N</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32</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64</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c>
                  <a:txBody>
                    <a:bodyPr wrap="square"/>
                    <a:lstStyle/>
                    <a:p>
                      <a:pPr algn="ctr"/>
                      <a:r>
                        <a:rPr sz="1250" b="1">
                          <a:solidFill>
                            <a:srgbClr val="FFFFFF"/>
                          </a:solidFill>
                          <a:latin typeface="Calibri"/>
                        </a:rPr>
                        <a:t>128</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1F6FEB"/>
                    </a:solidFill>
                  </a:tcPr>
                </a:tc>
              </a:tr>
              <a:tr h="457200">
                <a:tc>
                  <a:txBody>
                    <a:bodyPr wrap="square"/>
                    <a:lstStyle/>
                    <a:p>
                      <a:pPr algn="l"/>
                      <a:r>
                        <a:rPr sz="1250" b="0">
                          <a:solidFill>
                            <a:srgbClr val="1A1A1A"/>
                          </a:solidFill>
                          <a:latin typeface="Calibri"/>
                        </a:rPr>
                        <a:t>2,231 (M)</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ctr"/>
                      <a:r>
                        <a:rPr sz="1250" b="0">
                          <a:solidFill>
                            <a:srgbClr val="1A1A1A"/>
                          </a:solidFill>
                          <a:latin typeface="Calibri"/>
                        </a:rPr>
                        <a:t>27.5× (1 node)</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ctr"/>
                      <a:r>
                        <a:rPr sz="1250" b="0">
                          <a:solidFill>
                            <a:srgbClr val="1A1A1A"/>
                          </a:solidFill>
                          <a:latin typeface="Calibri"/>
                        </a:rPr>
                        <a:t>38.6×</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c>
                  <a:txBody>
                    <a:bodyPr wrap="square"/>
                    <a:lstStyle/>
                    <a:p>
                      <a:pPr algn="ctr"/>
                      <a:r>
                        <a:rPr sz="1250" b="0">
                          <a:solidFill>
                            <a:srgbClr val="1A1A1A"/>
                          </a:solidFill>
                          <a:latin typeface="Calibri"/>
                        </a:rPr>
                        <a:t>38.2× — saturated</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FFFFF"/>
                    </a:solidFill>
                  </a:tcPr>
                </a:tc>
              </a:tr>
              <a:tr h="457200">
                <a:tc>
                  <a:txBody>
                    <a:bodyPr wrap="square"/>
                    <a:lstStyle/>
                    <a:p>
                      <a:pPr algn="l"/>
                      <a:r>
                        <a:rPr sz="1250" b="0">
                          <a:solidFill>
                            <a:srgbClr val="1A1A1A"/>
                          </a:solidFill>
                          <a:latin typeface="Calibri"/>
                        </a:rPr>
                        <a:t>8,996 (L)</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ctr"/>
                      <a:r>
                        <a:rPr sz="1250" b="0">
                          <a:solidFill>
                            <a:srgbClr val="1A1A1A"/>
                          </a:solidFill>
                          <a:latin typeface="Calibri"/>
                        </a:rPr>
                        <a:t>30.3×</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ctr"/>
                      <a:r>
                        <a:rPr sz="1250" b="0">
                          <a:solidFill>
                            <a:srgbClr val="1A1A1A"/>
                          </a:solidFill>
                          <a:latin typeface="Calibri"/>
                        </a:rPr>
                        <a:t>57.4×</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c>
                  <a:txBody>
                    <a:bodyPr wrap="square"/>
                    <a:lstStyle/>
                    <a:p>
                      <a:pPr algn="ctr"/>
                      <a:r>
                        <a:rPr sz="1250" b="0">
                          <a:solidFill>
                            <a:srgbClr val="1A1A1A"/>
                          </a:solidFill>
                          <a:latin typeface="Calibri"/>
                        </a:rPr>
                        <a:t>89.7× (70%)</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F5F8FC"/>
                    </a:solidFill>
                  </a:tcPr>
                </a:tc>
              </a:tr>
              <a:tr h="457200">
                <a:tc>
                  <a:txBody>
                    <a:bodyPr wrap="square"/>
                    <a:lstStyle/>
                    <a:p>
                      <a:pPr algn="l"/>
                      <a:r>
                        <a:rPr sz="1250" b="0">
                          <a:solidFill>
                            <a:srgbClr val="1A1A1A"/>
                          </a:solidFill>
                          <a:latin typeface="Calibri"/>
                        </a:rPr>
                        <a:t>35,919 (XL)</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ctr"/>
                      <a:r>
                        <a:rPr sz="1250" b="0">
                          <a:solidFill>
                            <a:srgbClr val="1A1A1A"/>
                          </a:solidFill>
                          <a:latin typeface="Calibri"/>
                        </a:rPr>
                        <a:t>—</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ctr"/>
                      <a:r>
                        <a:rPr sz="1250" b="0">
                          <a:solidFill>
                            <a:srgbClr val="1A1A1A"/>
                          </a:solidFill>
                          <a:latin typeface="Calibri"/>
                        </a:rPr>
                        <a:t>61.1× (95%)</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c>
                  <a:txBody>
                    <a:bodyPr wrap="square"/>
                    <a:lstStyle/>
                    <a:p>
                      <a:pPr algn="ctr"/>
                      <a:r>
                        <a:rPr sz="1250" b="1">
                          <a:solidFill>
                            <a:srgbClr val="1F6FEB"/>
                          </a:solidFill>
                          <a:latin typeface="Calibri"/>
                        </a:rPr>
                        <a:t>113.7× (89%)</a:t>
                      </a:r>
                    </a:p>
                  </a:txBody>
                  <a:tcPr marL="91440" marR="118872" marT="18288" marB="18288" anchor="ctr">
                    <a:lnL w="9525" cap="flat" cmpd="sng" algn="ctr">
                      <a:solidFill>
                        <a:srgbClr val="D0D7DE"/>
                      </a:solidFill>
                    </a:lnL>
                    <a:lnR w="9525" cap="flat" cmpd="sng" algn="ctr">
                      <a:solidFill>
                        <a:srgbClr val="D0D7DE"/>
                      </a:solidFill>
                    </a:lnR>
                    <a:lnT w="9525" cap="flat" cmpd="sng" algn="ctr">
                      <a:solidFill>
                        <a:srgbClr val="D0D7DE"/>
                      </a:solidFill>
                    </a:lnT>
                    <a:lnB w="9525" cap="flat" cmpd="sng" algn="ctr">
                      <a:solidFill>
                        <a:srgbClr val="D0D7DE"/>
                      </a:solidFill>
                    </a:lnB>
                    <a:solidFill>
                      <a:srgbClr val="E1ECFF"/>
                    </a:solidFill>
                  </a:tcPr>
                </a:tc>
              </a:tr>
            </a:tbl>
          </a:graphicData>
        </a:graphic>
      </p:graphicFrame>
      <p:sp>
        <p:nvSpPr>
          <p:cNvPr id="5" name="TextBox 4"/>
          <p:cNvSpPr txBox="1"/>
          <p:nvPr/>
        </p:nvSpPr>
        <p:spPr>
          <a:xfrm>
            <a:off x="6995160" y="1481328"/>
            <a:ext cx="4846320" cy="2194560"/>
          </a:xfrm>
          <a:prstGeom prst="rect">
            <a:avLst/>
          </a:prstGeom>
          <a:noFill/>
        </p:spPr>
        <p:txBody>
          <a:bodyPr wrap="square">
            <a:noAutofit/>
          </a:bodyPr>
          <a:lstStyle/>
          <a:p>
            <a:pPr algn="l" marL="285750" indent="-285750">
              <a:lnSpc>
                <a:spcPct val="104000"/>
              </a:lnSpc>
              <a:spcAft>
                <a:spcPts val="500"/>
              </a:spcAft>
              <a:buClr>
                <a:srgbClr val="1F6FEB"/>
              </a:buClr>
              <a:buFont typeface="Arial"/>
              <a:buChar char="•"/>
            </a:pPr>
            <a:r>
              <a:rPr sz="1350">
                <a:solidFill>
                  <a:srgbClr val="1A1A1A"/>
                </a:solidFill>
                <a:latin typeface="Calibri"/>
              </a:rPr>
              <a:t>Weak scaling (work/rank const): p=4 → 99%, p=16 → 95%, p=64 → </a:t>
            </a:r>
            <a:r>
              <a:rPr b="1" sz="1350">
                <a:solidFill>
                  <a:srgbClr val="1F6FEB"/>
                </a:solidFill>
                <a:latin typeface="Calibri"/>
              </a:rPr>
              <a:t>92%</a:t>
            </a:r>
            <a:r>
              <a:rPr sz="1350">
                <a:solidFill>
                  <a:srgbClr val="1A1A1A"/>
                </a:solidFill>
                <a:latin typeface="Calibri"/>
              </a:rPr>
              <a:t>.</a:t>
            </a:r>
          </a:p>
          <a:p>
            <a:pPr algn="l" marL="285750" indent="-285750">
              <a:lnSpc>
                <a:spcPct val="104000"/>
              </a:lnSpc>
              <a:spcAft>
                <a:spcPts val="500"/>
              </a:spcAft>
              <a:buClr>
                <a:srgbClr val="1F6FEB"/>
              </a:buClr>
              <a:buFont typeface="Arial"/>
              <a:buChar char="•"/>
            </a:pPr>
            <a:r>
              <a:rPr sz="1350">
                <a:solidFill>
                  <a:srgbClr val="1A1A1A"/>
                </a:solidFill>
                <a:latin typeface="Calibri"/>
              </a:rPr>
              <a:t>At N=2231, 128 ranks ≈ 17 particles/rank → communication-bound, speedup saturates.</a:t>
            </a:r>
          </a:p>
          <a:p>
            <a:pPr algn="l" marL="285750" indent="-285750">
              <a:lnSpc>
                <a:spcPct val="104000"/>
              </a:lnSpc>
              <a:spcAft>
                <a:spcPts val="500"/>
              </a:spcAft>
              <a:buClr>
                <a:srgbClr val="1F6FEB"/>
              </a:buClr>
              <a:buFont typeface="Arial"/>
              <a:buChar char="•"/>
            </a:pPr>
            <a:r>
              <a:rPr sz="1350">
                <a:solidFill>
                  <a:srgbClr val="1A1A1A"/>
                </a:solidFill>
                <a:latin typeface="Calibri"/>
              </a:rPr>
              <a:t>Scaling ceiling moves with problem size — the MPI twin of the GPU occupancy story.</a:t>
            </a:r>
          </a:p>
        </p:txBody>
      </p:sp>
      <p:pic>
        <p:nvPicPr>
          <p:cNvPr id="6" name="Picture 5" descr="mpi_speedup.png"/>
          <p:cNvPicPr>
            <a:picLocks noChangeAspect="1"/>
          </p:cNvPicPr>
          <p:nvPr/>
        </p:nvPicPr>
        <p:blipFill>
          <a:blip r:embed="rId2"/>
          <a:stretch>
            <a:fillRect/>
          </a:stretch>
        </p:blipFill>
        <p:spPr>
          <a:xfrm>
            <a:off x="1485900" y="3611880"/>
            <a:ext cx="4160520" cy="2880360"/>
          </a:xfrm>
          <a:prstGeom prst="rect">
            <a:avLst/>
          </a:prstGeom>
        </p:spPr>
      </p:pic>
      <p:pic>
        <p:nvPicPr>
          <p:cNvPr id="7" name="Picture 6" descr="mpi_weak.png"/>
          <p:cNvPicPr>
            <a:picLocks noChangeAspect="1"/>
          </p:cNvPicPr>
          <p:nvPr/>
        </p:nvPicPr>
        <p:blipFill>
          <a:blip r:embed="rId3"/>
          <a:stretch>
            <a:fillRect/>
          </a:stretch>
        </p:blipFill>
        <p:spPr>
          <a:xfrm>
            <a:off x="6355080" y="3619500"/>
            <a:ext cx="4297680" cy="2865120"/>
          </a:xfrm>
          <a:prstGeom prst="rect">
            <a:avLst/>
          </a:prstGeom>
        </p:spPr>
      </p:pic>
      <p:sp>
        <p:nvSpPr>
          <p:cNvPr id="8" name="TextBox 7"/>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Conclusions</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Six implementations of one numerical model; </a:t>
            </a:r>
            <a:r>
              <a:rPr b="1" sz="1800">
                <a:solidFill>
                  <a:srgbClr val="1F6FEB"/>
                </a:solidFill>
                <a:latin typeface="Calibri"/>
              </a:rPr>
              <a:t>five bitwise-identical</a:t>
            </a:r>
            <a:r>
              <a:rPr sz="1800">
                <a:solidFill>
                  <a:srgbClr val="1A1A1A"/>
                </a:solidFill>
                <a:latin typeface="Calibri"/>
              </a:rPr>
              <a:t> to serial, the sixth within 10⁻³ of it — validated by the course tools, full 15-pair matrix.</a:t>
            </a:r>
          </a:p>
          <a:p>
            <a:pPr algn="l" marL="285750" indent="-285750">
              <a:lnSpc>
                <a:spcPct val="104000"/>
              </a:lnSpc>
              <a:spcAft>
                <a:spcPts val="800"/>
              </a:spcAft>
              <a:buClr>
                <a:srgbClr val="1F6FEB"/>
              </a:buClr>
              <a:buFont typeface="Arial"/>
              <a:buChar char="•"/>
            </a:pPr>
            <a:r>
              <a:rPr sz="1800">
                <a:solidFill>
                  <a:srgbClr val="1A1A1A"/>
                </a:solidFill>
                <a:latin typeface="Calibri"/>
              </a:rPr>
              <a:t>One design rule made that possible: parallelize the outer loop, preserve the inner sum order, refuse contraction — measured cost: 31% of GPU peak, knowingly paid.</a:t>
            </a:r>
          </a:p>
          <a:p>
            <a:pPr algn="l" marL="285750" indent="-285750">
              <a:lnSpc>
                <a:spcPct val="104000"/>
              </a:lnSpc>
              <a:spcAft>
                <a:spcPts val="800"/>
              </a:spcAft>
              <a:buClr>
                <a:srgbClr val="1F6FEB"/>
              </a:buClr>
              <a:buFont typeface="Arial"/>
              <a:buChar char="•"/>
            </a:pPr>
            <a:r>
              <a:rPr sz="1800">
                <a:solidFill>
                  <a:srgbClr val="1A1A1A"/>
                </a:solidFill>
                <a:latin typeface="Calibri"/>
              </a:rPr>
              <a:t>Performance: </a:t>
            </a:r>
            <a:r>
              <a:rPr b="1" sz="1800">
                <a:solidFill>
                  <a:srgbClr val="1F6FEB"/>
                </a:solidFill>
                <a:latin typeface="Calibri"/>
              </a:rPr>
              <a:t>29.2×</a:t>
            </a:r>
            <a:r>
              <a:rPr sz="1800">
                <a:solidFill>
                  <a:srgbClr val="1A1A1A"/>
                </a:solidFill>
                <a:latin typeface="Calibri"/>
              </a:rPr>
              <a:t> (OpenMP, 32 cores) · </a:t>
            </a:r>
            <a:r>
              <a:rPr b="1" sz="1800">
                <a:solidFill>
                  <a:srgbClr val="1F6FEB"/>
                </a:solidFill>
                <a:latin typeface="Calibri"/>
              </a:rPr>
              <a:t>31→543×</a:t>
            </a:r>
            <a:r>
              <a:rPr sz="1800">
                <a:solidFill>
                  <a:srgbClr val="1A1A1A"/>
                </a:solidFill>
                <a:latin typeface="Calibri"/>
              </a:rPr>
              <a:t> (CUDA, N-dependent) · </a:t>
            </a:r>
            <a:r>
              <a:rPr b="1" sz="1800">
                <a:solidFill>
                  <a:srgbClr val="1F6FEB"/>
                </a:solidFill>
                <a:latin typeface="Calibri"/>
              </a:rPr>
              <a:t>113.7×</a:t>
            </a:r>
            <a:r>
              <a:rPr sz="1800">
                <a:solidFill>
                  <a:srgbClr val="1A1A1A"/>
                </a:solidFill>
                <a:latin typeface="Calibri"/>
              </a:rPr>
              <a:t> (MPI, 128 ranks) · Numba within 6% of hand-written OpenMP.</a:t>
            </a:r>
          </a:p>
          <a:p>
            <a:pPr algn="l" marL="285750" indent="-285750">
              <a:lnSpc>
                <a:spcPct val="104000"/>
              </a:lnSpc>
              <a:spcAft>
                <a:spcPts val="800"/>
              </a:spcAft>
              <a:buClr>
                <a:srgbClr val="1F6FEB"/>
              </a:buClr>
              <a:buFont typeface="Arial"/>
              <a:buChar char="•"/>
            </a:pPr>
            <a:r>
              <a:rPr sz="1800">
                <a:solidFill>
                  <a:srgbClr val="1A1A1A"/>
                </a:solidFill>
                <a:latin typeface="Calibri"/>
              </a:rPr>
              <a:t>One lesson everywhere: speedup = work per processing element (Amdahl ceiling, GPU occupancy, MPI ranks — the same curve three times).</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9184"/>
            <a:ext cx="10881360" cy="868680"/>
          </a:xfrm>
          <a:prstGeom prst="rect">
            <a:avLst/>
          </a:prstGeom>
          <a:noFill/>
        </p:spPr>
        <p:txBody>
          <a:bodyPr wrap="square">
            <a:noAutofit/>
          </a:bodyPr>
          <a:lstStyle/>
          <a:p>
            <a:r>
              <a:rPr sz="3000" b="1">
                <a:solidFill>
                  <a:srgbClr val="1A1A1A"/>
                </a:solidFill>
                <a:latin typeface="Calibri"/>
              </a:rPr>
              <a:t>Backup: artifacts</a:t>
            </a:r>
          </a:p>
        </p:txBody>
      </p:sp>
      <p:sp>
        <p:nvSpPr>
          <p:cNvPr id="3" name="TextBox 2"/>
          <p:cNvSpPr txBox="1"/>
          <p:nvPr/>
        </p:nvSpPr>
        <p:spPr>
          <a:xfrm>
            <a:off x="685800" y="1463040"/>
            <a:ext cx="10881360" cy="4572000"/>
          </a:xfrm>
          <a:prstGeom prst="rect">
            <a:avLst/>
          </a:prstGeom>
          <a:noFill/>
        </p:spPr>
        <p:txBody>
          <a:bodyPr wrap="square">
            <a:noAutofit/>
          </a:bodyPr>
          <a:lstStyle/>
          <a:p>
            <a:pPr algn="l" marL="285750" indent="-285750">
              <a:lnSpc>
                <a:spcPct val="104000"/>
              </a:lnSpc>
              <a:spcAft>
                <a:spcPts val="800"/>
              </a:spcAft>
              <a:buClr>
                <a:srgbClr val="1F6FEB"/>
              </a:buClr>
              <a:buFont typeface="Arial"/>
              <a:buChar char="•"/>
            </a:pPr>
            <a:r>
              <a:rPr sz="1800">
                <a:solidFill>
                  <a:srgbClr val="1A1A1A"/>
                </a:solidFill>
                <a:latin typeface="Calibri"/>
              </a:rPr>
              <a:t>Repo: </a:t>
            </a:r>
            <a:r>
              <a:rPr sz="1700">
                <a:solidFill>
                  <a:srgbClr val="0B3D91"/>
                </a:solidFill>
                <a:latin typeface="Consolas"/>
              </a:rPr>
              <a:t>github.com/Leonard013/polimi-hpc-particles</a:t>
            </a:r>
            <a:r>
              <a:rPr sz="1800">
                <a:solidFill>
                  <a:srgbClr val="1A1A1A"/>
                </a:solidFill>
                <a:latin typeface="Calibri"/>
              </a:rPr>
              <a:t> (full history).</a:t>
            </a:r>
          </a:p>
          <a:p>
            <a:pPr algn="l" marL="285750" indent="-285750">
              <a:lnSpc>
                <a:spcPct val="104000"/>
              </a:lnSpc>
              <a:spcAft>
                <a:spcPts val="800"/>
              </a:spcAft>
              <a:buClr>
                <a:srgbClr val="1F6FEB"/>
              </a:buClr>
              <a:buFont typeface="Arial"/>
              <a:buChar char="•"/>
            </a:pPr>
            <a:r>
              <a:rPr sz="1800">
                <a:solidFill>
                  <a:srgbClr val="1A1A1A"/>
                </a:solidFill>
                <a:latin typeface="Calibri"/>
              </a:rPr>
              <a:t>Raw evidence: </a:t>
            </a:r>
            <a:r>
              <a:rPr sz="1700">
                <a:solidFill>
                  <a:srgbClr val="0B3D91"/>
                </a:solidFill>
                <a:latin typeface="Consolas"/>
              </a:rPr>
              <a:t>logs/*.out</a:t>
            </a:r>
            <a:r>
              <a:rPr sz="1800">
                <a:solidFill>
                  <a:srgbClr val="1A1A1A"/>
                </a:solidFill>
                <a:latin typeface="Calibri"/>
              </a:rPr>
              <a:t> (SLURM jobs), </a:t>
            </a:r>
            <a:r>
              <a:rPr sz="1700">
                <a:solidFill>
                  <a:srgbClr val="0B3D91"/>
                </a:solidFill>
                <a:latin typeface="Consolas"/>
              </a:rPr>
              <a:t>reports/validation.log</a:t>
            </a:r>
            <a:r>
              <a:rPr sz="1800">
                <a:solidFill>
                  <a:srgbClr val="1A1A1A"/>
                </a:solidFill>
                <a:latin typeface="Calibri"/>
              </a:rPr>
              <a:t> (15-pair matrix), </a:t>
            </a:r>
            <a:r>
              <a:rPr sz="1700">
                <a:solidFill>
                  <a:srgbClr val="0B3D91"/>
                </a:solidFill>
                <a:latin typeface="Consolas"/>
              </a:rPr>
              <a:t>reports/*.csv</a:t>
            </a:r>
            <a:r>
              <a:rPr sz="1800">
                <a:solidFill>
                  <a:srgbClr val="1A1A1A"/>
                </a:solidFill>
                <a:latin typeface="Calibri"/>
              </a:rPr>
              <a:t> (every measurement), </a:t>
            </a:r>
            <a:r>
              <a:rPr sz="1700">
                <a:solidFill>
                  <a:srgbClr val="0B3D91"/>
                </a:solidFill>
                <a:latin typeface="Consolas"/>
              </a:rPr>
              <a:t>reports/ncu/*.ncu-rep</a:t>
            </a:r>
            <a:r>
              <a:rPr sz="1800">
                <a:solidFill>
                  <a:srgbClr val="1A1A1A"/>
                </a:solidFill>
                <a:latin typeface="Calibri"/>
              </a:rPr>
              <a:t>, </a:t>
            </a:r>
            <a:r>
              <a:rPr sz="1700">
                <a:solidFill>
                  <a:srgbClr val="0B3D91"/>
                </a:solidFill>
                <a:latin typeface="Consolas"/>
              </a:rPr>
              <a:t>reports/nsys/*</a:t>
            </a:r>
            <a:r>
              <a:rPr sz="1800">
                <a:solidFill>
                  <a:srgbClr val="1A1A1A"/>
                </a:solidFill>
                <a:latin typeface="Calibri"/>
              </a:rPr>
              <a:t>.</a:t>
            </a:r>
          </a:p>
          <a:p>
            <a:pPr algn="l" marL="285750" indent="-285750">
              <a:lnSpc>
                <a:spcPct val="104000"/>
              </a:lnSpc>
              <a:spcAft>
                <a:spcPts val="800"/>
              </a:spcAft>
              <a:buClr>
                <a:srgbClr val="1F6FEB"/>
              </a:buClr>
              <a:buFont typeface="Arial"/>
              <a:buChar char="•"/>
            </a:pPr>
            <a:r>
              <a:rPr sz="1800">
                <a:solidFill>
                  <a:srgbClr val="1A1A1A"/>
                </a:solidFill>
                <a:latin typeface="Calibri"/>
              </a:rPr>
              <a:t>Reproduce: </a:t>
            </a:r>
            <a:r>
              <a:rPr sz="1700">
                <a:solidFill>
                  <a:srgbClr val="0B3D91"/>
                </a:solidFill>
                <a:latin typeface="Consolas"/>
              </a:rPr>
              <a:t>scripts/submit_pipeline.sh</a:t>
            </a:r>
            <a:r>
              <a:rPr sz="1800">
                <a:solidFill>
                  <a:srgbClr val="1A1A1A"/>
                </a:solidFill>
                <a:latin typeface="Calibri"/>
              </a:rPr>
              <a:t> (build → run → validate → parse → plots).</a:t>
            </a:r>
          </a:p>
          <a:p>
            <a:pPr algn="l" marL="285750" indent="-285750">
              <a:lnSpc>
                <a:spcPct val="104000"/>
              </a:lnSpc>
              <a:spcAft>
                <a:spcPts val="800"/>
              </a:spcAft>
              <a:buClr>
                <a:srgbClr val="1F6FEB"/>
              </a:buClr>
              <a:buFont typeface="Arial"/>
              <a:buChar char="•"/>
            </a:pPr>
            <a:r>
              <a:rPr sz="1800">
                <a:solidFill>
                  <a:srgbClr val="1A1A1A"/>
                </a:solidFill>
                <a:latin typeface="Calibri"/>
              </a:rPr>
              <a:t>Run environment details: </a:t>
            </a:r>
            <a:r>
              <a:rPr sz="1700">
                <a:solidFill>
                  <a:srgbClr val="0B3D91"/>
                </a:solidFill>
                <a:latin typeface="Consolas"/>
              </a:rPr>
              <a:t>LEONARDO_RUN_STATUS.md</a:t>
            </a:r>
            <a:r>
              <a:rPr sz="1800">
                <a:solidFill>
                  <a:srgbClr val="1A1A1A"/>
                </a:solidFill>
                <a:latin typeface="Calibri"/>
              </a:rPr>
              <a:t>.</a:t>
            </a:r>
          </a:p>
        </p:txBody>
      </p:sp>
      <p:sp>
        <p:nvSpPr>
          <p:cNvPr id="4" name="TextBox 3"/>
          <p:cNvSpPr txBox="1"/>
          <p:nvPr/>
        </p:nvSpPr>
        <p:spPr>
          <a:xfrm>
            <a:off x="11292840" y="6455664"/>
            <a:ext cx="777240" cy="292608"/>
          </a:xfrm>
          <a:prstGeom prst="rect">
            <a:avLst/>
          </a:prstGeom>
          <a:noFill/>
        </p:spPr>
        <p:txBody>
          <a:bodyPr wrap="none">
            <a:spAutoFit/>
          </a:bodyPr>
          <a:lstStyle/>
          <a:p>
            <a:pPr algn="r"/>
            <a:r>
              <a:rPr sz="1000">
                <a:solidFill>
                  <a:srgbClr val="5A5A5A"/>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