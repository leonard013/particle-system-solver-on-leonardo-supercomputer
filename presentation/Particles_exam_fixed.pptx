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82960dd600a4864" /><Relationship Type="http://schemas.openxmlformats.org/officeDocument/2006/relationships/extended-properties" Target="/docProps/app.xml" Id="R4182232505b045ad" /><Relationship Type="http://schemas.openxmlformats.org/officeDocument/2006/relationships/officeDocument" Target="/ppt/presentation.xml" Id="R044f82a307304eb4" /></Relationships>
</file>

<file path=ppt/presentation.xml><?xml version="1.0" encoding="utf-8"?>
<p:presentation xmlns:p="http://schemas.openxmlformats.org/presentationml/2006/main">
  <p:sldMasterIdLst>
    <p:sldMasterId xmlns:r="http://schemas.openxmlformats.org/officeDocument/2006/relationships" id="2147483648" r:id="Rea9735ec48f641a2"/>
  </p:sldMasterIdLst>
  <p:notesMasterIdLst>
    <p:notesMasterId xmlns:r="http://schemas.openxmlformats.org/officeDocument/2006/relationships" r:id="R65512ebede224c6e"/>
  </p:notesMasterIdLst>
  <p:sldIdLst>
    <p:sldId xmlns:r="http://schemas.openxmlformats.org/officeDocument/2006/relationships" id="256" r:id="Rb2b9ed778c8e4af3"/>
    <p:sldId xmlns:r="http://schemas.openxmlformats.org/officeDocument/2006/relationships" id="257" r:id="Rf7c0a1baf5c747aa"/>
    <p:sldId xmlns:r="http://schemas.openxmlformats.org/officeDocument/2006/relationships" id="258" r:id="R6509cf61d94f473d"/>
    <p:sldId xmlns:r="http://schemas.openxmlformats.org/officeDocument/2006/relationships" id="259" r:id="R7e8ac162ef9c4b0b"/>
    <p:sldId xmlns:r="http://schemas.openxmlformats.org/officeDocument/2006/relationships" id="260" r:id="R7819f7cd1f8840d2"/>
    <p:sldId xmlns:r="http://schemas.openxmlformats.org/officeDocument/2006/relationships" id="261" r:id="Rb4546ce0731d4c93"/>
    <p:sldId xmlns:r="http://schemas.openxmlformats.org/officeDocument/2006/relationships" id="262" r:id="Rdac066a286f94b1a"/>
    <p:sldId xmlns:r="http://schemas.openxmlformats.org/officeDocument/2006/relationships" id="263" r:id="Rb653c09777a64a0e"/>
    <p:sldId xmlns:r="http://schemas.openxmlformats.org/officeDocument/2006/relationships" id="264" r:id="R30e0fa11f3244263"/>
    <p:sldId xmlns:r="http://schemas.openxmlformats.org/officeDocument/2006/relationships" id="265" r:id="R8f94633ad09d48eb"/>
    <p:sldId xmlns:r="http://schemas.openxmlformats.org/officeDocument/2006/relationships" id="266" r:id="R44500ceacb4746f0"/>
    <p:sldId xmlns:r="http://schemas.openxmlformats.org/officeDocument/2006/relationships" id="267" r:id="R265f5803c1114d1b"/>
    <p:sldId xmlns:r="http://schemas.openxmlformats.org/officeDocument/2006/relationships" id="268" r:id="R9e056fd307b8430f"/>
    <p:sldId xmlns:r="http://schemas.openxmlformats.org/officeDocument/2006/relationships" id="269" r:id="Rd03b815856144ac8"/>
    <p:sldId xmlns:r="http://schemas.openxmlformats.org/officeDocument/2006/relationships" id="270" r:id="Rb7d6c0a4ed9241c5"/>
    <p:sldId xmlns:r="http://schemas.openxmlformats.org/officeDocument/2006/relationships" id="271" r:id="R10a53d86ace2461e"/>
    <p:sldId xmlns:r="http://schemas.openxmlformats.org/officeDocument/2006/relationships" id="272" r:id="Rc597e1a449874d46"/>
    <p:sldId xmlns:r="http://schemas.openxmlformats.org/officeDocument/2006/relationships" id="273" r:id="R0a9bf36535cc4ffa"/>
    <p:sldId xmlns:r="http://schemas.openxmlformats.org/officeDocument/2006/relationships" id="274" r:id="R9a206026ed8a458b"/>
  </p:sldIdLst>
  <p:sldSz cx="12191695"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e76c2ecf8e24d26" /><Relationship Type="http://schemas.openxmlformats.org/officeDocument/2006/relationships/slideMaster" Target="/ppt/slideMasters/slideMaster1.xml" Id="Rea9735ec48f641a2" /><Relationship Type="http://schemas.openxmlformats.org/officeDocument/2006/relationships/notesMaster" Target="/ppt/notesMasters/notesMaster1.xml" Id="R65512ebede224c6e" /><Relationship Type="http://schemas.openxmlformats.org/officeDocument/2006/relationships/presProps" Target="/ppt/presProps.xml" Id="R227ae27960044c68" /><Relationship Type="http://schemas.openxmlformats.org/officeDocument/2006/relationships/viewProps" Target="/ppt/viewProps.xml" Id="R8ede37a8125f4f3c" /><Relationship Type="http://schemas.openxmlformats.org/officeDocument/2006/relationships/tableStyles" Target="/ppt/tableStyles.xml" Id="Rae5ff0e7a0f740ed" /><Relationship Type="http://schemas.openxmlformats.org/officeDocument/2006/relationships/slide" Target="/ppt/slides/slide1.xml" Id="Rb2b9ed778c8e4af3" /><Relationship Type="http://schemas.openxmlformats.org/officeDocument/2006/relationships/slide" Target="/ppt/slides/slide2.xml" Id="Rf7c0a1baf5c747aa" /><Relationship Type="http://schemas.openxmlformats.org/officeDocument/2006/relationships/slide" Target="/ppt/slides/slide3.xml" Id="R6509cf61d94f473d" /><Relationship Type="http://schemas.openxmlformats.org/officeDocument/2006/relationships/slide" Target="/ppt/slides/slide4.xml" Id="R7e8ac162ef9c4b0b" /><Relationship Type="http://schemas.openxmlformats.org/officeDocument/2006/relationships/slide" Target="/ppt/slides/slide5.xml" Id="R7819f7cd1f8840d2" /><Relationship Type="http://schemas.openxmlformats.org/officeDocument/2006/relationships/slide" Target="/ppt/slides/slide6.xml" Id="Rb4546ce0731d4c93" /><Relationship Type="http://schemas.openxmlformats.org/officeDocument/2006/relationships/slide" Target="/ppt/slides/slide7.xml" Id="Rdac066a286f94b1a" /><Relationship Type="http://schemas.openxmlformats.org/officeDocument/2006/relationships/slide" Target="/ppt/slides/slide8.xml" Id="Rb653c09777a64a0e" /><Relationship Type="http://schemas.openxmlformats.org/officeDocument/2006/relationships/slide" Target="/ppt/slides/slide9.xml" Id="R30e0fa11f3244263" /><Relationship Type="http://schemas.openxmlformats.org/officeDocument/2006/relationships/slide" Target="/ppt/slides/slide10.xml" Id="R8f94633ad09d48eb" /><Relationship Type="http://schemas.openxmlformats.org/officeDocument/2006/relationships/slide" Target="/ppt/slides/slide11.xml" Id="R44500ceacb4746f0" /><Relationship Type="http://schemas.openxmlformats.org/officeDocument/2006/relationships/slide" Target="/ppt/slides/slide12.xml" Id="R265f5803c1114d1b" /><Relationship Type="http://schemas.openxmlformats.org/officeDocument/2006/relationships/slide" Target="/ppt/slides/slide13.xml" Id="R9e056fd307b8430f" /><Relationship Type="http://schemas.openxmlformats.org/officeDocument/2006/relationships/slide" Target="/ppt/slides/slide14.xml" Id="Rd03b815856144ac8" /><Relationship Type="http://schemas.openxmlformats.org/officeDocument/2006/relationships/slide" Target="/ppt/slides/slide15.xml" Id="Rb7d6c0a4ed9241c5" /><Relationship Type="http://schemas.openxmlformats.org/officeDocument/2006/relationships/slide" Target="/ppt/slides/slide16.xml" Id="R10a53d86ace2461e" /><Relationship Type="http://schemas.openxmlformats.org/officeDocument/2006/relationships/slide" Target="/ppt/slides/slide17.xml" Id="Rc597e1a449874d46" /><Relationship Type="http://schemas.openxmlformats.org/officeDocument/2006/relationships/slide" Target="/ppt/slides/slide18.xml" Id="R0a9bf36535cc4ffa" /><Relationship Type="http://schemas.openxmlformats.org/officeDocument/2006/relationships/slide" Target="/ppt/slides/slide19.xml" Id="R9a206026ed8a458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057f896b2a843d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b1ce273c4a842fa" /><Relationship Type="http://schemas.openxmlformats.org/officeDocument/2006/relationships/notesMaster" Target="/ppt/notesMasters/notesMaster1.xml" Id="R6c2609349d19496d" /></Relationships>
</file>

<file path=ppt/notesSlides/_rels/notesSlide2.xml.rels>&#65279;<?xml version="1.0" encoding="utf-8"?><Relationships xmlns="http://schemas.openxmlformats.org/package/2006/relationships"><Relationship Type="http://schemas.openxmlformats.org/officeDocument/2006/relationships/slide" Target="/ppt/slides/slide2.xml" Id="R683c397c3c8e4458" /><Relationship Type="http://schemas.openxmlformats.org/officeDocument/2006/relationships/notesMaster" Target="/ppt/notesMasters/notesMaster1.xml" Id="R8bf3b84d9efd43db" /></Relationships>
</file>

<file path=ppt/notesSlides/_rels/notesSlide3.xml.rels>&#65279;<?xml version="1.0" encoding="utf-8"?><Relationships xmlns="http://schemas.openxmlformats.org/package/2006/relationships"><Relationship Type="http://schemas.openxmlformats.org/officeDocument/2006/relationships/slide" Target="/ppt/slides/slide3.xml" Id="R7622012014d54973" /><Relationship Type="http://schemas.openxmlformats.org/officeDocument/2006/relationships/notesMaster" Target="/ppt/notesMasters/notesMaster1.xml" Id="R51f15e08f6f84648" /></Relationships>
</file>

<file path=ppt/notesSlides/_rels/notesSlide4.xml.rels>&#65279;<?xml version="1.0" encoding="utf-8"?><Relationships xmlns="http://schemas.openxmlformats.org/package/2006/relationships"><Relationship Type="http://schemas.openxmlformats.org/officeDocument/2006/relationships/slide" Target="/ppt/slides/slide4.xml" Id="R4eb3945e88e14701" /><Relationship Type="http://schemas.openxmlformats.org/officeDocument/2006/relationships/notesMaster" Target="/ppt/notesMasters/notesMaster1.xml" Id="R4e1ceac817a84512" /></Relationships>
</file>

<file path=ppt/notesSlides/_rels/notesSlide5.xml.rels>&#65279;<?xml version="1.0" encoding="utf-8"?><Relationships xmlns="http://schemas.openxmlformats.org/package/2006/relationships"><Relationship Type="http://schemas.openxmlformats.org/officeDocument/2006/relationships/slide" Target="/ppt/slides/slide5.xml" Id="Rc865323844dc4076" /><Relationship Type="http://schemas.openxmlformats.org/officeDocument/2006/relationships/notesMaster" Target="/ppt/notesMasters/notesMaster1.xml" Id="R8141f1d1ecde45d8" /></Relationships>
</file>

<file path=ppt/notesSlides/_rels/notesSlide6.xml.rels>&#65279;<?xml version="1.0" encoding="utf-8"?><Relationships xmlns="http://schemas.openxmlformats.org/package/2006/relationships"><Relationship Type="http://schemas.openxmlformats.org/officeDocument/2006/relationships/slide" Target="/ppt/slides/slide6.xml" Id="R012a66a297b14e71" /><Relationship Type="http://schemas.openxmlformats.org/officeDocument/2006/relationships/notesMaster" Target="/ppt/notesMasters/notesMaster1.xml" Id="R078ce20fc4434244" /></Relationships>
</file>

<file path=ppt/notesSlides/_rels/notesSlide7.xml.rels>&#65279;<?xml version="1.0" encoding="utf-8"?><Relationships xmlns="http://schemas.openxmlformats.org/package/2006/relationships"><Relationship Type="http://schemas.openxmlformats.org/officeDocument/2006/relationships/slide" Target="/ppt/slides/slide7.xml" Id="R480091dcb65b442b" /><Relationship Type="http://schemas.openxmlformats.org/officeDocument/2006/relationships/notesMaster" Target="/ppt/notesMasters/notesMaster1.xml" Id="Rc939e41857664262" /></Relationships>
</file>

<file path=ppt/notesSlides/_rels/notesSlide8.xml.rels>&#65279;<?xml version="1.0" encoding="utf-8"?><Relationships xmlns="http://schemas.openxmlformats.org/package/2006/relationships"><Relationship Type="http://schemas.openxmlformats.org/officeDocument/2006/relationships/slide" Target="/ppt/slides/slide8.xml" Id="R09a9775754b84a03" /><Relationship Type="http://schemas.openxmlformats.org/officeDocument/2006/relationships/notesMaster" Target="/ppt/notesMasters/notesMaster1.xml" Id="R9dfb3a6aa2da4d82" /></Relationships>
</file>

<file path=ppt/notesSlides/_rels/notesSlide9.xml.rels>&#65279;<?xml version="1.0" encoding="utf-8"?><Relationships xmlns="http://schemas.openxmlformats.org/package/2006/relationships"><Relationship Type="http://schemas.openxmlformats.org/officeDocument/2006/relationships/slide" Target="/ppt/slides/slide9.xml" Id="R921bc95228fe4770" /><Relationship Type="http://schemas.openxmlformats.org/officeDocument/2006/relationships/notesMaster" Target="/ppt/notesMasters/notesMaster1.xml" Id="R9ff91ec2ebeb40c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1c6745373474513" /><Relationship Type="http://schemas.openxmlformats.org/officeDocument/2006/relationships/notesMaster" Target="/ppt/notesMasters/notesMaster1.xml" Id="Rc3de67f237a24df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3783f8e3c9d43a2" /><Relationship Type="http://schemas.openxmlformats.org/officeDocument/2006/relationships/notesMaster" Target="/ppt/notesMasters/notesMaster1.xml" Id="R148c560dc7a7434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6ab4f8a2df74adb" /><Relationship Type="http://schemas.openxmlformats.org/officeDocument/2006/relationships/notesMaster" Target="/ppt/notesMasters/notesMaster1.xml" Id="R21de62dbbec2458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af2986d8a084d04" /><Relationship Type="http://schemas.openxmlformats.org/officeDocument/2006/relationships/notesMaster" Target="/ppt/notesMasters/notesMaster1.xml" Id="R9c547fe5981b484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347d90046994947" /><Relationship Type="http://schemas.openxmlformats.org/officeDocument/2006/relationships/notesMaster" Target="/ppt/notesMasters/notesMaster1.xml" Id="R6d20ea186f63492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2d12674ee8346df" /><Relationship Type="http://schemas.openxmlformats.org/officeDocument/2006/relationships/notesMaster" Target="/ppt/notesMasters/notesMaster1.xml" Id="Ra63bc7f6e49e461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748dc09be3f4449" /><Relationship Type="http://schemas.openxmlformats.org/officeDocument/2006/relationships/notesMaster" Target="/ppt/notesMasters/notesMaster1.xml" Id="R4162fa2cfdb249b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ba098d02eae4766" /><Relationship Type="http://schemas.openxmlformats.org/officeDocument/2006/relationships/notesMaster" Target="/ppt/notesMasters/notesMaster1.xml" Id="R99cb4e713c4c45e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ddb42392cf4432d" /><Relationship Type="http://schemas.openxmlformats.org/officeDocument/2006/relationships/notesMaster" Target="/ppt/notesMasters/notesMaster1.xml" Id="R59ce05484fb94c8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96e86fa3d6a49ae" /><Relationship Type="http://schemas.openxmlformats.org/officeDocument/2006/relationships/notesMaster" Target="/ppt/notesMasters/notesMaster1.xml" Id="R840ca40ee907477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One-liner of the result up front: seven runnable programs—two baselines plus five parallel ports. Six produce bitwise-identical state arrays; Numba CUDA passes the course tolerance. Speedup reaches 543× on one GPU and 114× across four MPI nodes.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force kernel is 99+% of the runtime — the whole project is about that loop. Weight doubles as mass; the numerical model, input format, and validation quantities are contractual and must not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thesis of the talk. Parallel ≠ nondeterministic: if you preserve the accumulation order per output element, an embarrassingly parallel outer loop reproduces serial floating point exactly. The profiler later estimates a +31% FMA optimization opportunity, which we decline to retain that reproducibility.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 optimized ports plus two serial baselines. The six-way course matrix excludes MPI and includes both baselines; MPI is validated separately against C++ serial.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Validation is dataset-level over full trajectories (11 frames × N × 2), not just final scalars—position errors would compound over 200 steps and get caught.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"Bitwise" validates the design invariant of S3. Numba-CUDA is the one port where NVVM gives less control over contraction; its worst relative difference, 1.158·10⁻³, is about 1.7× below the 2·10⁻³ course limit. Momentum components are catastrophic-cancellation quantities (~10⁻⁸ on 10¹¹-scale sums), so their trailing digits are not meaningful—expected and documented.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 during local verification before touching the cluster. A single fused multiply-add changed the particle COUNT — the dataset shapes stop matching, not just values. This motivates the no-contraction discipline of S3 and shows validation must compare structure, not only tolerances. On the exam platform the issue does not arise, but the report documents it for reproducibility on other machines.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Exam deliverable #4 verbatim. Serial reference: 3.516 s for 200 steps at N=2231 = 0.283 GInteractions/s, flat across problem sizes (compute-bound, cache-resident).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pragmas on the baseline; deliberately minimal so the diff vs serial is reviewable. Bitwise at every thread count tested (1…32).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Near-ideal to 8 threads; 91% at the full socket. The 16/32-thread dips are memory-subsystem sharing, not algorithmic — the Amdahl fit next quantifies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Course topic "measuring performance". The tiny serial fraction is the integrator + loop bookkeeping. Ceiling ≈480× is the Amdahl asymptote 1/(serial fraction) — the fitted intercept of the linearized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shared-memory tiling: at these N the kernel is compute-bound with all data in L1/L2 (profiling slide), so tiling adds complexity for ~nothing — the honest engineering answer, backed by ncu data two slides ahead.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Key teaching moment: the official problem is too small for the GPU. N=2231 sits almost exactly at the CPU/GPU crossover. Numba-CPU at 27.5× ≈ hand-written OpenMP is remarkable for Python; Numba-CUDA pays kernel-launch + codegen overheads at tiny 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Serial is size-independent (0.283 flat); OpenMP saturates at ~8.4 GInt/s (~29×); the A100 climbs with occupancy and is 19× faster than the full CPU socket at N=144k. XXL serial is extrapolated from the flat rate (stated in the report). Different step counts per size are fine — GInt/s is a 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profiler reports an estimated +31% FMA optimization opportunity; we decline it deliberately to preserve bitwise agreement. On the memory/compute roofline the kernel sits under the compute roof, far from the memory roof.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course's MPI day applied. The 1-node-vs-4-node pair at fixed rank count is the cleanest single number for "what does the network cost".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32/64/128-rank multi-size runs used a 4-node allocation with ranks spread across nodes (Dragonfly+). Same unifying lesson as S14: performance = keeping every processing element fed, whether SMs or ranks.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FMA anecdote callback: correctness in parallel computing is a design choice, not luck — and it is measurable.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Everything in the talk is regenerable from the committed logs by tools/parse_benchmarks.py, tools/parse_scaling.py, tools/parse_mpi.py, tools/amdahl_fit.py.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6738470251144d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a8cfcc94258427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f66162202f54e3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8857575aaa949e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52bce3f3f55400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966eac33e864f0d"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633e5f639f340cf"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a954ba9cfb9435a"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536df2dd1c88447e"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8814de6696e46bf"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4eaa25e1e0e6438d"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58899FB-8E49-4975-86F7-CB4A4BD9BED2}"/>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0674BA74-43B4-4F4A-A2E2-4A431B6B726A}"/>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DF5B7CD3-F370-4289-8CC9-D72491B2395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38C3F9B1-7EE8-46DD-9B34-948C6E93EEA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DC3DCA21-9BA7-455A-8EA5-538FB2C7513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6E465B4-E4C2-4B8C-9597-068E23EFA2D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BD134328-FDB3-49BA-823D-E8C774A94572}"/>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745F84C6-F93E-40BA-9C25-BFD8EED8C36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317CDB5C-0D1C-4D33-9958-AEF89F51395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F4F586B6-1861-49D6-89EA-6E7B81E7276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52B8F57-1B6B-4BAA-A25E-C60E3A4709BD}"/>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10186D1C-7D93-4F52-A8CD-0A371437682D}"/>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B8C83994-E486-4001-9E0E-E23DD9102AD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3066E709-FA9D-4B0C-9483-614B637182D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AF29596E-33B4-4FDB-BC9B-D2C6FCE0C1E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75F9196-299B-43F4-AB09-D40AD1F8490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1BE499B1-0CF7-47A5-9F96-DECECDBFEA8A}"/>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Content Placeholder 3">
            <a:extLst xmlns:a="http://schemas.openxmlformats.org/drawingml/2006/main">
              <a:ext uri="{FF2B5EF4-FFF2-40B4-BE49-F238E27FC236}">
                <a16:creationId xmlns:a16="http://schemas.microsoft.com/office/drawing/2014/main" id="{ADDCBA4F-85B7-4911-A697-14355794587D}"/>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5" name="Date Placeholder 4">
            <a:extLst xmlns:a="http://schemas.openxmlformats.org/drawingml/2006/main">
              <a:ext uri="{FF2B5EF4-FFF2-40B4-BE49-F238E27FC236}">
                <a16:creationId xmlns:a16="http://schemas.microsoft.com/office/drawing/2014/main" id="{0DAF0A0D-DEB7-4DE7-80A0-C3207F7ECB5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6" name="Footer Placeholder 5">
            <a:extLst xmlns:a="http://schemas.openxmlformats.org/drawingml/2006/main">
              <a:ext uri="{FF2B5EF4-FFF2-40B4-BE49-F238E27FC236}">
                <a16:creationId xmlns:a16="http://schemas.microsoft.com/office/drawing/2014/main" id="{6190FD33-A302-4910-B639-EBA651AEBB5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AA836738-119C-4611-8B82-ACFC09820CA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4824C64-B0BC-4B61-AD38-BA1910A5F36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758A0B9F-316C-4D7E-909E-A6013A5193CC}"/>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BEDF2AF7-7D88-4B06-AA4B-69A1E3BD2EE5}"/>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5" name="Text Placeholder 4">
            <a:extLst xmlns:a="http://schemas.openxmlformats.org/drawingml/2006/main">
              <a:ext uri="{FF2B5EF4-FFF2-40B4-BE49-F238E27FC236}">
                <a16:creationId xmlns:a16="http://schemas.microsoft.com/office/drawing/2014/main" id="{37D3C703-71D7-4EFE-A07E-0372F9175093}"/>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56EB5808-5A96-4FB6-827C-AAB748DF6164}"/>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7" name="Date Placeholder 6">
            <a:extLst xmlns:a="http://schemas.openxmlformats.org/drawingml/2006/main">
              <a:ext uri="{FF2B5EF4-FFF2-40B4-BE49-F238E27FC236}">
                <a16:creationId xmlns:a16="http://schemas.microsoft.com/office/drawing/2014/main" id="{DA32ACE2-5DC5-4782-986B-6BFAF3D7DD5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8" name="Footer Placeholder 7">
            <a:extLst xmlns:a="http://schemas.openxmlformats.org/drawingml/2006/main">
              <a:ext uri="{FF2B5EF4-FFF2-40B4-BE49-F238E27FC236}">
                <a16:creationId xmlns:a16="http://schemas.microsoft.com/office/drawing/2014/main" id="{44916496-35F9-49B5-B429-C9F6DED883A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9" name="Slide Number Placeholder 8">
            <a:extLst xmlns:a="http://schemas.openxmlformats.org/drawingml/2006/main">
              <a:ext uri="{FF2B5EF4-FFF2-40B4-BE49-F238E27FC236}">
                <a16:creationId xmlns:a16="http://schemas.microsoft.com/office/drawing/2014/main" id="{301D86D6-2E75-494C-A2E7-60DFB6E62B8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0730712-4B94-4268-833B-15965E5259B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9035954F-CFAB-4560-AA20-F55AB3F66DB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4" name="Footer Placeholder 3">
            <a:extLst xmlns:a="http://schemas.openxmlformats.org/drawingml/2006/main">
              <a:ext uri="{FF2B5EF4-FFF2-40B4-BE49-F238E27FC236}">
                <a16:creationId xmlns:a16="http://schemas.microsoft.com/office/drawing/2014/main" id="{EFCE1450-C557-43FF-B6FA-FDE9C627990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4">
            <a:extLst xmlns:a="http://schemas.openxmlformats.org/drawingml/2006/main">
              <a:ext uri="{FF2B5EF4-FFF2-40B4-BE49-F238E27FC236}">
                <a16:creationId xmlns:a16="http://schemas.microsoft.com/office/drawing/2014/main" id="{7964BEB4-3390-45F9-BB55-5BA3B4F41F7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4CC24BCF-7BAF-46B3-84B7-074953A0541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3" name="Footer Placeholder 2">
            <a:extLst xmlns:a="http://schemas.openxmlformats.org/drawingml/2006/main">
              <a:ext uri="{FF2B5EF4-FFF2-40B4-BE49-F238E27FC236}">
                <a16:creationId xmlns:a16="http://schemas.microsoft.com/office/drawing/2014/main" id="{D3C7BC8D-1C6F-4372-A339-C3B6C449585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4" name="Slide Number Placeholder 3">
            <a:extLst xmlns:a="http://schemas.openxmlformats.org/drawingml/2006/main">
              <a:ext uri="{FF2B5EF4-FFF2-40B4-BE49-F238E27FC236}">
                <a16:creationId xmlns:a16="http://schemas.microsoft.com/office/drawing/2014/main" id="{8C404C72-7A14-4D02-9AB0-5F43C8485A7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B97AC6D-5CA3-43CD-A637-2C76238322D9}"/>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DDB41C46-FB92-4840-86AC-28542359E53F}"/>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Text Placeholder 3">
            <a:extLst xmlns:a="http://schemas.openxmlformats.org/drawingml/2006/main">
              <a:ext uri="{FF2B5EF4-FFF2-40B4-BE49-F238E27FC236}">
                <a16:creationId xmlns:a16="http://schemas.microsoft.com/office/drawing/2014/main" id="{49ED28C3-22F9-4032-8EB4-C25FB56137DC}"/>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6FE71167-1BC5-43FE-8044-4DBEAA9B9CC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6" name="Footer Placeholder 5">
            <a:extLst xmlns:a="http://schemas.openxmlformats.org/drawingml/2006/main">
              <a:ext uri="{FF2B5EF4-FFF2-40B4-BE49-F238E27FC236}">
                <a16:creationId xmlns:a16="http://schemas.microsoft.com/office/drawing/2014/main" id="{65988E27-AEFE-46E0-AAF7-54871773092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2D838F84-514A-4716-9DA1-F4102BF1CB2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D3314FD-9ACB-4D7E-92DC-D1FE6BA77793}"/>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8D085DC6-7BA4-491D-A405-B4C6E8AC2D95}"/>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p:txBody>
      </p:sp>
      <p:sp>
        <p:nvSpPr>
          <p:cNvPr id="4" name="Text Placeholder 3">
            <a:extLst xmlns:a="http://schemas.openxmlformats.org/drawingml/2006/main">
              <a:ext uri="{FF2B5EF4-FFF2-40B4-BE49-F238E27FC236}">
                <a16:creationId xmlns:a16="http://schemas.microsoft.com/office/drawing/2014/main" id="{337CCC9D-6BD5-4430-BD0A-D16925936EAA}"/>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CFFB3838-5248-46AC-910D-CE97ACA3055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6" name="Footer Placeholder 5">
            <a:extLst xmlns:a="http://schemas.openxmlformats.org/drawingml/2006/main">
              <a:ext uri="{FF2B5EF4-FFF2-40B4-BE49-F238E27FC236}">
                <a16:creationId xmlns:a16="http://schemas.microsoft.com/office/drawing/2014/main" id="{FCEBCA01-4CB9-4EEC-A0DE-D27E437268E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53F6B60F-8E7E-47BE-AC38-54C9A3B0CAE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EA0EB2A-ACA0-434C-90F2-4EF8403BD87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1E16EA56-A83E-4048-8AEA-C2C3D7D2BCE0}"/>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7ADFF452-E0BA-411D-A725-64A0E85F981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C48BAF18-9665-4822-A094-F119427E1AF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2502720F-08ED-46B5-BD77-CF5DA4C32AF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8156F710-B586-46DE-959B-E82056C339CC}"/>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CFEF7744-AD8E-456A-ABD4-3B6380F2306F}"/>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B3044A64-3FDA-446E-BA94-998B8CD33D7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E7A60580-E8AE-4B9C-8E75-D4359AE0111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25F481A2-7ED2-4665-81C8-C57A5DEC9F2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7943774d5844985" /><Relationship Type="http://schemas.openxmlformats.org/officeDocument/2006/relationships/slideLayout" Target="/ppt/slideLayouts/slideLayout1.xml" Id="R1f1b31febe6d45c2" /><Relationship Type="http://schemas.openxmlformats.org/officeDocument/2006/relationships/slideLayout" Target="/ppt/slideLayouts/slideLayout2.xml" Id="R49b243c2f73f4139" /><Relationship Type="http://schemas.openxmlformats.org/officeDocument/2006/relationships/slideLayout" Target="/ppt/slideLayouts/slideLayout3.xml" Id="Reec422a2e73c4477" /><Relationship Type="http://schemas.openxmlformats.org/officeDocument/2006/relationships/slideLayout" Target="/ppt/slideLayouts/slideLayout4.xml" Id="R826167001f2d4869" /><Relationship Type="http://schemas.openxmlformats.org/officeDocument/2006/relationships/slideLayout" Target="/ppt/slideLayouts/slideLayout5.xml" Id="Rfeb75dd39dbb4f5b" /><Relationship Type="http://schemas.openxmlformats.org/officeDocument/2006/relationships/slideLayout" Target="/ppt/slideLayouts/slideLayout6.xml" Id="R7c82c3d7050c45e3" /><Relationship Type="http://schemas.openxmlformats.org/officeDocument/2006/relationships/slideLayout" Target="/ppt/slideLayouts/slideLayout7.xml" Id="R234328d6682041fc" /><Relationship Type="http://schemas.openxmlformats.org/officeDocument/2006/relationships/slideLayout" Target="/ppt/slideLayouts/slideLayout8.xml" Id="R8b43c0e82e754130" /><Relationship Type="http://schemas.openxmlformats.org/officeDocument/2006/relationships/slideLayout" Target="/ppt/slideLayouts/slideLayout9.xml" Id="Rd4560ffaee514f2a" /><Relationship Type="http://schemas.openxmlformats.org/officeDocument/2006/relationships/slideLayout" Target="/ppt/slideLayouts/slideLayout10.xml" Id="R1f8f25bce41a48c7" /><Relationship Type="http://schemas.openxmlformats.org/officeDocument/2006/relationships/slideLayout" Target="/ppt/slideLayouts/slideLayout11.xml" Id="R7a5a8a48cd5f412a"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5FE4E8F6-DBDE-4A6F-8E04-E4BB2FC81BE5}"/>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3A9172DA-F24B-4C1E-9B26-DD8538519AAB}"/>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37C0C7FE-5A73-4C57-B10A-5A2284410F90}"/>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55216B95-59E2-4477-9C8F-440A3615A572}"/>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D963D184-394F-4B37-A307-78099CF15E60}"/>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f1b31febe6d45c2"/>
    <p:sldLayoutId xmlns:r="http://schemas.openxmlformats.org/officeDocument/2006/relationships" id="2147483650" r:id="R49b243c2f73f4139"/>
    <p:sldLayoutId xmlns:r="http://schemas.openxmlformats.org/officeDocument/2006/relationships" id="2147483651" r:id="Reec422a2e73c4477"/>
    <p:sldLayoutId xmlns:r="http://schemas.openxmlformats.org/officeDocument/2006/relationships" id="2147483652" r:id="R826167001f2d4869"/>
    <p:sldLayoutId xmlns:r="http://schemas.openxmlformats.org/officeDocument/2006/relationships" id="2147483653" r:id="Rfeb75dd39dbb4f5b"/>
    <p:sldLayoutId xmlns:r="http://schemas.openxmlformats.org/officeDocument/2006/relationships" id="2147483654" r:id="R7c82c3d7050c45e3"/>
    <p:sldLayoutId xmlns:r="http://schemas.openxmlformats.org/officeDocument/2006/relationships" id="2147483655" r:id="R234328d6682041fc"/>
    <p:sldLayoutId xmlns:r="http://schemas.openxmlformats.org/officeDocument/2006/relationships" id="2147483656" r:id="R8b43c0e82e754130"/>
    <p:sldLayoutId xmlns:r="http://schemas.openxmlformats.org/officeDocument/2006/relationships" id="2147483657" r:id="Rd4560ffaee514f2a"/>
    <p:sldLayoutId xmlns:r="http://schemas.openxmlformats.org/officeDocument/2006/relationships" id="2147483658" r:id="R1f8f25bce41a48c7"/>
    <p:sldLayoutId xmlns:r="http://schemas.openxmlformats.org/officeDocument/2006/relationships" id="2147483659" r:id="R7a5a8a48cd5f412a"/>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cc1c0a1f69f64ad2" /><Relationship Type="http://schemas.openxmlformats.org/officeDocument/2006/relationships/notesSlide" Target="/ppt/notesSlides/notesSlide1.xml" Id="Rc8104f8821b44ede"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9311bec901c54047" /><Relationship Type="http://schemas.openxmlformats.org/officeDocument/2006/relationships/notesSlide" Target="/ppt/notesSlides/notesSlide2.xml" Id="Rb0b8c153f7544829"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43c58c18740545f0" /><Relationship Type="http://schemas.openxmlformats.org/officeDocument/2006/relationships/notesSlide" Target="/ppt/notesSlides/notesSlide3.xml" Id="R5281571197b24f0e"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1ddd23e82c684a7f" /><Relationship Type="http://schemas.openxmlformats.org/officeDocument/2006/relationships/notesSlide" Target="/ppt/notesSlides/notesSlide4.xml" Id="R7737ab2379ba4e18"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03d2608b27b94d3d" /><Relationship Type="http://schemas.openxmlformats.org/officeDocument/2006/relationships/notesSlide" Target="/ppt/notesSlides/notesSlide5.xml" Id="R02a93ab1689f4eed"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3c72dc6d9bf94695" /><Relationship Type="http://schemas.openxmlformats.org/officeDocument/2006/relationships/notesSlide" Target="/ppt/notesSlides/notesSlide6.xml" Id="Re646bf93f0ba4359"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588b6020283e40aa" /><Relationship Type="http://schemas.openxmlformats.org/officeDocument/2006/relationships/notesSlide" Target="/ppt/notesSlides/notesSlide7.xml" Id="Rd890aa6d6d6041a7"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5258f4acfb814c76" /><Relationship Type="http://schemas.openxmlformats.org/officeDocument/2006/relationships/notesSlide" Target="/ppt/notesSlides/notesSlide8.xml" Id="Rd4fd2fb05748463b"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576fa70f5f1e45df" /><Relationship Type="http://schemas.openxmlformats.org/officeDocument/2006/relationships/notesSlide" Target="/ppt/notesSlides/notesSlide9.xml" Id="R219acc25706c49f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ce2b5fcdbb8c4878" /><Relationship Type="http://schemas.openxmlformats.org/officeDocument/2006/relationships/image" Target="/ppt/media/image.png" Id="R1c0554b55c464d30" /><Relationship Type="http://schemas.openxmlformats.org/officeDocument/2006/relationships/image" Target="/ppt/media/image2.png" Id="Rf65007caf1bb42c4" /><Relationship Type="http://schemas.openxmlformats.org/officeDocument/2006/relationships/notesSlide" Target="/ppt/notesSlides/notesSlide10.xml" Id="R1f6dc80761a5431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ba069ac68f4f44d5" /><Relationship Type="http://schemas.openxmlformats.org/officeDocument/2006/relationships/image" Target="/ppt/media/image3.png" Id="Rb0c754f8f3904ddc" /><Relationship Type="http://schemas.openxmlformats.org/officeDocument/2006/relationships/notesSlide" Target="/ppt/notesSlides/notesSlide11.xml" Id="R159590d853a54c0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8dd0c5afdcf448b8" /><Relationship Type="http://schemas.openxmlformats.org/officeDocument/2006/relationships/notesSlide" Target="/ppt/notesSlides/notesSlide12.xml" Id="R84c707e4ac04403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db2479b52ed5497a" /><Relationship Type="http://schemas.openxmlformats.org/officeDocument/2006/relationships/image" Target="/ppt/media/image4.png" Id="Rc72cfaa3701c4281" /><Relationship Type="http://schemas.openxmlformats.org/officeDocument/2006/relationships/notesSlide" Target="/ppt/notesSlides/notesSlide13.xml" Id="Rb49561ab27534af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27687e62a09e4ac2" /><Relationship Type="http://schemas.openxmlformats.org/officeDocument/2006/relationships/image" Target="/ppt/media/image5.png" Id="Rf0716416a0324670" /><Relationship Type="http://schemas.openxmlformats.org/officeDocument/2006/relationships/image" Target="/ppt/media/image6.png" Id="Rdedf065806144527" /><Relationship Type="http://schemas.openxmlformats.org/officeDocument/2006/relationships/notesSlide" Target="/ppt/notesSlides/notesSlide14.xml" Id="R3023ea5aeaa542d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2f23fdddf98548ad" /><Relationship Type="http://schemas.openxmlformats.org/officeDocument/2006/relationships/notesSlide" Target="/ppt/notesSlides/notesSlide15.xml" Id="R6605d2527731456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ad08bf43aa764a62" /><Relationship Type="http://schemas.openxmlformats.org/officeDocument/2006/relationships/notesSlide" Target="/ppt/notesSlides/notesSlide16.xml" Id="R5d9aed87077244e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45573e0639344f6a" /><Relationship Type="http://schemas.openxmlformats.org/officeDocument/2006/relationships/image" Target="/ppt/media/image7.png" Id="R3ab222efd799448b" /><Relationship Type="http://schemas.openxmlformats.org/officeDocument/2006/relationships/image" Target="/ppt/media/image8.png" Id="R5d1c8a39eac9439a" /><Relationship Type="http://schemas.openxmlformats.org/officeDocument/2006/relationships/notesSlide" Target="/ppt/notesSlides/notesSlide17.xml" Id="R49cb4d0037f947d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f3b4323837424239" /><Relationship Type="http://schemas.openxmlformats.org/officeDocument/2006/relationships/notesSlide" Target="/ppt/notesSlides/notesSlide18.xml" Id="R31ad7cb1632749a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ddeaecfcbeeb44cb" /><Relationship Type="http://schemas.openxmlformats.org/officeDocument/2006/relationships/notesSlide" Target="/ppt/notesSlides/notesSlide19.xml" Id="R3a77143cacc7434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15CCCCD-AE26-4ECC-8DC5-1E5A2069DB32}"/>
              </a:ext>
            </a:extLst>
          </p:cNvPr>
          <p:cNvSpPr>
            <a:spLocks xmlns:a="http://schemas.openxmlformats.org/drawingml/2006/main" noGrp="1"/>
          </p:cNvSpPr>
          <p:nvPr/>
        </p:nvSpPr>
        <p:spPr>
          <a:xfrm xmlns:a="http://schemas.openxmlformats.org/drawingml/2006/main">
            <a:off x="822960" y="1417320"/>
            <a:ext cx="10515600" cy="1280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4000" b="1">
                <a:solidFill>
                  <a:srgbClr val="1A1A1A"/>
                </a:solidFill>
                <a:latin typeface="Calibri"/>
                <a:ea typeface="Calibri"/>
                <a:cs typeface="Calibri"/>
              </a:rPr>
              <a:t>Particles: parallelizing an </a:t>
            </a:r>
            <a:r>
              <a:rPr sz="4000" b="1">
                <a:solidFill>
                  <a:srgbClr val="1F6FEB"/>
                </a:solidFill>
                <a:latin typeface="Calibri"/>
                <a:ea typeface="Calibri"/>
                <a:cs typeface="Calibri"/>
              </a:rPr>
              <a:t>O(N²)</a:t>
            </a:r>
            <a:r>
              <a:rPr sz="4000" b="1">
                <a:solidFill>
                  <a:srgbClr val="1A1A1A"/>
                </a:solidFill>
                <a:latin typeface="Calibri"/>
                <a:ea typeface="Calibri"/>
                <a:cs typeface="Calibri"/>
              </a:rPr>
              <a:t> N-body solver</a:t>
            </a:r>
          </a:p>
        </p:txBody>
      </p:sp>
      <p:sp>
        <p:nvSpPr>
          <p:cNvPr id="3" name="TextBox 2">
            <a:extLst xmlns:a="http://schemas.openxmlformats.org/drawingml/2006/main">
              <a:ext uri="{FF2B5EF4-FFF2-40B4-BE49-F238E27FC236}">
                <a16:creationId xmlns:a16="http://schemas.microsoft.com/office/drawing/2014/main" id="{72DA800E-7BE4-4638-B66E-BD2260D7E089}"/>
              </a:ext>
            </a:extLst>
          </p:cNvPr>
          <p:cNvSpPr>
            <a:spLocks xmlns:a="http://schemas.openxmlformats.org/drawingml/2006/main" noGrp="1"/>
          </p:cNvSpPr>
          <p:nvPr/>
        </p:nvSpPr>
        <p:spPr>
          <a:xfrm xmlns:a="http://schemas.openxmlformats.org/drawingml/2006/main">
            <a:off x="841248" y="2697480"/>
            <a:ext cx="10424160" cy="45720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2000">
                <a:solidFill>
                  <a:srgbClr val="1F6FEB"/>
                </a:solidFill>
                <a:latin typeface="Calibri"/>
                <a:ea typeface="Calibri"/>
                <a:cs typeface="Calibri"/>
              </a:rPr>
              <a:t>C++/Python baselines → OpenMP, CUDA, MPI, Numba CPU and Numba CUDA</a:t>
            </a:r>
          </a:p>
        </p:txBody>
      </p:sp>
      <p:sp>
        <p:nvSpPr>
          <p:cNvPr id="4" name="TextBox 3">
            <a:extLst xmlns:a="http://schemas.openxmlformats.org/drawingml/2006/main">
              <a:ext uri="{FF2B5EF4-FFF2-40B4-BE49-F238E27FC236}">
                <a16:creationId xmlns:a16="http://schemas.microsoft.com/office/drawing/2014/main" id="{89EE941D-861E-428B-B6D5-94BFED2549D1}"/>
              </a:ext>
            </a:extLst>
          </p:cNvPr>
          <p:cNvSpPr>
            <a:spLocks xmlns:a="http://schemas.openxmlformats.org/drawingml/2006/main" noGrp="1"/>
          </p:cNvSpPr>
          <p:nvPr/>
        </p:nvSpPr>
        <p:spPr>
          <a:xfrm xmlns:a="http://schemas.openxmlformats.org/drawingml/2006/main">
            <a:off x="841248" y="3200400"/>
            <a:ext cx="10424160" cy="45720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600">
                <a:solidFill>
                  <a:srgbClr val="5A5A5A"/>
                </a:solidFill>
                <a:latin typeface="Calibri"/>
                <a:ea typeface="Calibri"/>
                <a:cs typeface="Calibri"/>
              </a:rPr>
              <a:t>Leonardo Scappatura  —  Polimi PhD School, HPC course final project  —  July 2026</a:t>
            </a:r>
          </a:p>
        </p:txBody>
      </p:sp>
      <p:sp>
        <p:nvSpPr>
          <p:cNvPr id="5" name="Rectangle 4">
            <a:extLst xmlns:a="http://schemas.openxmlformats.org/drawingml/2006/main">
              <a:ext uri="{FF2B5EF4-FFF2-40B4-BE49-F238E27FC236}">
                <a16:creationId xmlns:a16="http://schemas.microsoft.com/office/drawing/2014/main" id="{55F7F3B3-2EB9-423D-A37B-6EFBAD49E54E}"/>
              </a:ext>
            </a:extLst>
          </p:cNvPr>
          <p:cNvSpPr>
            <a:spLocks xmlns:a="http://schemas.openxmlformats.org/drawingml/2006/main" noGrp="1"/>
          </p:cNvSpPr>
          <p:nvPr/>
        </p:nvSpPr>
        <p:spPr>
          <a:xfrm xmlns:a="http://schemas.openxmlformats.org/drawingml/2006/main">
            <a:off x="655167" y="4480560"/>
            <a:ext cx="2514600" cy="1371600"/>
          </a:xfrm>
          <a:prstGeom xmlns:a="http://schemas.openxmlformats.org/drawingml/2006/main" prst="rect">
            <a:avLst/>
          </a:prstGeom>
          <a:solidFill xmlns:a="http://schemas.openxmlformats.org/drawingml/2006/main">
            <a:srgbClr val="F1F5FB"/>
          </a:solidFill>
          <a:ln xmlns:a="http://schemas.openxmlformats.org/drawingml/2006/main" w="9525">
            <a:solidFill>
              <a:srgbClr val="F1F5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109728" bIns="73152" anchor="ctr"/>
          <a:lstStyle xmlns:a="http://schemas.openxmlformats.org/drawingml/2006/main"/>
          <a:p xmlns:a="http://schemas.openxmlformats.org/drawingml/2006/main">
            <a:pPr algn="ctr">
              <a:buNone/>
            </a:pPr>
            <a:r>
              <a:rPr sz="3400" b="1">
                <a:solidFill>
                  <a:srgbClr val="1F6FEB"/>
                </a:solidFill>
                <a:latin typeface="Calibri"/>
                <a:ea typeface="Calibri"/>
                <a:cs typeface="Calibri"/>
              </a:rPr>
              <a:t>7</a:t>
            </a:r>
          </a:p>
          <a:p xmlns:a="http://schemas.openxmlformats.org/drawingml/2006/main">
            <a:pPr algn="ctr">
              <a:buNone/>
            </a:pPr>
            <a:r>
              <a:rPr sz="1250">
                <a:solidFill>
                  <a:srgbClr val="1A1A1A"/>
                </a:solidFill>
                <a:latin typeface="Calibri"/>
                <a:ea typeface="Calibri"/>
                <a:cs typeface="Calibri"/>
              </a:rPr>
              <a:t>runnable programs</a:t>
            </a:r>
          </a:p>
        </p:txBody>
      </p:sp>
      <p:sp>
        <p:nvSpPr>
          <p:cNvPr id="6" name="Rectangle 5">
            <a:extLst xmlns:a="http://schemas.openxmlformats.org/drawingml/2006/main">
              <a:ext uri="{FF2B5EF4-FFF2-40B4-BE49-F238E27FC236}">
                <a16:creationId xmlns:a16="http://schemas.microsoft.com/office/drawing/2014/main" id="{C895B94C-3CC4-41B6-9804-EC692B00320A}"/>
              </a:ext>
            </a:extLst>
          </p:cNvPr>
          <p:cNvSpPr>
            <a:spLocks xmlns:a="http://schemas.openxmlformats.org/drawingml/2006/main" noGrp="1"/>
          </p:cNvSpPr>
          <p:nvPr/>
        </p:nvSpPr>
        <p:spPr>
          <a:xfrm xmlns:a="http://schemas.openxmlformats.org/drawingml/2006/main">
            <a:off x="3444087" y="4480560"/>
            <a:ext cx="2514600" cy="1371600"/>
          </a:xfrm>
          <a:prstGeom xmlns:a="http://schemas.openxmlformats.org/drawingml/2006/main" prst="rect">
            <a:avLst/>
          </a:prstGeom>
          <a:solidFill xmlns:a="http://schemas.openxmlformats.org/drawingml/2006/main">
            <a:srgbClr val="F1F5FB"/>
          </a:solidFill>
          <a:ln xmlns:a="http://schemas.openxmlformats.org/drawingml/2006/main" w="9525">
            <a:solidFill>
              <a:srgbClr val="F1F5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109728" bIns="73152" anchor="ctr"/>
          <a:lstStyle xmlns:a="http://schemas.openxmlformats.org/drawingml/2006/main"/>
          <a:p xmlns:a="http://schemas.openxmlformats.org/drawingml/2006/main">
            <a:pPr algn="ctr">
              <a:buNone/>
            </a:pPr>
            <a:r>
              <a:rPr sz="3400" b="1">
                <a:solidFill>
                  <a:srgbClr val="1F6FEB"/>
                </a:solidFill>
                <a:latin typeface="Calibri"/>
                <a:ea typeface="Calibri"/>
                <a:cs typeface="Calibri"/>
              </a:rPr>
              <a:t>6</a:t>
            </a:r>
          </a:p>
          <a:p xmlns:a="http://schemas.openxmlformats.org/drawingml/2006/main">
            <a:pPr algn="ctr">
              <a:buNone/>
            </a:pPr>
            <a:r>
              <a:rPr sz="1250">
                <a:solidFill>
                  <a:srgbClr val="1A1A1A"/>
                </a:solidFill>
                <a:latin typeface="Calibri"/>
                <a:ea typeface="Calibri"/>
                <a:cs typeface="Calibri"/>
              </a:rPr>
              <a:t>bitwise-identical states</a:t>
            </a:r>
          </a:p>
        </p:txBody>
      </p:sp>
      <p:sp>
        <p:nvSpPr>
          <p:cNvPr id="7" name="Rectangle 6">
            <a:extLst xmlns:a="http://schemas.openxmlformats.org/drawingml/2006/main">
              <a:ext uri="{FF2B5EF4-FFF2-40B4-BE49-F238E27FC236}">
                <a16:creationId xmlns:a16="http://schemas.microsoft.com/office/drawing/2014/main" id="{9063EE59-8CF1-4D24-8287-146330B91C86}"/>
              </a:ext>
            </a:extLst>
          </p:cNvPr>
          <p:cNvSpPr>
            <a:spLocks xmlns:a="http://schemas.openxmlformats.org/drawingml/2006/main" noGrp="1"/>
          </p:cNvSpPr>
          <p:nvPr/>
        </p:nvSpPr>
        <p:spPr>
          <a:xfrm xmlns:a="http://schemas.openxmlformats.org/drawingml/2006/main">
            <a:off x="6233007" y="4480560"/>
            <a:ext cx="2514600" cy="1371600"/>
          </a:xfrm>
          <a:prstGeom xmlns:a="http://schemas.openxmlformats.org/drawingml/2006/main" prst="rect">
            <a:avLst/>
          </a:prstGeom>
          <a:solidFill xmlns:a="http://schemas.openxmlformats.org/drawingml/2006/main">
            <a:srgbClr val="F1F5FB"/>
          </a:solidFill>
          <a:ln xmlns:a="http://schemas.openxmlformats.org/drawingml/2006/main" w="9525">
            <a:solidFill>
              <a:srgbClr val="F1F5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109728" bIns="73152" anchor="ctr"/>
          <a:lstStyle xmlns:a="http://schemas.openxmlformats.org/drawingml/2006/main"/>
          <a:p xmlns:a="http://schemas.openxmlformats.org/drawingml/2006/main">
            <a:pPr algn="ctr">
              <a:buNone/>
            </a:pPr>
            <a:r>
              <a:rPr sz="3400" b="1">
                <a:solidFill>
                  <a:srgbClr val="1F6FEB"/>
                </a:solidFill>
                <a:latin typeface="Calibri"/>
                <a:ea typeface="Calibri"/>
                <a:cs typeface="Calibri"/>
              </a:rPr>
              <a:t>543×</a:t>
            </a:r>
          </a:p>
          <a:p xmlns:a="http://schemas.openxmlformats.org/drawingml/2006/main">
            <a:pPr algn="ctr">
              <a:buNone/>
            </a:pPr>
            <a:r>
              <a:rPr sz="1250">
                <a:solidFill>
                  <a:srgbClr val="1A1A1A"/>
                </a:solidFill>
                <a:latin typeface="Calibri"/>
                <a:ea typeface="Calibri"/>
                <a:cs typeface="Calibri"/>
              </a:rPr>
              <a:t>max GPU speed-up</a:t>
            </a:r>
          </a:p>
        </p:txBody>
      </p:sp>
      <p:sp>
        <p:nvSpPr>
          <p:cNvPr id="8" name="Rectangle 7">
            <a:extLst xmlns:a="http://schemas.openxmlformats.org/drawingml/2006/main">
              <a:ext uri="{FF2B5EF4-FFF2-40B4-BE49-F238E27FC236}">
                <a16:creationId xmlns:a16="http://schemas.microsoft.com/office/drawing/2014/main" id="{67E5D86D-DE02-46B4-93A4-3207319069B6}"/>
              </a:ext>
            </a:extLst>
          </p:cNvPr>
          <p:cNvSpPr>
            <a:spLocks xmlns:a="http://schemas.openxmlformats.org/drawingml/2006/main" noGrp="1"/>
          </p:cNvSpPr>
          <p:nvPr/>
        </p:nvSpPr>
        <p:spPr>
          <a:xfrm xmlns:a="http://schemas.openxmlformats.org/drawingml/2006/main">
            <a:off x="9021927" y="4480560"/>
            <a:ext cx="2514600" cy="1371600"/>
          </a:xfrm>
          <a:prstGeom xmlns:a="http://schemas.openxmlformats.org/drawingml/2006/main" prst="rect">
            <a:avLst/>
          </a:prstGeom>
          <a:solidFill xmlns:a="http://schemas.openxmlformats.org/drawingml/2006/main">
            <a:srgbClr val="F1F5FB"/>
          </a:solidFill>
          <a:ln xmlns:a="http://schemas.openxmlformats.org/drawingml/2006/main" w="9525">
            <a:solidFill>
              <a:srgbClr val="F1F5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109728" bIns="73152" anchor="ctr"/>
          <a:lstStyle xmlns:a="http://schemas.openxmlformats.org/drawingml/2006/main"/>
          <a:p xmlns:a="http://schemas.openxmlformats.org/drawingml/2006/main">
            <a:pPr algn="ctr">
              <a:buNone/>
            </a:pPr>
            <a:r>
              <a:rPr sz="3400" b="1">
                <a:solidFill>
                  <a:srgbClr val="1F6FEB"/>
                </a:solidFill>
                <a:latin typeface="Calibri"/>
                <a:ea typeface="Calibri"/>
                <a:cs typeface="Calibri"/>
              </a:rPr>
              <a:t>113.7×</a:t>
            </a:r>
          </a:p>
          <a:p xmlns:a="http://schemas.openxmlformats.org/drawingml/2006/main">
            <a:pPr algn="ctr">
              <a:buNone/>
            </a:pPr>
            <a:r>
              <a:rPr sz="1250">
                <a:solidFill>
                  <a:srgbClr val="1A1A1A"/>
                </a:solidFill>
                <a:latin typeface="Calibri"/>
                <a:ea typeface="Calibri"/>
                <a:cs typeface="Calibri"/>
              </a:rPr>
              <a:t>MPI, 128 ranks</a:t>
            </a:r>
          </a:p>
        </p:txBody>
      </p:sp>
      <p:sp>
        <p:nvSpPr>
          <p:cNvPr id="9" name="TextBox 8">
            <a:extLst xmlns:a="http://schemas.openxmlformats.org/drawingml/2006/main">
              <a:ext uri="{FF2B5EF4-FFF2-40B4-BE49-F238E27FC236}">
                <a16:creationId xmlns:a16="http://schemas.microsoft.com/office/drawing/2014/main" id="{86EBC3BF-C4CA-488A-9479-1822A91FC750}"/>
              </a:ext>
            </a:extLst>
          </p:cNvPr>
          <p:cNvSpPr>
            <a:spLocks xmlns:a="http://schemas.openxmlformats.org/drawingml/2006/main" noGrp="1"/>
          </p:cNvSpPr>
          <p:nvPr/>
        </p:nvSpPr>
        <p:spPr>
          <a:xfrm xmlns:a="http://schemas.openxmlformats.org/drawingml/2006/main">
            <a:off x="11292840" y="6455664"/>
            <a:ext cx="777240" cy="292608"/>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pPr>
            <a:r>
              <a:rPr sz="1000">
                <a:solidFill>
                  <a:srgbClr val="5A5A5A"/>
                </a:solidFill>
                <a:latin typeface="Calibri"/>
                <a:ea typeface="Calibri"/>
                <a:cs typeface="Calibri"/>
              </a:rPr>
              <a:t>1 / 19</a:t>
            </a:r>
          </a:p>
        </p:txBody>
      </p:sp>
    </p:spTree>
    <p:extLst>
      <p:ext uri="{BB962C8B-B14F-4D97-AF65-F5344CB8AC3E}">
        <p14:creationId xmlns:p14="http://schemas.microsoft.com/office/powerpoint/2010/main" val="172153759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A4EB56B-8A0D-474A-B41E-7E943DEA6BE7}"/>
              </a:ext>
            </a:extLst>
          </p:cNvPr>
          <p:cNvSpPr>
            <a:spLocks xmlns:a="http://schemas.openxmlformats.org/drawingml/2006/main" noGrp="1"/>
          </p:cNvSpPr>
          <p:nvPr/>
        </p:nvSpPr>
        <p:spPr>
          <a:xfrm xmlns:a="http://schemas.openxmlformats.org/drawingml/2006/main">
            <a:off x="640080" y="329184"/>
            <a:ext cx="10881360" cy="8686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3000" b="1">
                <a:solidFill>
                  <a:srgbClr val="1A1A1A"/>
                </a:solidFill>
                <a:latin typeface="Calibri"/>
                <a:ea typeface="Calibri"/>
                <a:cs typeface="Calibri"/>
              </a:rPr>
              <a:t>The application</a:t>
            </a:r>
          </a:p>
        </p:txBody>
      </p:sp>
      <p:sp>
        <p:nvSpPr>
          <p:cNvPr id="3" name="TextBox 2">
            <a:extLst xmlns:a="http://schemas.openxmlformats.org/drawingml/2006/main">
              <a:ext uri="{FF2B5EF4-FFF2-40B4-BE49-F238E27FC236}">
                <a16:creationId xmlns:a16="http://schemas.microsoft.com/office/drawing/2014/main" id="{D42988E6-0B81-46E7-8940-948B1A4756AF}"/>
              </a:ext>
            </a:extLst>
          </p:cNvPr>
          <p:cNvSpPr>
            <a:spLocks xmlns:a="http://schemas.openxmlformats.org/drawingml/2006/main" noGrp="1"/>
          </p:cNvSpPr>
          <p:nvPr/>
        </p:nvSpPr>
        <p:spPr>
          <a:xfrm xmlns:a="http://schemas.openxmlformats.org/drawingml/2006/main">
            <a:off x="685800" y="1417320"/>
            <a:ext cx="10881360" cy="47548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2D particle-dynamics toy solver from the course repository (C++17 + Python baselines).</a:t>
            </a:r>
          </a:p>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Particle generation: Mandelbrot field on a 1200×1000 grid (3000 iters); cells above threshold become particles → </a:t>
            </a:r>
            <a:r>
              <a:rPr sz="1800" b="1">
                <a:solidFill>
                  <a:srgbClr val="1F6FEB"/>
                </a:solidFill>
                <a:latin typeface="Calibri"/>
                <a:ea typeface="Calibri"/>
                <a:cs typeface="Calibri"/>
              </a:rPr>
              <a:t>N = 2231</a:t>
            </a:r>
            <a:r>
              <a:rPr sz="1800">
                <a:solidFill>
                  <a:srgbClr val="1A1A1A"/>
                </a:solidFill>
                <a:latin typeface="Calibri"/>
                <a:ea typeface="Calibri"/>
                <a:cs typeface="Calibri"/>
              </a:rPr>
              <a:t>, weight = mass.</a:t>
            </a:r>
          </a:p>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Dynamics: </a:t>
            </a:r>
            <a:r>
              <a:rPr sz="1800" b="1">
                <a:solidFill>
                  <a:srgbClr val="1F6FEB"/>
                </a:solidFill>
                <a:latin typeface="Calibri"/>
                <a:ea typeface="Calibri"/>
                <a:cs typeface="Calibri"/>
              </a:rPr>
              <a:t>all-pairs softened force</a:t>
            </a:r>
            <a:r>
              <a:rPr sz="1800">
                <a:solidFill>
                  <a:srgbClr val="1A1A1A"/>
                </a:solidFill>
                <a:latin typeface="Calibri"/>
                <a:ea typeface="Calibri"/>
                <a:cs typeface="Calibri"/>
              </a:rPr>
              <a:t> — kForce·wᵢwⱼ/(r²+ε²)</a:t>
            </a:r>
            <a:r>
              <a:rPr sz="1100">
                <a:solidFill>
                  <a:srgbClr val="1A1A1A"/>
                </a:solidFill>
                <a:latin typeface="Calibri"/>
                <a:ea typeface="Calibri"/>
                <a:cs typeface="Calibri"/>
              </a:rPr>
              <a:t>3/2</a:t>
            </a:r>
            <a:r>
              <a:rPr sz="1800">
                <a:solidFill>
                  <a:srgbClr val="1A1A1A"/>
                </a:solidFill>
                <a:latin typeface="Calibri"/>
                <a:ea typeface="Calibri"/>
                <a:cs typeface="Calibri"/>
              </a:rPr>
              <a:t>, kForce=10⁻³, ε²=10⁻⁴.</a:t>
            </a:r>
          </a:p>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Integrator: velocity-Verlet, 200 steps, dt=10⁻³ → </a:t>
            </a:r>
            <a:r>
              <a:rPr sz="1800" b="1">
                <a:solidFill>
                  <a:srgbClr val="1F6FEB"/>
                </a:solidFill>
                <a:latin typeface="Calibri"/>
                <a:ea typeface="Calibri"/>
                <a:cs typeface="Calibri"/>
              </a:rPr>
              <a:t>O(N²)·steps ≈ 10⁹ interactions</a:t>
            </a:r>
            <a:r>
              <a:rPr sz="1800">
                <a:solidFill>
                  <a:srgbClr val="1A1A1A"/>
                </a:solidFill>
                <a:latin typeface="Calibri"/>
                <a:ea typeface="Calibri"/>
                <a:cs typeface="Calibri"/>
              </a:rPr>
              <a:t>.</a:t>
            </a:r>
          </a:p>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Output: HDF5 (/pos /vel /step /weight) + 11 printed validation quantities (sums, momenta, kinetic/potential-like energy).</a:t>
            </a:r>
          </a:p>
        </p:txBody>
      </p:sp>
      <p:sp>
        <p:nvSpPr>
          <p:cNvPr id="4" name="TextBox 3">
            <a:extLst xmlns:a="http://schemas.openxmlformats.org/drawingml/2006/main">
              <a:ext uri="{FF2B5EF4-FFF2-40B4-BE49-F238E27FC236}">
                <a16:creationId xmlns:a16="http://schemas.microsoft.com/office/drawing/2014/main" id="{45C60D79-A968-4E98-B073-A00B88635B3A}"/>
              </a:ext>
            </a:extLst>
          </p:cNvPr>
          <p:cNvSpPr>
            <a:spLocks xmlns:a="http://schemas.openxmlformats.org/drawingml/2006/main" noGrp="1"/>
          </p:cNvSpPr>
          <p:nvPr/>
        </p:nvSpPr>
        <p:spPr>
          <a:xfrm xmlns:a="http://schemas.openxmlformats.org/drawingml/2006/main">
            <a:off x="11292840" y="6455664"/>
            <a:ext cx="777240" cy="292608"/>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pPr>
            <a:r>
              <a:rPr sz="1000">
                <a:solidFill>
                  <a:srgbClr val="5A5A5A"/>
                </a:solidFill>
                <a:latin typeface="Calibri"/>
                <a:ea typeface="Calibri"/>
                <a:cs typeface="Calibri"/>
              </a:rPr>
              <a:t>2 / 19</a:t>
            </a:r>
          </a:p>
        </p:txBody>
      </p:sp>
    </p:spTree>
    <p:extLst>
      <p:ext uri="{BB962C8B-B14F-4D97-AF65-F5344CB8AC3E}">
        <p14:creationId xmlns:p14="http://schemas.microsoft.com/office/powerpoint/2010/main" val="205697135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7E55BF3-8A6F-4A6E-A0E2-53AB6071A67F}"/>
              </a:ext>
            </a:extLst>
          </p:cNvPr>
          <p:cNvSpPr>
            <a:spLocks xmlns:a="http://schemas.openxmlformats.org/drawingml/2006/main" noGrp="1"/>
          </p:cNvSpPr>
          <p:nvPr/>
        </p:nvSpPr>
        <p:spPr>
          <a:xfrm xmlns:a="http://schemas.openxmlformats.org/drawingml/2006/main">
            <a:off x="640080" y="329184"/>
            <a:ext cx="10881360" cy="8686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3000" b="1">
                <a:solidFill>
                  <a:srgbClr val="1A1A1A"/>
                </a:solidFill>
                <a:latin typeface="Calibri"/>
                <a:ea typeface="Calibri"/>
                <a:cs typeface="Calibri"/>
              </a:rPr>
              <a:t>Strategy: reproducibility first</a:t>
            </a:r>
          </a:p>
        </p:txBody>
      </p:sp>
      <p:sp>
        <p:nvSpPr>
          <p:cNvPr id="3" name="TextBox 2">
            <a:extLst xmlns:a="http://schemas.openxmlformats.org/drawingml/2006/main">
              <a:ext uri="{FF2B5EF4-FFF2-40B4-BE49-F238E27FC236}">
                <a16:creationId xmlns:a16="http://schemas.microsoft.com/office/drawing/2014/main" id="{2D40C1AA-1E20-4D18-9FFD-F56A5D9CA23D}"/>
              </a:ext>
            </a:extLst>
          </p:cNvPr>
          <p:cNvSpPr>
            <a:spLocks xmlns:a="http://schemas.openxmlformats.org/drawingml/2006/main" noGrp="1"/>
          </p:cNvSpPr>
          <p:nvPr/>
        </p:nvSpPr>
        <p:spPr>
          <a:xfrm xmlns:a="http://schemas.openxmlformats.org/drawingml/2006/main">
            <a:off x="685800" y="1417320"/>
            <a:ext cx="10881360" cy="47548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Design invariant used in EVERY port: </a:t>
            </a:r>
            <a:r>
              <a:rPr sz="1800" b="1">
                <a:solidFill>
                  <a:srgbClr val="1F6FEB"/>
                </a:solidFill>
                <a:latin typeface="Calibri"/>
                <a:ea typeface="Calibri"/>
                <a:cs typeface="Calibri"/>
              </a:rPr>
              <a:t>parallelize only the outer particle index i; keep the inner j-sum in serial order (j = 0…N−1)</a:t>
            </a:r>
            <a:r>
              <a:rPr sz="1800">
                <a:solidFill>
                  <a:srgbClr val="1A1A1A"/>
                </a:solidFill>
                <a:latin typeface="Calibri"/>
                <a:ea typeface="Calibri"/>
                <a:cs typeface="Calibri"/>
              </a:rPr>
              <a:t>.</a:t>
            </a:r>
          </a:p>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Each fx[i] then accumulates in exactly the serial order → results can be </a:t>
            </a:r>
            <a:r>
              <a:rPr sz="1800" b="1">
                <a:solidFill>
                  <a:srgbClr val="1F6FEB"/>
                </a:solidFill>
                <a:latin typeface="Calibri"/>
                <a:ea typeface="Calibri"/>
                <a:cs typeface="Calibri"/>
              </a:rPr>
              <a:t>bitwise identical</a:t>
            </a:r>
            <a:r>
              <a:rPr sz="1800">
                <a:solidFill>
                  <a:srgbClr val="1A1A1A"/>
                </a:solidFill>
                <a:latin typeface="Calibri"/>
                <a:ea typeface="Calibri"/>
                <a:cs typeface="Calibri"/>
              </a:rPr>
              <a:t>, not just "within tolerance".</a:t>
            </a:r>
          </a:p>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Corollaries: no fast-math anywhere; no FMA contraction (CUDA uses </a:t>
            </a:r>
            <a:r>
              <a:rPr sz="1700">
                <a:solidFill>
                  <a:srgbClr val="0B3D91"/>
                </a:solidFill>
                <a:latin typeface="Consolas"/>
                <a:ea typeface="Consolas"/>
                <a:cs typeface="Consolas"/>
              </a:rPr>
              <a:t>__dadd_rn</a:t>
            </a:r>
            <a:r>
              <a:rPr sz="1800">
                <a:solidFill>
                  <a:srgbClr val="1A1A1A"/>
                </a:solidFill>
                <a:latin typeface="Calibri"/>
                <a:ea typeface="Calibri"/>
                <a:cs typeface="Calibri"/>
              </a:rPr>
              <a:t>/</a:t>
            </a:r>
            <a:r>
              <a:rPr sz="1700">
                <a:solidFill>
                  <a:srgbClr val="0B3D91"/>
                </a:solidFill>
                <a:latin typeface="Consolas"/>
                <a:ea typeface="Consolas"/>
                <a:cs typeface="Consolas"/>
              </a:rPr>
              <a:t>__dmul_rn</a:t>
            </a:r>
            <a:r>
              <a:rPr sz="1800">
                <a:solidFill>
                  <a:srgbClr val="1A1A1A"/>
                </a:solidFill>
                <a:latin typeface="Calibri"/>
                <a:ea typeface="Calibri"/>
                <a:cs typeface="Calibri"/>
              </a:rPr>
              <a:t> intrinsics); no pair-symmetry tricks that create write races.</a:t>
            </a:r>
          </a:p>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Baseline untouched: each port is a separate self-contained source file, exactly as the CMake scaffold expects.</a:t>
            </a:r>
          </a:p>
        </p:txBody>
      </p:sp>
      <p:sp>
        <p:nvSpPr>
          <p:cNvPr id="4" name="TextBox 3">
            <a:extLst xmlns:a="http://schemas.openxmlformats.org/drawingml/2006/main">
              <a:ext uri="{FF2B5EF4-FFF2-40B4-BE49-F238E27FC236}">
                <a16:creationId xmlns:a16="http://schemas.microsoft.com/office/drawing/2014/main" id="{1F69C404-428D-4E20-AA93-544835966459}"/>
              </a:ext>
            </a:extLst>
          </p:cNvPr>
          <p:cNvSpPr>
            <a:spLocks xmlns:a="http://schemas.openxmlformats.org/drawingml/2006/main" noGrp="1"/>
          </p:cNvSpPr>
          <p:nvPr/>
        </p:nvSpPr>
        <p:spPr>
          <a:xfrm xmlns:a="http://schemas.openxmlformats.org/drawingml/2006/main">
            <a:off x="11292840" y="6455664"/>
            <a:ext cx="777240" cy="292608"/>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pPr>
            <a:r>
              <a:rPr sz="1000">
                <a:solidFill>
                  <a:srgbClr val="5A5A5A"/>
                </a:solidFill>
                <a:latin typeface="Calibri"/>
                <a:ea typeface="Calibri"/>
                <a:cs typeface="Calibri"/>
              </a:rPr>
              <a:t>3 / 19</a:t>
            </a:r>
          </a:p>
        </p:txBody>
      </p:sp>
    </p:spTree>
    <p:extLst>
      <p:ext uri="{BB962C8B-B14F-4D97-AF65-F5344CB8AC3E}">
        <p14:creationId xmlns:p14="http://schemas.microsoft.com/office/powerpoint/2010/main" val="4228433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6DA52AE-8F8B-493F-BC52-D2E06791EAC6}"/>
              </a:ext>
            </a:extLst>
          </p:cNvPr>
          <p:cNvSpPr>
            <a:spLocks xmlns:a="http://schemas.openxmlformats.org/drawingml/2006/main" noGrp="1"/>
          </p:cNvSpPr>
          <p:nvPr/>
        </p:nvSpPr>
        <p:spPr>
          <a:xfrm xmlns:a="http://schemas.openxmlformats.org/drawingml/2006/main">
            <a:off x="640080" y="329184"/>
            <a:ext cx="10881360" cy="8686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3000" b="1">
                <a:solidFill>
                  <a:srgbClr val="1A1A1A"/>
                </a:solidFill>
                <a:latin typeface="Calibri"/>
                <a:ea typeface="Calibri"/>
                <a:cs typeface="Calibri"/>
              </a:rPr>
              <a:t>Five parallel ports + two baselines</a:t>
            </a:r>
          </a:p>
        </p:txBody>
      </p:sp>
      <p:graphicFrame>
        <p:nvGraphicFramePr>
          <p:cNvPr id="7" name="Table 2"/>
          <p:cNvGraphicFramePr/>
          <p:nvPr/>
        </p:nvGraphicFramePr>
        <p:xfrm>
          <a:off xmlns:a="http://schemas.openxmlformats.org/drawingml/2006/main" x="548640" y="1463040"/>
          <a:ext xmlns:a="http://schemas.openxmlformats.org/drawingml/2006/main" cx="10972799" cy="4078224"/>
        </p:xfrm>
        <a:graphic xmlns:a="http://schemas.openxmlformats.org/drawingml/2006/main">
          <a:graphicData uri="http://schemas.openxmlformats.org/drawingml/2006/table">
            <a:tbl>
              <a:tblPr firstRow="0" firstCol="0" lastRow="0" lastCol="0" bandRow="0" bandCol="0"/>
              <a:tblGrid>
                <a:gridCol w="1874519"/>
                <a:gridCol w="3703320"/>
                <a:gridCol w="5394960"/>
              </a:tblGrid>
              <a:tr h="457200">
                <a:tc>
                  <a:txBody>
                    <a:bodyPr wrap="square"/>
                    <a:lstStyle/>
                    <a:p>
                      <a:pPr algn="ctr">
                        <a:buNone/>
                      </a:pPr>
                      <a:r>
                        <a:rPr sz="1300" b="1">
                          <a:solidFill>
                            <a:srgbClr val="FFFFFF"/>
                          </a:solidFill>
                          <a:latin typeface="Calibri"/>
                          <a:ea typeface="Calibri"/>
                          <a:cs typeface="Calibri"/>
                        </a:rPr>
                        <a:t>Implementation</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1F6FEB"/>
                    </a:solidFill>
                  </a:tcPr>
                </a:tc>
                <a:tc>
                  <a:txBody>
                    <a:bodyPr wrap="square"/>
                    <a:lstStyle/>
                    <a:p>
                      <a:pPr algn="ctr">
                        <a:buNone/>
                      </a:pPr>
                      <a:r>
                        <a:rPr sz="1300" b="1">
                          <a:solidFill>
                            <a:srgbClr val="FFFFFF"/>
                          </a:solidFill>
                          <a:latin typeface="Calibri"/>
                          <a:ea typeface="Calibri"/>
                          <a:cs typeface="Calibri"/>
                        </a:rPr>
                        <a:t>Source file</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1F6FEB"/>
                    </a:solidFill>
                  </a:tcPr>
                </a:tc>
                <a:tc>
                  <a:txBody>
                    <a:bodyPr wrap="square"/>
                    <a:lstStyle/>
                    <a:p>
                      <a:pPr algn="ctr">
                        <a:buNone/>
                      </a:pPr>
                      <a:r>
                        <a:rPr sz="1300" b="1">
                          <a:solidFill>
                            <a:srgbClr val="FFFFFF"/>
                          </a:solidFill>
                          <a:latin typeface="Calibri"/>
                          <a:ea typeface="Calibri"/>
                          <a:cs typeface="Calibri"/>
                        </a:rPr>
                        <a:t>Key techniques</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1F6FEB"/>
                    </a:solidFill>
                  </a:tcPr>
                </a:tc>
              </a:tr>
              <a:tr h="603504">
                <a:tc>
                  <a:txBody>
                    <a:bodyPr wrap="square"/>
                    <a:lstStyle/>
                    <a:p>
                      <a:pPr algn="l">
                        <a:buNone/>
                      </a:pPr>
                      <a:r>
                        <a:rPr sz="1200" b="1">
                          <a:solidFill>
                            <a:srgbClr val="1F6FEB"/>
                          </a:solidFill>
                          <a:latin typeface="Calibri"/>
                          <a:ea typeface="Calibri"/>
                          <a:cs typeface="Calibri"/>
                        </a:rPr>
                        <a:t>Serial baselines</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FFFFF"/>
                    </a:solidFill>
                  </a:tcPr>
                </a:tc>
                <a:tc>
                  <a:txBody>
                    <a:bodyPr wrap="square"/>
                    <a:lstStyle/>
                    <a:p>
                      <a:pPr algn="l">
                        <a:buNone/>
                      </a:pPr>
                      <a:r>
                        <a:rPr sz="1200" b="0">
                          <a:solidFill>
                            <a:srgbClr val="1A1A1A"/>
                          </a:solidFill>
                          <a:latin typeface="Consolas"/>
                          <a:ea typeface="Consolas"/>
                          <a:cs typeface="Consolas"/>
                        </a:rPr>
                        <a:t>src/cpp/particles.cpp + src/python/particles.py</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FFFFF"/>
                    </a:solidFill>
                  </a:tcPr>
                </a:tc>
                <a:tc>
                  <a:txBody>
                    <a:bodyPr wrap="square"/>
                    <a:lstStyle/>
                    <a:p>
                      <a:pPr algn="l">
                        <a:buNone/>
                      </a:pPr>
                      <a:r>
                        <a:rPr sz="1200" b="0">
                          <a:solidFill>
                            <a:srgbClr val="1A1A1A"/>
                          </a:solidFill>
                          <a:latin typeface="Calibri"/>
                          <a:ea typeface="Calibri"/>
                          <a:cs typeface="Calibri"/>
                        </a:rPr>
                        <a:t>C++ and NumPy references; same model/HDF5 schema</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FFFFF"/>
                    </a:solidFill>
                  </a:tcPr>
                </a:tc>
              </a:tr>
              <a:tr h="603504">
                <a:tc>
                  <a:txBody>
                    <a:bodyPr wrap="square"/>
                    <a:lstStyle/>
                    <a:p>
                      <a:pPr algn="l">
                        <a:buNone/>
                      </a:pPr>
                      <a:r>
                        <a:rPr sz="1200" b="1">
                          <a:solidFill>
                            <a:srgbClr val="1F6FEB"/>
                          </a:solidFill>
                          <a:latin typeface="Calibri"/>
                          <a:ea typeface="Calibri"/>
                          <a:cs typeface="Calibri"/>
                        </a:rPr>
                        <a:t>OpenMP</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5F8FC"/>
                    </a:solidFill>
                  </a:tcPr>
                </a:tc>
                <a:tc>
                  <a:txBody>
                    <a:bodyPr wrap="square"/>
                    <a:lstStyle/>
                    <a:p>
                      <a:pPr algn="l">
                        <a:buNone/>
                      </a:pPr>
                      <a:r>
                        <a:rPr sz="1200" b="0">
                          <a:solidFill>
                            <a:srgbClr val="1A1A1A"/>
                          </a:solidFill>
                          <a:latin typeface="Consolas"/>
                          <a:ea typeface="Consolas"/>
                          <a:cs typeface="Consolas"/>
                        </a:rPr>
                        <a:t>src/cpp/particles_omp.cpp</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5F8FC"/>
                    </a:solidFill>
                  </a:tcPr>
                </a:tc>
                <a:tc>
                  <a:txBody>
                    <a:bodyPr wrap="square"/>
                    <a:lstStyle/>
                    <a:p>
                      <a:pPr algn="l">
                        <a:buNone/>
                      </a:pPr>
                      <a:r>
                        <a:rPr sz="1200" b="0">
                          <a:solidFill>
                            <a:srgbClr val="1A1A1A"/>
                          </a:solidFill>
                          <a:latin typeface="Calibri"/>
                          <a:ea typeface="Calibri"/>
                          <a:cs typeface="Calibri"/>
                        </a:rPr>
                        <a:t>parallel for on outer loops; reductions for validation sums</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5F8FC"/>
                    </a:solidFill>
                  </a:tcPr>
                </a:tc>
              </a:tr>
              <a:tr h="603504">
                <a:tc>
                  <a:txBody>
                    <a:bodyPr wrap="square"/>
                    <a:lstStyle/>
                    <a:p>
                      <a:pPr algn="l">
                        <a:buNone/>
                      </a:pPr>
                      <a:r>
                        <a:rPr sz="1200" b="1">
                          <a:solidFill>
                            <a:srgbClr val="1F6FEB"/>
                          </a:solidFill>
                          <a:latin typeface="Calibri"/>
                          <a:ea typeface="Calibri"/>
                          <a:cs typeface="Calibri"/>
                        </a:rPr>
                        <a:t>CUDA</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FFFFF"/>
                    </a:solidFill>
                  </a:tcPr>
                </a:tc>
                <a:tc>
                  <a:txBody>
                    <a:bodyPr wrap="square"/>
                    <a:lstStyle/>
                    <a:p>
                      <a:pPr algn="l">
                        <a:buNone/>
                      </a:pPr>
                      <a:r>
                        <a:rPr sz="1200" b="0">
                          <a:solidFill>
                            <a:srgbClr val="1A1A1A"/>
                          </a:solidFill>
                          <a:latin typeface="Consolas"/>
                          <a:ea typeface="Consolas"/>
                          <a:cs typeface="Consolas"/>
                        </a:rPr>
                        <a:t>src/cpp/particles.cu</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FFFFF"/>
                    </a:solidFill>
                  </a:tcPr>
                </a:tc>
                <a:tc>
                  <a:txBody>
                    <a:bodyPr wrap="square"/>
                    <a:lstStyle/>
                    <a:p>
                      <a:pPr algn="l">
                        <a:buNone/>
                      </a:pPr>
                      <a:r>
                        <a:rPr sz="1200" b="0">
                          <a:solidFill>
                            <a:srgbClr val="1A1A1A"/>
                          </a:solidFill>
                          <a:latin typeface="Calibri"/>
                          <a:ea typeface="Calibri"/>
                          <a:cs typeface="Calibri"/>
                        </a:rPr>
                        <a:t>1 thread = 1 particle; device-resident SoA; __d*_rn intrinsics; sm_80</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FFFFF"/>
                    </a:solidFill>
                  </a:tcPr>
                </a:tc>
              </a:tr>
              <a:tr h="603504">
                <a:tc>
                  <a:txBody>
                    <a:bodyPr wrap="square"/>
                    <a:lstStyle/>
                    <a:p>
                      <a:pPr algn="l">
                        <a:buNone/>
                      </a:pPr>
                      <a:r>
                        <a:rPr sz="1200" b="1">
                          <a:solidFill>
                            <a:srgbClr val="1F6FEB"/>
                          </a:solidFill>
                          <a:latin typeface="Calibri"/>
                          <a:ea typeface="Calibri"/>
                          <a:cs typeface="Calibri"/>
                        </a:rPr>
                        <a:t>MPI</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5F8FC"/>
                    </a:solidFill>
                  </a:tcPr>
                </a:tc>
                <a:tc>
                  <a:txBody>
                    <a:bodyPr wrap="square"/>
                    <a:lstStyle/>
                    <a:p>
                      <a:pPr algn="l">
                        <a:buNone/>
                      </a:pPr>
                      <a:r>
                        <a:rPr sz="1200" b="0">
                          <a:solidFill>
                            <a:srgbClr val="1A1A1A"/>
                          </a:solidFill>
                          <a:latin typeface="Consolas"/>
                          <a:ea typeface="Consolas"/>
                          <a:cs typeface="Consolas"/>
                        </a:rPr>
                        <a:t>src/cpp/particles_mpi.cpp</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5F8FC"/>
                    </a:solidFill>
                  </a:tcPr>
                </a:tc>
                <a:tc>
                  <a:txBody>
                    <a:bodyPr wrap="square"/>
                    <a:lstStyle/>
                    <a:p>
                      <a:pPr algn="l">
                        <a:buNone/>
                      </a:pPr>
                      <a:r>
                        <a:rPr sz="1200" b="0">
                          <a:solidFill>
                            <a:srgbClr val="1A1A1A"/>
                          </a:solidFill>
                          <a:latin typeface="Calibri"/>
                          <a:ea typeface="Calibri"/>
                          <a:cs typeface="Calibri"/>
                        </a:rPr>
                        <a:t>block decomposition of i; per-step MPI_Allgatherv of positions</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5F8FC"/>
                    </a:solidFill>
                  </a:tcPr>
                </a:tc>
              </a:tr>
              <a:tr h="603504">
                <a:tc>
                  <a:txBody>
                    <a:bodyPr wrap="square"/>
                    <a:lstStyle/>
                    <a:p>
                      <a:pPr algn="l">
                        <a:buNone/>
                      </a:pPr>
                      <a:r>
                        <a:rPr sz="1200" b="1">
                          <a:solidFill>
                            <a:srgbClr val="1F6FEB"/>
                          </a:solidFill>
                          <a:latin typeface="Calibri"/>
                          <a:ea typeface="Calibri"/>
                          <a:cs typeface="Calibri"/>
                        </a:rPr>
                        <a:t>Numba CPU</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FFFFF"/>
                    </a:solidFill>
                  </a:tcPr>
                </a:tc>
                <a:tc>
                  <a:txBody>
                    <a:bodyPr wrap="square"/>
                    <a:lstStyle/>
                    <a:p>
                      <a:pPr algn="l">
                        <a:buNone/>
                      </a:pPr>
                      <a:r>
                        <a:rPr sz="1200" b="0">
                          <a:solidFill>
                            <a:srgbClr val="1A1A1A"/>
                          </a:solidFill>
                          <a:latin typeface="Consolas"/>
                          <a:ea typeface="Consolas"/>
                          <a:cs typeface="Consolas"/>
                        </a:rPr>
                        <a:t>src/python/particles_numba.py</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FFFFF"/>
                    </a:solidFill>
                  </a:tcPr>
                </a:tc>
                <a:tc>
                  <a:txBody>
                    <a:bodyPr wrap="square"/>
                    <a:lstStyle/>
                    <a:p>
                      <a:pPr algn="l">
                        <a:buNone/>
                      </a:pPr>
                      <a:r>
                        <a:rPr sz="1200" b="0">
                          <a:solidFill>
                            <a:srgbClr val="1A1A1A"/>
                          </a:solidFill>
                          <a:latin typeface="Calibri"/>
                          <a:ea typeface="Calibri"/>
                          <a:cs typeface="Calibri"/>
                        </a:rPr>
                        <a:t>@njit(parallel=True) + prange, fastmath=False</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FFFFF"/>
                    </a:solidFill>
                  </a:tcPr>
                </a:tc>
              </a:tr>
              <a:tr h="603504">
                <a:tc>
                  <a:txBody>
                    <a:bodyPr wrap="square"/>
                    <a:lstStyle/>
                    <a:p>
                      <a:pPr algn="l">
                        <a:buNone/>
                      </a:pPr>
                      <a:r>
                        <a:rPr sz="1200" b="1">
                          <a:solidFill>
                            <a:srgbClr val="1F6FEB"/>
                          </a:solidFill>
                          <a:latin typeface="Calibri"/>
                          <a:ea typeface="Calibri"/>
                          <a:cs typeface="Calibri"/>
                        </a:rPr>
                        <a:t>Numba CUDA</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5F8FC"/>
                    </a:solidFill>
                  </a:tcPr>
                </a:tc>
                <a:tc>
                  <a:txBody>
                    <a:bodyPr wrap="square"/>
                    <a:lstStyle/>
                    <a:p>
                      <a:pPr algn="l">
                        <a:buNone/>
                      </a:pPr>
                      <a:r>
                        <a:rPr sz="1200" b="0">
                          <a:solidFill>
                            <a:srgbClr val="1A1A1A"/>
                          </a:solidFill>
                          <a:latin typeface="Consolas"/>
                          <a:ea typeface="Consolas"/>
                          <a:cs typeface="Consolas"/>
                        </a:rPr>
                        <a:t>src/python/particles_numba_cuda.py</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5F8FC"/>
                    </a:solidFill>
                  </a:tcPr>
                </a:tc>
                <a:tc>
                  <a:txBody>
                    <a:bodyPr wrap="square"/>
                    <a:lstStyle/>
                    <a:p>
                      <a:pPr algn="l">
                        <a:buNone/>
                      </a:pPr>
                      <a:r>
                        <a:rPr sz="1200" b="0">
                          <a:solidFill>
                            <a:srgbClr val="1A1A1A"/>
                          </a:solidFill>
                          <a:latin typeface="Calibri"/>
                          <a:ea typeface="Calibri"/>
                          <a:cs typeface="Calibri"/>
                        </a:rPr>
                        <a:t>@cuda.jit kernels, float64, device-resident</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5F8FC"/>
                    </a:solidFill>
                  </a:tcPr>
                </a:tc>
              </a:tr>
            </a:tbl>
          </a:graphicData>
        </a:graphic>
      </p:graphicFrame>
      <p:sp>
        <p:nvSpPr>
          <p:cNvPr id="4" name="TextBox 3">
            <a:extLst xmlns:a="http://schemas.openxmlformats.org/drawingml/2006/main">
              <a:ext uri="{FF2B5EF4-FFF2-40B4-BE49-F238E27FC236}">
                <a16:creationId xmlns:a16="http://schemas.microsoft.com/office/drawing/2014/main" id="{5DDE87F4-8D5A-4882-8FFA-D504F4503FD9}"/>
              </a:ext>
            </a:extLst>
          </p:cNvPr>
          <p:cNvSpPr>
            <a:spLocks xmlns:a="http://schemas.openxmlformats.org/drawingml/2006/main" noGrp="1"/>
          </p:cNvSpPr>
          <p:nvPr/>
        </p:nvSpPr>
        <p:spPr>
          <a:xfrm xmlns:a="http://schemas.openxmlformats.org/drawingml/2006/main">
            <a:off x="11292840" y="6455664"/>
            <a:ext cx="777240" cy="292608"/>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pPr>
            <a:r>
              <a:rPr sz="1000">
                <a:solidFill>
                  <a:srgbClr val="5A5A5A"/>
                </a:solidFill>
                <a:latin typeface="Calibri"/>
                <a:ea typeface="Calibri"/>
                <a:cs typeface="Calibri"/>
              </a:rPr>
              <a:t>4 / 19</a:t>
            </a:r>
          </a:p>
        </p:txBody>
      </p:sp>
    </p:spTree>
    <p:extLst>
      <p:ext uri="{BB962C8B-B14F-4D97-AF65-F5344CB8AC3E}">
        <p14:creationId xmlns:p14="http://schemas.microsoft.com/office/powerpoint/2010/main" val="53421286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9E8148A-5E0C-4D99-AC23-0061F2583762}"/>
              </a:ext>
            </a:extLst>
          </p:cNvPr>
          <p:cNvSpPr>
            <a:spLocks xmlns:a="http://schemas.openxmlformats.org/drawingml/2006/main" noGrp="1"/>
          </p:cNvSpPr>
          <p:nvPr/>
        </p:nvSpPr>
        <p:spPr>
          <a:xfrm xmlns:a="http://schemas.openxmlformats.org/drawingml/2006/main">
            <a:off x="640080" y="329184"/>
            <a:ext cx="10881360" cy="8686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3000" b="1">
                <a:solidFill>
                  <a:srgbClr val="1A1A1A"/>
                </a:solidFill>
                <a:latin typeface="Calibri"/>
                <a:ea typeface="Calibri"/>
                <a:cs typeface="Calibri"/>
              </a:rPr>
              <a:t>Correctness methodology</a:t>
            </a:r>
          </a:p>
        </p:txBody>
      </p:sp>
      <p:sp>
        <p:nvSpPr>
          <p:cNvPr id="3" name="TextBox 2">
            <a:extLst xmlns:a="http://schemas.openxmlformats.org/drawingml/2006/main">
              <a:ext uri="{FF2B5EF4-FFF2-40B4-BE49-F238E27FC236}">
                <a16:creationId xmlns:a16="http://schemas.microsoft.com/office/drawing/2014/main" id="{8532D60B-23E4-4635-9DC0-29C5C2EBC766}"/>
              </a:ext>
            </a:extLst>
          </p:cNvPr>
          <p:cNvSpPr>
            <a:spLocks xmlns:a="http://schemas.openxmlformats.org/drawingml/2006/main" noGrp="1"/>
          </p:cNvSpPr>
          <p:nvPr/>
        </p:nvSpPr>
        <p:spPr>
          <a:xfrm xmlns:a="http://schemas.openxmlformats.org/drawingml/2006/main">
            <a:off x="685800" y="1463040"/>
            <a:ext cx="10881360" cy="457200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Every implementation writes the same HDF5 datasets; the course validator compares </a:t>
            </a:r>
            <a:r>
              <a:rPr sz="1700">
                <a:solidFill>
                  <a:srgbClr val="0B3D91"/>
                </a:solidFill>
                <a:latin typeface="Consolas"/>
                <a:ea typeface="Consolas"/>
                <a:cs typeface="Consolas"/>
              </a:rPr>
              <a:t>/step /weight /pos /vel</a:t>
            </a:r>
            <a:r>
              <a:rPr sz="1800">
                <a:solidFill>
                  <a:srgbClr val="1A1A1A"/>
                </a:solidFill>
                <a:latin typeface="Calibri"/>
                <a:ea typeface="Calibri"/>
                <a:cs typeface="Calibri"/>
              </a:rPr>
              <a:t> pairwise.</a:t>
            </a:r>
          </a:p>
          <a:p xmlns:a="http://schemas.openxmlformats.org/drawingml/2006/main">
            <a:pPr marL="285750" indent="-285750" algn="l">
              <a:lnSpc>
                <a:spcPct val="104000"/>
              </a:lnSpc>
              <a:spcAft>
                <a:spcPts val="800"/>
              </a:spcAft>
              <a:buClr>
                <a:srgbClr val="1F6FEB"/>
              </a:buClr>
              <a:buFont typeface="Arial"/>
              <a:buChar char="•"/>
            </a:pPr>
            <a:r>
              <a:rPr sz="1800" b="1">
                <a:solidFill>
                  <a:srgbClr val="1F6FEB"/>
                </a:solidFill>
                <a:latin typeface="Calibri"/>
                <a:ea typeface="Calibri"/>
                <a:cs typeface="Calibri"/>
              </a:rPr>
              <a:t>15-pair matrix: C++ serial, OpenMP, CUDA, Python, Numba CPU and Numba CUDA at rtol=atol=2·10⁻³.</a:t>
            </a:r>
          </a:p>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MPI is checked separately; strict 10⁻¹² checks cover expected bitwise pairs (Numba-CUDA is informational).</a:t>
            </a:r>
          </a:p>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Plus: 17-significant-digit comparison of the 11 printed validation quantities.</a:t>
            </a:r>
          </a:p>
        </p:txBody>
      </p:sp>
      <p:sp>
        <p:nvSpPr>
          <p:cNvPr id="4" name="TextBox 3">
            <a:extLst xmlns:a="http://schemas.openxmlformats.org/drawingml/2006/main">
              <a:ext uri="{FF2B5EF4-FFF2-40B4-BE49-F238E27FC236}">
                <a16:creationId xmlns:a16="http://schemas.microsoft.com/office/drawing/2014/main" id="{2A797D17-7F23-49C7-B0AD-B0F02126FF69}"/>
              </a:ext>
            </a:extLst>
          </p:cNvPr>
          <p:cNvSpPr>
            <a:spLocks xmlns:a="http://schemas.openxmlformats.org/drawingml/2006/main" noGrp="1"/>
          </p:cNvSpPr>
          <p:nvPr/>
        </p:nvSpPr>
        <p:spPr>
          <a:xfrm xmlns:a="http://schemas.openxmlformats.org/drawingml/2006/main">
            <a:off x="11292840" y="6455664"/>
            <a:ext cx="777240" cy="292608"/>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pPr>
            <a:r>
              <a:rPr sz="1000">
                <a:solidFill>
                  <a:srgbClr val="5A5A5A"/>
                </a:solidFill>
                <a:latin typeface="Calibri"/>
                <a:ea typeface="Calibri"/>
                <a:cs typeface="Calibri"/>
              </a:rPr>
              <a:t>5 / 19</a:t>
            </a:r>
          </a:p>
        </p:txBody>
      </p:sp>
    </p:spTree>
    <p:extLst>
      <p:ext uri="{BB962C8B-B14F-4D97-AF65-F5344CB8AC3E}">
        <p14:creationId xmlns:p14="http://schemas.microsoft.com/office/powerpoint/2010/main" val="180689093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1141A65-BABD-4263-B6FA-D41B478109F7}"/>
              </a:ext>
            </a:extLst>
          </p:cNvPr>
          <p:cNvSpPr>
            <a:spLocks xmlns:a="http://schemas.openxmlformats.org/drawingml/2006/main" noGrp="1"/>
          </p:cNvSpPr>
          <p:nvPr/>
        </p:nvSpPr>
        <p:spPr>
          <a:xfrm xmlns:a="http://schemas.openxmlformats.org/drawingml/2006/main">
            <a:off x="640080" y="329184"/>
            <a:ext cx="10881360" cy="8686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3000" b="1">
                <a:solidFill>
                  <a:srgbClr val="1A1A1A"/>
                </a:solidFill>
                <a:latin typeface="Calibri"/>
                <a:ea typeface="Calibri"/>
                <a:cs typeface="Calibri"/>
              </a:rPr>
              <a:t>Correctness results (Leonardo A100, official input)</a:t>
            </a:r>
          </a:p>
        </p:txBody>
      </p:sp>
      <p:sp>
        <p:nvSpPr>
          <p:cNvPr id="3" name="TextBox 2">
            <a:extLst xmlns:a="http://schemas.openxmlformats.org/drawingml/2006/main">
              <a:ext uri="{FF2B5EF4-FFF2-40B4-BE49-F238E27FC236}">
                <a16:creationId xmlns:a16="http://schemas.microsoft.com/office/drawing/2014/main" id="{467A9ED1-E4DF-4EF6-AC96-293FA40E1255}"/>
              </a:ext>
            </a:extLst>
          </p:cNvPr>
          <p:cNvSpPr>
            <a:spLocks xmlns:a="http://schemas.openxmlformats.org/drawingml/2006/main" noGrp="1"/>
          </p:cNvSpPr>
          <p:nvPr/>
        </p:nvSpPr>
        <p:spPr>
          <a:xfrm xmlns:a="http://schemas.openxmlformats.org/drawingml/2006/main">
            <a:off x="685800" y="1463040"/>
            <a:ext cx="10881360" cy="457200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285750" indent="-285750" algn="l">
              <a:lnSpc>
                <a:spcPct val="104000"/>
              </a:lnSpc>
              <a:spcAft>
                <a:spcPts val="800"/>
              </a:spcAft>
              <a:buClr>
                <a:srgbClr val="1F6FEB"/>
              </a:buClr>
              <a:buFont typeface="Arial"/>
              <a:buChar char="•"/>
            </a:pPr>
            <a:r>
              <a:rPr sz="1800" b="1">
                <a:solidFill>
                  <a:srgbClr val="1F6FEB"/>
                </a:solidFill>
                <a:latin typeface="Calibri"/>
                <a:ea typeface="Calibri"/>
                <a:cs typeface="Calibri"/>
              </a:rPr>
              <a:t>15/15 pairs PASS the six-way course gate; MPI passes its separate serial check.</a:t>
            </a:r>
          </a:p>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C++ serial, OpenMP, CUDA, MPI, Python and Numba CPU: bitwise-identical /pos and /vel arrays.</a:t>
            </a:r>
          </a:p>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CUDA = serial in </a:t>
            </a:r>
            <a:r>
              <a:rPr sz="1800" b="1">
                <a:solidFill>
                  <a:srgbClr val="1F6FEB"/>
                </a:solidFill>
                <a:latin typeface="Calibri"/>
                <a:ea typeface="Calibri"/>
                <a:cs typeface="Calibri"/>
              </a:rPr>
              <a:t>all 11 validation quantities to all 17 printed digits</a:t>
            </a:r>
            <a:r>
              <a:rPr sz="1800">
                <a:solidFill>
                  <a:srgbClr val="1A1A1A"/>
                </a:solidFill>
                <a:latin typeface="Calibri"/>
                <a:ea typeface="Calibri"/>
                <a:cs typeface="Calibri"/>
              </a:rPr>
              <a:t>.</a:t>
            </a:r>
          </a:p>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MPI bitwise-identical from </a:t>
            </a:r>
            <a:r>
              <a:rPr sz="1800" b="1">
                <a:solidFill>
                  <a:srgbClr val="1F6FEB"/>
                </a:solidFill>
                <a:latin typeface="Calibri"/>
                <a:ea typeface="Calibri"/>
                <a:cs typeface="Calibri"/>
              </a:rPr>
              <a:t>1 to 128 ranks</a:t>
            </a:r>
            <a:r>
              <a:rPr sz="1800">
                <a:solidFill>
                  <a:srgbClr val="1A1A1A"/>
                </a:solidFill>
                <a:latin typeface="Calibri"/>
                <a:ea typeface="Calibri"/>
                <a:cs typeface="Calibri"/>
              </a:rPr>
              <a:t> (decomposition preserves sum order).</a:t>
            </a:r>
          </a:p>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Numba-CUDA: max relative velocity difference 1.158·10⁻³, below the 2·10⁻³ gate (position max abs 4.56·10⁻⁵).</a:t>
            </a:r>
          </a:p>
        </p:txBody>
      </p:sp>
      <p:sp>
        <p:nvSpPr>
          <p:cNvPr id="4" name="TextBox 3">
            <a:extLst xmlns:a="http://schemas.openxmlformats.org/drawingml/2006/main">
              <a:ext uri="{FF2B5EF4-FFF2-40B4-BE49-F238E27FC236}">
                <a16:creationId xmlns:a16="http://schemas.microsoft.com/office/drawing/2014/main" id="{CB9D460C-2F5C-47EA-AAAB-2AFBC75A5143}"/>
              </a:ext>
            </a:extLst>
          </p:cNvPr>
          <p:cNvSpPr>
            <a:spLocks xmlns:a="http://schemas.openxmlformats.org/drawingml/2006/main" noGrp="1"/>
          </p:cNvSpPr>
          <p:nvPr/>
        </p:nvSpPr>
        <p:spPr>
          <a:xfrm xmlns:a="http://schemas.openxmlformats.org/drawingml/2006/main">
            <a:off x="11292840" y="6455664"/>
            <a:ext cx="777240" cy="292608"/>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pPr>
            <a:r>
              <a:rPr sz="1000">
                <a:solidFill>
                  <a:srgbClr val="5A5A5A"/>
                </a:solidFill>
                <a:latin typeface="Calibri"/>
                <a:ea typeface="Calibri"/>
                <a:cs typeface="Calibri"/>
              </a:rPr>
              <a:t>6 / 19</a:t>
            </a:r>
          </a:p>
        </p:txBody>
      </p:sp>
    </p:spTree>
    <p:extLst>
      <p:ext uri="{BB962C8B-B14F-4D97-AF65-F5344CB8AC3E}">
        <p14:creationId xmlns:p14="http://schemas.microsoft.com/office/powerpoint/2010/main" val="63261737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E036333-A41D-4316-9FA4-03FB90E2A6AB}"/>
              </a:ext>
            </a:extLst>
          </p:cNvPr>
          <p:cNvSpPr>
            <a:spLocks xmlns:a="http://schemas.openxmlformats.org/drawingml/2006/main" noGrp="1"/>
          </p:cNvSpPr>
          <p:nvPr/>
        </p:nvSpPr>
        <p:spPr>
          <a:xfrm xmlns:a="http://schemas.openxmlformats.org/drawingml/2006/main">
            <a:off x="640080" y="329184"/>
            <a:ext cx="10881360" cy="8686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3000" b="1">
                <a:solidFill>
                  <a:srgbClr val="1A1A1A"/>
                </a:solidFill>
                <a:latin typeface="Calibri"/>
                <a:ea typeface="Calibri"/>
                <a:cs typeface="Calibri"/>
              </a:rPr>
              <a:t>Case study: one FMA, one particle</a:t>
            </a:r>
          </a:p>
        </p:txBody>
      </p:sp>
      <p:sp>
        <p:nvSpPr>
          <p:cNvPr id="3" name="TextBox 2">
            <a:extLst xmlns:a="http://schemas.openxmlformats.org/drawingml/2006/main">
              <a:ext uri="{FF2B5EF4-FFF2-40B4-BE49-F238E27FC236}">
                <a16:creationId xmlns:a16="http://schemas.microsoft.com/office/drawing/2014/main" id="{D29C8E48-2543-44A0-9EE8-F6F80F79FE26}"/>
              </a:ext>
            </a:extLst>
          </p:cNvPr>
          <p:cNvSpPr>
            <a:spLocks xmlns:a="http://schemas.openxmlformats.org/drawingml/2006/main" noGrp="1"/>
          </p:cNvSpPr>
          <p:nvPr/>
        </p:nvSpPr>
        <p:spPr>
          <a:xfrm xmlns:a="http://schemas.openxmlformats.org/drawingml/2006/main">
            <a:off x="685800" y="1463040"/>
            <a:ext cx="10881360" cy="457200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On macOS (clang, default </a:t>
            </a:r>
            <a:r>
              <a:rPr sz="1700">
                <a:solidFill>
                  <a:srgbClr val="0B3D91"/>
                </a:solidFill>
                <a:latin typeface="Consolas"/>
                <a:ea typeface="Consolas"/>
                <a:cs typeface="Consolas"/>
              </a:rPr>
              <a:t>-ffp-contract</a:t>
            </a:r>
            <a:r>
              <a:rPr sz="1800">
                <a:solidFill>
                  <a:srgbClr val="1A1A1A"/>
                </a:solidFill>
                <a:latin typeface="Calibri"/>
                <a:ea typeface="Calibri"/>
                <a:cs typeface="Calibri"/>
              </a:rPr>
              <a:t>), the </a:t>
            </a:r>
            <a:r>
              <a:rPr sz="1800" b="1">
                <a:solidFill>
                  <a:srgbClr val="1F6FEB"/>
                </a:solidFill>
                <a:latin typeface="Calibri"/>
                <a:ea typeface="Calibri"/>
                <a:cs typeface="Calibri"/>
              </a:rPr>
              <a:t>baseline itself</a:t>
            </a:r>
            <a:r>
              <a:rPr sz="1800">
                <a:solidFill>
                  <a:srgbClr val="1A1A1A"/>
                </a:solidFill>
                <a:latin typeface="Calibri"/>
                <a:ea typeface="Calibri"/>
                <a:cs typeface="Calibri"/>
              </a:rPr>
              <a:t> generates </a:t>
            </a:r>
            <a:r>
              <a:rPr sz="1800" b="1">
                <a:solidFill>
                  <a:srgbClr val="1F6FEB"/>
                </a:solidFill>
                <a:latin typeface="Calibri"/>
                <a:ea typeface="Calibri"/>
                <a:cs typeface="Calibri"/>
              </a:rPr>
              <a:t>2232</a:t>
            </a:r>
            <a:r>
              <a:rPr sz="1800">
                <a:solidFill>
                  <a:srgbClr val="1A1A1A"/>
                </a:solidFill>
                <a:latin typeface="Calibri"/>
                <a:ea typeface="Calibri"/>
                <a:cs typeface="Calibri"/>
              </a:rPr>
              <a:t> particles; Python generates </a:t>
            </a:r>
            <a:r>
              <a:rPr sz="1800" b="1">
                <a:solidFill>
                  <a:srgbClr val="1F6FEB"/>
                </a:solidFill>
                <a:latin typeface="Calibri"/>
                <a:ea typeface="Calibri"/>
                <a:cs typeface="Calibri"/>
              </a:rPr>
              <a:t>2231</a:t>
            </a:r>
            <a:r>
              <a:rPr sz="1800">
                <a:solidFill>
                  <a:srgbClr val="1A1A1A"/>
                </a:solidFill>
                <a:latin typeface="Calibri"/>
                <a:ea typeface="Calibri"/>
                <a:cs typeface="Calibri"/>
              </a:rPr>
              <a:t>.</a:t>
            </a:r>
          </a:p>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Root cause: FMA contraction in the Mandelbrot loop changes 14 of 1.2 M cells; ONE cell (i=1157, j=489) crosses the selection threshold (2900).</a:t>
            </a:r>
          </a:p>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Fix/proof: </a:t>
            </a:r>
            <a:r>
              <a:rPr sz="1700">
                <a:solidFill>
                  <a:srgbClr val="0B3D91"/>
                </a:solidFill>
                <a:latin typeface="Consolas"/>
                <a:ea typeface="Consolas"/>
                <a:cs typeface="Consolas"/>
              </a:rPr>
              <a:t>-ffp-contract=off</a:t>
            </a:r>
            <a:r>
              <a:rPr sz="1800">
                <a:solidFill>
                  <a:srgbClr val="1A1A1A"/>
                </a:solidFill>
                <a:latin typeface="Calibri"/>
                <a:ea typeface="Calibri"/>
                <a:cs typeface="Calibri"/>
              </a:rPr>
              <a:t> → C++ matches Python </a:t>
            </a:r>
            <a:r>
              <a:rPr sz="1800" b="1">
                <a:solidFill>
                  <a:srgbClr val="1F6FEB"/>
                </a:solidFill>
                <a:latin typeface="Calibri"/>
                <a:ea typeface="Calibri"/>
                <a:cs typeface="Calibri"/>
              </a:rPr>
              <a:t>bitwise</a:t>
            </a:r>
            <a:r>
              <a:rPr sz="1800">
                <a:solidFill>
                  <a:srgbClr val="1A1A1A"/>
                </a:solidFill>
                <a:latin typeface="Calibri"/>
                <a:ea typeface="Calibri"/>
                <a:cs typeface="Calibri"/>
              </a:rPr>
              <a:t>.</a:t>
            </a:r>
          </a:p>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On Leonardo (gcc 12 + nvcc): all seven runnable programs agree at N = 2231.</a:t>
            </a:r>
          </a:p>
        </p:txBody>
      </p:sp>
      <p:sp>
        <p:nvSpPr>
          <p:cNvPr id="4" name="TextBox 3">
            <a:extLst xmlns:a="http://schemas.openxmlformats.org/drawingml/2006/main">
              <a:ext uri="{FF2B5EF4-FFF2-40B4-BE49-F238E27FC236}">
                <a16:creationId xmlns:a16="http://schemas.microsoft.com/office/drawing/2014/main" id="{9F2D142E-C8BC-4824-B513-586E4F1F0EE4}"/>
              </a:ext>
            </a:extLst>
          </p:cNvPr>
          <p:cNvSpPr>
            <a:spLocks xmlns:a="http://schemas.openxmlformats.org/drawingml/2006/main" noGrp="1"/>
          </p:cNvSpPr>
          <p:nvPr/>
        </p:nvSpPr>
        <p:spPr>
          <a:xfrm xmlns:a="http://schemas.openxmlformats.org/drawingml/2006/main">
            <a:off x="11292840" y="6455664"/>
            <a:ext cx="777240" cy="292608"/>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pPr>
            <a:r>
              <a:rPr sz="1000">
                <a:solidFill>
                  <a:srgbClr val="5A5A5A"/>
                </a:solidFill>
                <a:latin typeface="Calibri"/>
                <a:ea typeface="Calibri"/>
                <a:cs typeface="Calibri"/>
              </a:rPr>
              <a:t>7 / 19</a:t>
            </a:r>
          </a:p>
        </p:txBody>
      </p:sp>
    </p:spTree>
    <p:extLst>
      <p:ext uri="{BB962C8B-B14F-4D97-AF65-F5344CB8AC3E}">
        <p14:creationId xmlns:p14="http://schemas.microsoft.com/office/powerpoint/2010/main" val="81291928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BA6F27F-D282-480D-9667-CC6647EC0B78}"/>
              </a:ext>
            </a:extLst>
          </p:cNvPr>
          <p:cNvSpPr>
            <a:spLocks xmlns:a="http://schemas.openxmlformats.org/drawingml/2006/main" noGrp="1"/>
          </p:cNvSpPr>
          <p:nvPr/>
        </p:nvSpPr>
        <p:spPr>
          <a:xfrm xmlns:a="http://schemas.openxmlformats.org/drawingml/2006/main">
            <a:off x="640080" y="329184"/>
            <a:ext cx="10881360" cy="8686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3000" b="1">
                <a:solidFill>
                  <a:srgbClr val="1A1A1A"/>
                </a:solidFill>
                <a:latin typeface="Calibri"/>
                <a:ea typeface="Calibri"/>
                <a:cs typeface="Calibri"/>
              </a:rPr>
              <a:t>Benchmark setup (hardware / compilers / method)</a:t>
            </a:r>
          </a:p>
        </p:txBody>
      </p:sp>
      <p:sp>
        <p:nvSpPr>
          <p:cNvPr id="3" name="TextBox 2">
            <a:extLst xmlns:a="http://schemas.openxmlformats.org/drawingml/2006/main">
              <a:ext uri="{FF2B5EF4-FFF2-40B4-BE49-F238E27FC236}">
                <a16:creationId xmlns:a16="http://schemas.microsoft.com/office/drawing/2014/main" id="{8443F815-0810-4E16-B9C5-28F48CA789E8}"/>
              </a:ext>
            </a:extLst>
          </p:cNvPr>
          <p:cNvSpPr>
            <a:spLocks xmlns:a="http://schemas.openxmlformats.org/drawingml/2006/main" noGrp="1"/>
          </p:cNvSpPr>
          <p:nvPr/>
        </p:nvSpPr>
        <p:spPr>
          <a:xfrm xmlns:a="http://schemas.openxmlformats.org/drawingml/2006/main">
            <a:off x="685800" y="1417320"/>
            <a:ext cx="10881360" cy="47548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Leonardo Booster node: Xeon Platinum 8358 (32 cores) + </a:t>
            </a:r>
            <a:r>
              <a:rPr sz="1800" b="1">
                <a:solidFill>
                  <a:srgbClr val="1F6FEB"/>
                </a:solidFill>
                <a:latin typeface="Calibri"/>
                <a:ea typeface="Calibri"/>
                <a:cs typeface="Calibri"/>
              </a:rPr>
              <a:t>NVIDIA A100-SXM-64GB</a:t>
            </a:r>
            <a:r>
              <a:rPr sz="1800">
                <a:solidFill>
                  <a:srgbClr val="1A1A1A"/>
                </a:solidFill>
                <a:latin typeface="Calibri"/>
                <a:ea typeface="Calibri"/>
                <a:cs typeface="Calibri"/>
              </a:rPr>
              <a:t> (108 SMs, driver 535.274.02); MPI: up to 4 nodes / 128 ranks over Dragonfly+.</a:t>
            </a:r>
          </a:p>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Toolchain: gcc 12.2.0, CUDA 12.2 (nvcc, sm_80), cmake 3.27.9, hdf5 1.14.3, python 3.11.7, numpy 2.4.6, numba 0.65.1.</a:t>
            </a:r>
          </a:p>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Flags: </a:t>
            </a:r>
            <a:r>
              <a:rPr sz="1700">
                <a:solidFill>
                  <a:srgbClr val="0B3D91"/>
                </a:solidFill>
                <a:latin typeface="Consolas"/>
                <a:ea typeface="Consolas"/>
                <a:cs typeface="Consolas"/>
              </a:rPr>
              <a:t>-O3 -std=c++17</a:t>
            </a:r>
            <a:r>
              <a:rPr sz="1800">
                <a:solidFill>
                  <a:srgbClr val="1A1A1A"/>
                </a:solidFill>
                <a:latin typeface="Calibri"/>
                <a:ea typeface="Calibri"/>
                <a:cs typeface="Calibri"/>
              </a:rPr>
              <a:t> (+</a:t>
            </a:r>
            <a:r>
              <a:rPr sz="1700">
                <a:solidFill>
                  <a:srgbClr val="0B3D91"/>
                </a:solidFill>
                <a:latin typeface="Consolas"/>
                <a:ea typeface="Consolas"/>
                <a:cs typeface="Consolas"/>
              </a:rPr>
              <a:t>-fopenmp</a:t>
            </a:r>
            <a:r>
              <a:rPr sz="1800">
                <a:solidFill>
                  <a:srgbClr val="1A1A1A"/>
                </a:solidFill>
                <a:latin typeface="Calibri"/>
                <a:ea typeface="Calibri"/>
                <a:cs typeface="Calibri"/>
              </a:rPr>
              <a:t>); </a:t>
            </a:r>
            <a:r>
              <a:rPr sz="1800" b="1">
                <a:solidFill>
                  <a:srgbClr val="1F6FEB"/>
                </a:solidFill>
                <a:latin typeface="Calibri"/>
                <a:ea typeface="Calibri"/>
                <a:cs typeface="Calibri"/>
              </a:rPr>
              <a:t>no fast-math, no -march=native</a:t>
            </a:r>
            <a:r>
              <a:rPr sz="1800">
                <a:solidFill>
                  <a:srgbClr val="1A1A1A"/>
                </a:solidFill>
                <a:latin typeface="Calibri"/>
                <a:ea typeface="Calibri"/>
                <a:cs typeface="Calibri"/>
              </a:rPr>
              <a:t>.</a:t>
            </a:r>
          </a:p>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Method: benchmark mode = HDF5 </a:t>
            </a:r>
            <a:r>
              <a:rPr sz="1800" b="1">
                <a:solidFill>
                  <a:srgbClr val="1F6FEB"/>
                </a:solidFill>
                <a:latin typeface="Calibri"/>
                <a:ea typeface="Calibri"/>
                <a:cs typeface="Calibri"/>
              </a:rPr>
              <a:t>disabled</a:t>
            </a:r>
            <a:r>
              <a:rPr sz="1800">
                <a:solidFill>
                  <a:srgbClr val="1A1A1A"/>
                </a:solidFill>
                <a:latin typeface="Calibri"/>
                <a:ea typeface="Calibri"/>
                <a:cs typeface="Calibri"/>
              </a:rPr>
              <a:t> (</a:t>
            </a:r>
            <a:r>
              <a:rPr sz="1700">
                <a:solidFill>
                  <a:srgbClr val="0B3D91"/>
                </a:solidFill>
                <a:latin typeface="Consolas"/>
                <a:ea typeface="Consolas"/>
                <a:cs typeface="Consolas"/>
              </a:rPr>
              <a:t>none 0</a:t>
            </a:r>
            <a:r>
              <a:rPr sz="1800">
                <a:solidFill>
                  <a:srgbClr val="1A1A1A"/>
                </a:solidFill>
                <a:latin typeface="Calibri"/>
                <a:ea typeface="Calibri"/>
                <a:cs typeface="Calibri"/>
              </a:rPr>
              <a:t>); metric = "pure dynamics" time (excludes JIT warm-up &amp; I/O); </a:t>
            </a:r>
            <a:r>
              <a:rPr sz="1800" b="1">
                <a:solidFill>
                  <a:srgbClr val="1F6FEB"/>
                </a:solidFill>
                <a:latin typeface="Calibri"/>
                <a:ea typeface="Calibri"/>
                <a:cs typeface="Calibri"/>
              </a:rPr>
              <a:t>median of 3 runs</a:t>
            </a:r>
            <a:r>
              <a:rPr sz="1800">
                <a:solidFill>
                  <a:srgbClr val="1A1A1A"/>
                </a:solidFill>
                <a:latin typeface="Calibri"/>
                <a:ea typeface="Calibri"/>
                <a:cs typeface="Calibri"/>
              </a:rPr>
              <a:t>; threads pinned (</a:t>
            </a:r>
            <a:r>
              <a:rPr sz="1700">
                <a:solidFill>
                  <a:srgbClr val="0B3D91"/>
                </a:solidFill>
                <a:latin typeface="Consolas"/>
                <a:ea typeface="Consolas"/>
                <a:cs typeface="Consolas"/>
              </a:rPr>
              <a:t>OMP_PROC_BIND=close, OMP_PLACES=cores</a:t>
            </a:r>
            <a:r>
              <a:rPr sz="1800">
                <a:solidFill>
                  <a:srgbClr val="1A1A1A"/>
                </a:solidFill>
                <a:latin typeface="Calibri"/>
                <a:ea typeface="Calibri"/>
                <a:cs typeface="Calibri"/>
              </a:rPr>
              <a:t>).</a:t>
            </a:r>
          </a:p>
        </p:txBody>
      </p:sp>
      <p:sp>
        <p:nvSpPr>
          <p:cNvPr id="4" name="TextBox 3">
            <a:extLst xmlns:a="http://schemas.openxmlformats.org/drawingml/2006/main">
              <a:ext uri="{FF2B5EF4-FFF2-40B4-BE49-F238E27FC236}">
                <a16:creationId xmlns:a16="http://schemas.microsoft.com/office/drawing/2014/main" id="{59AC166B-558C-430E-A0F7-F2C4E8ADD65D}"/>
              </a:ext>
            </a:extLst>
          </p:cNvPr>
          <p:cNvSpPr>
            <a:spLocks xmlns:a="http://schemas.openxmlformats.org/drawingml/2006/main" noGrp="1"/>
          </p:cNvSpPr>
          <p:nvPr/>
        </p:nvSpPr>
        <p:spPr>
          <a:xfrm xmlns:a="http://schemas.openxmlformats.org/drawingml/2006/main">
            <a:off x="11292840" y="6455664"/>
            <a:ext cx="777240" cy="292608"/>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pPr>
            <a:r>
              <a:rPr sz="1000">
                <a:solidFill>
                  <a:srgbClr val="5A5A5A"/>
                </a:solidFill>
                <a:latin typeface="Calibri"/>
                <a:ea typeface="Calibri"/>
                <a:cs typeface="Calibri"/>
              </a:rPr>
              <a:t>8 / 19</a:t>
            </a:r>
          </a:p>
        </p:txBody>
      </p:sp>
    </p:spTree>
    <p:extLst>
      <p:ext uri="{BB962C8B-B14F-4D97-AF65-F5344CB8AC3E}">
        <p14:creationId xmlns:p14="http://schemas.microsoft.com/office/powerpoint/2010/main" val="15673420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AE5355A-A5DD-4259-A7EC-E4C0C08F8BFA}"/>
              </a:ext>
            </a:extLst>
          </p:cNvPr>
          <p:cNvSpPr>
            <a:spLocks xmlns:a="http://schemas.openxmlformats.org/drawingml/2006/main" noGrp="1"/>
          </p:cNvSpPr>
          <p:nvPr/>
        </p:nvSpPr>
        <p:spPr>
          <a:xfrm xmlns:a="http://schemas.openxmlformats.org/drawingml/2006/main">
            <a:off x="640080" y="329184"/>
            <a:ext cx="10881360" cy="8686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3000" b="1">
                <a:solidFill>
                  <a:srgbClr val="1A1A1A"/>
                </a:solidFill>
                <a:latin typeface="Calibri"/>
                <a:ea typeface="Calibri"/>
                <a:cs typeface="Calibri"/>
              </a:rPr>
              <a:t>OpenMP: what was parallelized</a:t>
            </a:r>
          </a:p>
        </p:txBody>
      </p:sp>
      <p:sp>
        <p:nvSpPr>
          <p:cNvPr id="3" name="TextBox 2">
            <a:extLst xmlns:a="http://schemas.openxmlformats.org/drawingml/2006/main">
              <a:ext uri="{FF2B5EF4-FFF2-40B4-BE49-F238E27FC236}">
                <a16:creationId xmlns:a16="http://schemas.microsoft.com/office/drawing/2014/main" id="{F4E8C841-AACC-41D6-AF52-B6CDD400B396}"/>
              </a:ext>
            </a:extLst>
          </p:cNvPr>
          <p:cNvSpPr>
            <a:spLocks xmlns:a="http://schemas.openxmlformats.org/drawingml/2006/main" noGrp="1"/>
          </p:cNvSpPr>
          <p:nvPr/>
        </p:nvSpPr>
        <p:spPr>
          <a:xfrm xmlns:a="http://schemas.openxmlformats.org/drawingml/2006/main">
            <a:off x="685800" y="1554480"/>
            <a:ext cx="10881360" cy="420624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285750" indent="-285750" algn="l">
              <a:lnSpc>
                <a:spcPct val="104000"/>
              </a:lnSpc>
              <a:spcAft>
                <a:spcPts val="800"/>
              </a:spcAft>
              <a:buClr>
                <a:srgbClr val="1F6FEB"/>
              </a:buClr>
              <a:buFont typeface="Arial"/>
              <a:buChar char="•"/>
            </a:pPr>
            <a:r>
              <a:rPr sz="1700">
                <a:solidFill>
                  <a:srgbClr val="0B3D91"/>
                </a:solidFill>
                <a:latin typeface="Consolas"/>
                <a:ea typeface="Consolas"/>
                <a:cs typeface="Consolas"/>
              </a:rPr>
              <a:t>#pragma omp parallel for schedule(static)</a:t>
            </a:r>
            <a:r>
              <a:rPr sz="1800">
                <a:solidFill>
                  <a:srgbClr val="1A1A1A"/>
                </a:solidFill>
                <a:latin typeface="Calibri"/>
                <a:ea typeface="Calibri"/>
                <a:cs typeface="Calibri"/>
              </a:rPr>
              <a:t> on: force outer loop, both Verlet half-kick loops, Mandelbrot rows (</a:t>
            </a:r>
            <a:r>
              <a:rPr sz="1700">
                <a:solidFill>
                  <a:srgbClr val="0B3D91"/>
                </a:solidFill>
                <a:latin typeface="Consolas"/>
                <a:ea typeface="Consolas"/>
                <a:cs typeface="Consolas"/>
              </a:rPr>
              <a:t>collapse(2)</a:t>
            </a:r>
            <a:r>
              <a:rPr sz="1800">
                <a:solidFill>
                  <a:srgbClr val="1A1A1A"/>
                </a:solidFill>
                <a:latin typeface="Calibri"/>
                <a:ea typeface="Calibri"/>
                <a:cs typeface="Calibri"/>
              </a:rPr>
              <a:t>).</a:t>
            </a:r>
          </a:p>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Validation reductions: </a:t>
            </a:r>
            <a:r>
              <a:rPr sz="1700">
                <a:solidFill>
                  <a:srgbClr val="0B3D91"/>
                </a:solidFill>
                <a:latin typeface="Consolas"/>
                <a:ea typeface="Consolas"/>
                <a:cs typeface="Consolas"/>
              </a:rPr>
              <a:t>reduction(+:…)</a:t>
            </a:r>
            <a:r>
              <a:rPr sz="1800">
                <a:solidFill>
                  <a:srgbClr val="1A1A1A"/>
                </a:solidFill>
                <a:latin typeface="Calibri"/>
                <a:ea typeface="Calibri"/>
                <a:cs typeface="Calibri"/>
              </a:rPr>
              <a:t> incl. the O(N²) potential.</a:t>
            </a:r>
          </a:p>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Each thread writes only its own fx[i]/fy[i] → race-free by construction, inner order untouched → bitwise result for ANY thread count.</a:t>
            </a:r>
          </a:p>
        </p:txBody>
      </p:sp>
      <p:sp>
        <p:nvSpPr>
          <p:cNvPr id="4" name="TextBox 3">
            <a:extLst xmlns:a="http://schemas.openxmlformats.org/drawingml/2006/main">
              <a:ext uri="{FF2B5EF4-FFF2-40B4-BE49-F238E27FC236}">
                <a16:creationId xmlns:a16="http://schemas.microsoft.com/office/drawing/2014/main" id="{A0D45335-A6B2-467D-BCDE-83EF3DE5844C}"/>
              </a:ext>
            </a:extLst>
          </p:cNvPr>
          <p:cNvSpPr>
            <a:spLocks xmlns:a="http://schemas.openxmlformats.org/drawingml/2006/main" noGrp="1"/>
          </p:cNvSpPr>
          <p:nvPr/>
        </p:nvSpPr>
        <p:spPr>
          <a:xfrm xmlns:a="http://schemas.openxmlformats.org/drawingml/2006/main">
            <a:off x="11292840" y="6455664"/>
            <a:ext cx="777240" cy="292608"/>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pPr>
            <a:r>
              <a:rPr sz="1000">
                <a:solidFill>
                  <a:srgbClr val="5A5A5A"/>
                </a:solidFill>
                <a:latin typeface="Calibri"/>
                <a:ea typeface="Calibri"/>
                <a:cs typeface="Calibri"/>
              </a:rPr>
              <a:t>9 / 19</a:t>
            </a:r>
          </a:p>
        </p:txBody>
      </p:sp>
    </p:spTree>
    <p:extLst>
      <p:ext uri="{BB962C8B-B14F-4D97-AF65-F5344CB8AC3E}">
        <p14:creationId xmlns:p14="http://schemas.microsoft.com/office/powerpoint/2010/main" val="204720787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DE24C68-56A2-431B-A05D-E383C74E5741}"/>
              </a:ext>
            </a:extLst>
          </p:cNvPr>
          <p:cNvSpPr>
            <a:spLocks xmlns:a="http://schemas.openxmlformats.org/drawingml/2006/main" noGrp="1"/>
          </p:cNvSpPr>
          <p:nvPr/>
        </p:nvSpPr>
        <p:spPr>
          <a:xfrm xmlns:a="http://schemas.openxmlformats.org/drawingml/2006/main">
            <a:off x="640080" y="329184"/>
            <a:ext cx="10881360" cy="8686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3000" b="1">
                <a:solidFill>
                  <a:srgbClr val="1A1A1A"/>
                </a:solidFill>
                <a:latin typeface="Calibri"/>
                <a:ea typeface="Calibri"/>
                <a:cs typeface="Calibri"/>
              </a:rPr>
              <a:t>OpenMP strong scaling</a:t>
            </a:r>
          </a:p>
        </p:txBody>
      </p:sp>
      <p:graphicFrame>
        <p:nvGraphicFramePr>
          <p:cNvPr id="13" name="Table 2"/>
          <p:cNvGraphicFramePr/>
          <p:nvPr/>
        </p:nvGraphicFramePr>
        <p:xfrm>
          <a:off xmlns:a="http://schemas.openxmlformats.org/drawingml/2006/main" x="640080" y="2011680"/>
          <a:ext xmlns:a="http://schemas.openxmlformats.org/drawingml/2006/main" cx="3977640" cy="2852928"/>
        </p:xfrm>
        <a:graphic xmlns:a="http://schemas.openxmlformats.org/drawingml/2006/main">
          <a:graphicData uri="http://schemas.openxmlformats.org/drawingml/2006/table">
            <a:tbl>
              <a:tblPr firstRow="0" firstCol="0" lastRow="0" lastCol="0" bandRow="0" bandCol="0"/>
              <a:tblGrid>
                <a:gridCol w="1143000"/>
                <a:gridCol w="1371600"/>
                <a:gridCol w="1463040"/>
              </a:tblGrid>
              <a:tr h="475488">
                <a:tc>
                  <a:txBody>
                    <a:bodyPr wrap="square"/>
                    <a:lstStyle/>
                    <a:p>
                      <a:pPr algn="ctr">
                        <a:buNone/>
                      </a:pPr>
                      <a:r>
                        <a:rPr sz="1350" b="1">
                          <a:solidFill>
                            <a:srgbClr val="FFFFFF"/>
                          </a:solidFill>
                          <a:latin typeface="Calibri"/>
                          <a:ea typeface="Calibri"/>
                          <a:cs typeface="Calibri"/>
                        </a:rPr>
                        <a:t>Threads</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1F6FEB"/>
                    </a:solidFill>
                  </a:tcPr>
                </a:tc>
                <a:tc>
                  <a:txBody>
                    <a:bodyPr wrap="square"/>
                    <a:lstStyle/>
                    <a:p>
                      <a:pPr algn="ctr">
                        <a:buNone/>
                      </a:pPr>
                      <a:r>
                        <a:rPr sz="1350" b="1">
                          <a:solidFill>
                            <a:srgbClr val="FFFFFF"/>
                          </a:solidFill>
                          <a:latin typeface="Calibri"/>
                          <a:ea typeface="Calibri"/>
                          <a:cs typeface="Calibri"/>
                        </a:rPr>
                        <a:t>Speed-up</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1F6FEB"/>
                    </a:solidFill>
                  </a:tcPr>
                </a:tc>
                <a:tc>
                  <a:txBody>
                    <a:bodyPr wrap="square"/>
                    <a:lstStyle/>
                    <a:p>
                      <a:pPr algn="ctr">
                        <a:buNone/>
                      </a:pPr>
                      <a:r>
                        <a:rPr sz="1350" b="1">
                          <a:solidFill>
                            <a:srgbClr val="FFFFFF"/>
                          </a:solidFill>
                          <a:latin typeface="Calibri"/>
                          <a:ea typeface="Calibri"/>
                          <a:cs typeface="Calibri"/>
                        </a:rPr>
                        <a:t>Efficiency</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1F6FEB"/>
                    </a:solidFill>
                  </a:tcPr>
                </a:tc>
              </a:tr>
              <a:tr h="475488">
                <a:tc>
                  <a:txBody>
                    <a:bodyPr wrap="square"/>
                    <a:lstStyle/>
                    <a:p>
                      <a:pPr algn="r">
                        <a:buNone/>
                      </a:pPr>
                      <a:r>
                        <a:rPr sz="1400" b="0">
                          <a:solidFill>
                            <a:srgbClr val="1A1A1A"/>
                          </a:solidFill>
                          <a:latin typeface="Calibri"/>
                          <a:ea typeface="Calibri"/>
                          <a:cs typeface="Calibri"/>
                        </a:rPr>
                        <a:t>2</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FFFFF"/>
                    </a:solidFill>
                  </a:tcPr>
                </a:tc>
                <a:tc>
                  <a:txBody>
                    <a:bodyPr wrap="square"/>
                    <a:lstStyle/>
                    <a:p>
                      <a:pPr algn="r">
                        <a:buNone/>
                      </a:pPr>
                      <a:r>
                        <a:rPr sz="1400" b="0">
                          <a:solidFill>
                            <a:srgbClr val="1A1A1A"/>
                          </a:solidFill>
                          <a:latin typeface="Calibri"/>
                          <a:ea typeface="Calibri"/>
                          <a:cs typeface="Calibri"/>
                        </a:rPr>
                        <a:t>2.00×</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FFFFF"/>
                    </a:solidFill>
                  </a:tcPr>
                </a:tc>
                <a:tc>
                  <a:txBody>
                    <a:bodyPr wrap="square"/>
                    <a:lstStyle/>
                    <a:p>
                      <a:pPr algn="r">
                        <a:buNone/>
                      </a:pPr>
                      <a:r>
                        <a:rPr sz="1400" b="0">
                          <a:solidFill>
                            <a:srgbClr val="1A1A1A"/>
                          </a:solidFill>
                          <a:latin typeface="Calibri"/>
                          <a:ea typeface="Calibri"/>
                          <a:cs typeface="Calibri"/>
                        </a:rPr>
                        <a:t>100%</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FFFFF"/>
                    </a:solidFill>
                  </a:tcPr>
                </a:tc>
              </a:tr>
              <a:tr h="475488">
                <a:tc>
                  <a:txBody>
                    <a:bodyPr wrap="square"/>
                    <a:lstStyle/>
                    <a:p>
                      <a:pPr algn="r">
                        <a:buNone/>
                      </a:pPr>
                      <a:r>
                        <a:rPr sz="1400" b="0">
                          <a:solidFill>
                            <a:srgbClr val="1A1A1A"/>
                          </a:solidFill>
                          <a:latin typeface="Calibri"/>
                          <a:ea typeface="Calibri"/>
                          <a:cs typeface="Calibri"/>
                        </a:rPr>
                        <a:t>4</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5F8FC"/>
                    </a:solidFill>
                  </a:tcPr>
                </a:tc>
                <a:tc>
                  <a:txBody>
                    <a:bodyPr wrap="square"/>
                    <a:lstStyle/>
                    <a:p>
                      <a:pPr algn="r">
                        <a:buNone/>
                      </a:pPr>
                      <a:r>
                        <a:rPr sz="1400" b="0">
                          <a:solidFill>
                            <a:srgbClr val="1A1A1A"/>
                          </a:solidFill>
                          <a:latin typeface="Calibri"/>
                          <a:ea typeface="Calibri"/>
                          <a:cs typeface="Calibri"/>
                        </a:rPr>
                        <a:t>3.99×</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5F8FC"/>
                    </a:solidFill>
                  </a:tcPr>
                </a:tc>
                <a:tc>
                  <a:txBody>
                    <a:bodyPr wrap="square"/>
                    <a:lstStyle/>
                    <a:p>
                      <a:pPr algn="r">
                        <a:buNone/>
                      </a:pPr>
                      <a:r>
                        <a:rPr sz="1400" b="0">
                          <a:solidFill>
                            <a:srgbClr val="1A1A1A"/>
                          </a:solidFill>
                          <a:latin typeface="Calibri"/>
                          <a:ea typeface="Calibri"/>
                          <a:cs typeface="Calibri"/>
                        </a:rPr>
                        <a:t>100%</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5F8FC"/>
                    </a:solidFill>
                  </a:tcPr>
                </a:tc>
              </a:tr>
              <a:tr h="475488">
                <a:tc>
                  <a:txBody>
                    <a:bodyPr wrap="square"/>
                    <a:lstStyle/>
                    <a:p>
                      <a:pPr algn="r">
                        <a:buNone/>
                      </a:pPr>
                      <a:r>
                        <a:rPr sz="1400" b="0">
                          <a:solidFill>
                            <a:srgbClr val="1A1A1A"/>
                          </a:solidFill>
                          <a:latin typeface="Calibri"/>
                          <a:ea typeface="Calibri"/>
                          <a:cs typeface="Calibri"/>
                        </a:rPr>
                        <a:t>8</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FFFFF"/>
                    </a:solidFill>
                  </a:tcPr>
                </a:tc>
                <a:tc>
                  <a:txBody>
                    <a:bodyPr wrap="square"/>
                    <a:lstStyle/>
                    <a:p>
                      <a:pPr algn="r">
                        <a:buNone/>
                      </a:pPr>
                      <a:r>
                        <a:rPr sz="1400" b="0">
                          <a:solidFill>
                            <a:srgbClr val="1A1A1A"/>
                          </a:solidFill>
                          <a:latin typeface="Calibri"/>
                          <a:ea typeface="Calibri"/>
                          <a:cs typeface="Calibri"/>
                        </a:rPr>
                        <a:t>7.97×</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FFFFF"/>
                    </a:solidFill>
                  </a:tcPr>
                </a:tc>
                <a:tc>
                  <a:txBody>
                    <a:bodyPr wrap="square"/>
                    <a:lstStyle/>
                    <a:p>
                      <a:pPr algn="r">
                        <a:buNone/>
                      </a:pPr>
                      <a:r>
                        <a:rPr sz="1400" b="0">
                          <a:solidFill>
                            <a:srgbClr val="1A1A1A"/>
                          </a:solidFill>
                          <a:latin typeface="Calibri"/>
                          <a:ea typeface="Calibri"/>
                          <a:cs typeface="Calibri"/>
                        </a:rPr>
                        <a:t>100%</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FFFFF"/>
                    </a:solidFill>
                  </a:tcPr>
                </a:tc>
              </a:tr>
              <a:tr h="475488">
                <a:tc>
                  <a:txBody>
                    <a:bodyPr wrap="square"/>
                    <a:lstStyle/>
                    <a:p>
                      <a:pPr algn="r">
                        <a:buNone/>
                      </a:pPr>
                      <a:r>
                        <a:rPr sz="1400" b="0">
                          <a:solidFill>
                            <a:srgbClr val="1A1A1A"/>
                          </a:solidFill>
                          <a:latin typeface="Calibri"/>
                          <a:ea typeface="Calibri"/>
                          <a:cs typeface="Calibri"/>
                        </a:rPr>
                        <a:t>16</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5F8FC"/>
                    </a:solidFill>
                  </a:tcPr>
                </a:tc>
                <a:tc>
                  <a:txBody>
                    <a:bodyPr wrap="square"/>
                    <a:lstStyle/>
                    <a:p>
                      <a:pPr algn="r">
                        <a:buNone/>
                      </a:pPr>
                      <a:r>
                        <a:rPr sz="1400" b="0">
                          <a:solidFill>
                            <a:srgbClr val="1A1A1A"/>
                          </a:solidFill>
                          <a:latin typeface="Calibri"/>
                          <a:ea typeface="Calibri"/>
                          <a:cs typeface="Calibri"/>
                        </a:rPr>
                        <a:t>15.31×</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5F8FC"/>
                    </a:solidFill>
                  </a:tcPr>
                </a:tc>
                <a:tc>
                  <a:txBody>
                    <a:bodyPr wrap="square"/>
                    <a:lstStyle/>
                    <a:p>
                      <a:pPr algn="r">
                        <a:buNone/>
                      </a:pPr>
                      <a:r>
                        <a:rPr sz="1400" b="0">
                          <a:solidFill>
                            <a:srgbClr val="1A1A1A"/>
                          </a:solidFill>
                          <a:latin typeface="Calibri"/>
                          <a:ea typeface="Calibri"/>
                          <a:cs typeface="Calibri"/>
                        </a:rPr>
                        <a:t>96%</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5F8FC"/>
                    </a:solidFill>
                  </a:tcPr>
                </a:tc>
              </a:tr>
              <a:tr h="475488">
                <a:tc>
                  <a:txBody>
                    <a:bodyPr wrap="square"/>
                    <a:lstStyle/>
                    <a:p>
                      <a:pPr algn="r">
                        <a:buNone/>
                      </a:pPr>
                      <a:r>
                        <a:rPr sz="1400" b="1">
                          <a:solidFill>
                            <a:srgbClr val="1F6FEB"/>
                          </a:solidFill>
                          <a:latin typeface="Calibri"/>
                          <a:ea typeface="Calibri"/>
                          <a:cs typeface="Calibri"/>
                        </a:rPr>
                        <a:t>32</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E1ECFF"/>
                    </a:solidFill>
                  </a:tcPr>
                </a:tc>
                <a:tc>
                  <a:txBody>
                    <a:bodyPr wrap="square"/>
                    <a:lstStyle/>
                    <a:p>
                      <a:pPr algn="r">
                        <a:buNone/>
                      </a:pPr>
                      <a:r>
                        <a:rPr sz="1400" b="1">
                          <a:solidFill>
                            <a:srgbClr val="1F6FEB"/>
                          </a:solidFill>
                          <a:latin typeface="Calibri"/>
                          <a:ea typeface="Calibri"/>
                          <a:cs typeface="Calibri"/>
                        </a:rPr>
                        <a:t>29.20×</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E1ECFF"/>
                    </a:solidFill>
                  </a:tcPr>
                </a:tc>
                <a:tc>
                  <a:txBody>
                    <a:bodyPr wrap="square"/>
                    <a:lstStyle/>
                    <a:p>
                      <a:pPr algn="r">
                        <a:buNone/>
                      </a:pPr>
                      <a:r>
                        <a:rPr sz="1400" b="1">
                          <a:solidFill>
                            <a:srgbClr val="1F6FEB"/>
                          </a:solidFill>
                          <a:latin typeface="Calibri"/>
                          <a:ea typeface="Calibri"/>
                          <a:cs typeface="Calibri"/>
                        </a:rPr>
                        <a:t>91%</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E1ECFF"/>
                    </a:solidFill>
                  </a:tcPr>
                </a:tc>
              </a:tr>
            </a:tbl>
          </a:graphicData>
        </a:graphic>
      </p:graphicFrame>
      <p:pic>
        <p:nvPicPr>
          <p:cNvPr id="14" name="Picture 3"/>
          <p:cNvPicPr>
            <a:picLocks xmlns:a="http://schemas.openxmlformats.org/drawingml/2006/main" noChangeAspect="1"/>
          </p:cNvPicPr>
          <p:nvPr/>
        </p:nvPicPr>
        <p:blipFill>
          <a:blip xmlns:r="http://schemas.openxmlformats.org/officeDocument/2006/relationships" xmlns:a="http://schemas.openxmlformats.org/drawingml/2006/main" r:embed="R1c0554b55c464d30"/>
          <a:stretch xmlns:a="http://schemas.openxmlformats.org/drawingml/2006/main">
            <a:fillRect l="0" t="0" r="0" b="0"/>
          </a:stretch>
        </p:blipFill>
        <p:spPr>
          <a:xfrm xmlns:a="http://schemas.openxmlformats.org/drawingml/2006/main">
            <a:off x="4892040" y="2514600"/>
            <a:ext cx="3429000" cy="2286000"/>
          </a:xfrm>
          <a:prstGeom xmlns:a="http://schemas.openxmlformats.org/drawingml/2006/main" prst="rect">
            <a:avLst/>
          </a:prstGeom>
        </p:spPr>
      </p:pic>
      <p:pic>
        <p:nvPicPr>
          <p:cNvPr id="15" name="Picture 4"/>
          <p:cNvPicPr>
            <a:picLocks xmlns:a="http://schemas.openxmlformats.org/drawingml/2006/main" noChangeAspect="1"/>
          </p:cNvPicPr>
          <p:nvPr/>
        </p:nvPicPr>
        <p:blipFill>
          <a:blip xmlns:r="http://schemas.openxmlformats.org/officeDocument/2006/relationships" xmlns:a="http://schemas.openxmlformats.org/drawingml/2006/main" r:embed="Rf65007caf1bb42c4"/>
          <a:stretch xmlns:a="http://schemas.openxmlformats.org/drawingml/2006/main">
            <a:fillRect l="0" t="0" r="0" b="0"/>
          </a:stretch>
        </p:blipFill>
        <p:spPr>
          <a:xfrm xmlns:a="http://schemas.openxmlformats.org/drawingml/2006/main">
            <a:off x="8412480" y="2514600"/>
            <a:ext cx="3429000" cy="2286000"/>
          </a:xfrm>
          <a:prstGeom xmlns:a="http://schemas.openxmlformats.org/drawingml/2006/main" prst="rect">
            <a:avLst/>
          </a:prstGeom>
        </p:spPr>
      </p:pic>
      <p:sp>
        <p:nvSpPr>
          <p:cNvPr id="6" name="TextBox 5">
            <a:extLst xmlns:a="http://schemas.openxmlformats.org/drawingml/2006/main">
              <a:ext uri="{FF2B5EF4-FFF2-40B4-BE49-F238E27FC236}">
                <a16:creationId xmlns:a16="http://schemas.microsoft.com/office/drawing/2014/main" id="{03560B50-4588-4C97-B9B8-B05D3ACD0CC3}"/>
              </a:ext>
            </a:extLst>
          </p:cNvPr>
          <p:cNvSpPr>
            <a:spLocks xmlns:a="http://schemas.openxmlformats.org/drawingml/2006/main" noGrp="1"/>
          </p:cNvSpPr>
          <p:nvPr/>
        </p:nvSpPr>
        <p:spPr>
          <a:xfrm xmlns:a="http://schemas.openxmlformats.org/drawingml/2006/main">
            <a:off x="4892040" y="5742432"/>
            <a:ext cx="3429000" cy="27432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ctr">
              <a:buNone/>
            </a:pPr>
            <a:r>
              <a:rPr sz="1100" i="1">
                <a:solidFill>
                  <a:srgbClr val="5A5A5A"/>
                </a:solidFill>
                <a:latin typeface="Calibri"/>
                <a:ea typeface="Calibri"/>
                <a:cs typeface="Calibri"/>
              </a:rPr>
              <a:t>Speed-up vs threads</a:t>
            </a:r>
          </a:p>
        </p:txBody>
      </p:sp>
      <p:sp>
        <p:nvSpPr>
          <p:cNvPr id="7" name="TextBox 6">
            <a:extLst xmlns:a="http://schemas.openxmlformats.org/drawingml/2006/main">
              <a:ext uri="{FF2B5EF4-FFF2-40B4-BE49-F238E27FC236}">
                <a16:creationId xmlns:a16="http://schemas.microsoft.com/office/drawing/2014/main" id="{A8537CF3-47D5-4ED4-9D0A-8D9C3F089F30}"/>
              </a:ext>
            </a:extLst>
          </p:cNvPr>
          <p:cNvSpPr>
            <a:spLocks xmlns:a="http://schemas.openxmlformats.org/drawingml/2006/main" noGrp="1"/>
          </p:cNvSpPr>
          <p:nvPr/>
        </p:nvSpPr>
        <p:spPr>
          <a:xfrm xmlns:a="http://schemas.openxmlformats.org/drawingml/2006/main">
            <a:off x="8412480" y="5742432"/>
            <a:ext cx="3429000" cy="27432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ctr">
              <a:buNone/>
            </a:pPr>
            <a:r>
              <a:rPr sz="1100" i="1">
                <a:solidFill>
                  <a:srgbClr val="5A5A5A"/>
                </a:solidFill>
                <a:latin typeface="Calibri"/>
                <a:ea typeface="Calibri"/>
                <a:cs typeface="Calibri"/>
              </a:rPr>
              <a:t>Parallel efficiency vs threads</a:t>
            </a:r>
          </a:p>
        </p:txBody>
      </p:sp>
      <p:sp>
        <p:nvSpPr>
          <p:cNvPr id="8" name="TextBox 7">
            <a:extLst xmlns:a="http://schemas.openxmlformats.org/drawingml/2006/main">
              <a:ext uri="{FF2B5EF4-FFF2-40B4-BE49-F238E27FC236}">
                <a16:creationId xmlns:a16="http://schemas.microsoft.com/office/drawing/2014/main" id="{CF408E77-A5AD-46FC-9D2B-08404CC4576C}"/>
              </a:ext>
            </a:extLst>
          </p:cNvPr>
          <p:cNvSpPr>
            <a:spLocks xmlns:a="http://schemas.openxmlformats.org/drawingml/2006/main" noGrp="1"/>
          </p:cNvSpPr>
          <p:nvPr/>
        </p:nvSpPr>
        <p:spPr>
          <a:xfrm xmlns:a="http://schemas.openxmlformats.org/drawingml/2006/main">
            <a:off x="11292840" y="6455664"/>
            <a:ext cx="777240" cy="292608"/>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pPr>
            <a:r>
              <a:rPr sz="1000">
                <a:solidFill>
                  <a:srgbClr val="5A5A5A"/>
                </a:solidFill>
                <a:latin typeface="Calibri"/>
                <a:ea typeface="Calibri"/>
                <a:cs typeface="Calibri"/>
              </a:rPr>
              <a:t>10 / 19</a:t>
            </a:r>
          </a:p>
        </p:txBody>
      </p:sp>
    </p:spTree>
    <p:extLst>
      <p:ext uri="{BB962C8B-B14F-4D97-AF65-F5344CB8AC3E}">
        <p14:creationId xmlns:p14="http://schemas.microsoft.com/office/powerpoint/2010/main" val="137681235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4ABE7BC-01E4-4198-AD72-C11A7888ECAD}"/>
              </a:ext>
            </a:extLst>
          </p:cNvPr>
          <p:cNvSpPr>
            <a:spLocks xmlns:a="http://schemas.openxmlformats.org/drawingml/2006/main" noGrp="1"/>
          </p:cNvSpPr>
          <p:nvPr/>
        </p:nvSpPr>
        <p:spPr>
          <a:xfrm xmlns:a="http://schemas.openxmlformats.org/drawingml/2006/main">
            <a:off x="640080" y="329184"/>
            <a:ext cx="10881360" cy="8686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3000" b="1">
                <a:solidFill>
                  <a:srgbClr val="1A1A1A"/>
                </a:solidFill>
                <a:latin typeface="Calibri"/>
                <a:ea typeface="Calibri"/>
                <a:cs typeface="Calibri"/>
              </a:rPr>
              <a:t>Amdahl's law fit</a:t>
            </a:r>
          </a:p>
        </p:txBody>
      </p:sp>
      <p:sp>
        <p:nvSpPr>
          <p:cNvPr id="3" name="TextBox 2">
            <a:extLst xmlns:a="http://schemas.openxmlformats.org/drawingml/2006/main">
              <a:ext uri="{FF2B5EF4-FFF2-40B4-BE49-F238E27FC236}">
                <a16:creationId xmlns:a16="http://schemas.microsoft.com/office/drawing/2014/main" id="{B84C9F08-8007-4E81-839D-3F5CC82DCA7A}"/>
              </a:ext>
            </a:extLst>
          </p:cNvPr>
          <p:cNvSpPr>
            <a:spLocks xmlns:a="http://schemas.openxmlformats.org/drawingml/2006/main" noGrp="1"/>
          </p:cNvSpPr>
          <p:nvPr/>
        </p:nvSpPr>
        <p:spPr>
          <a:xfrm xmlns:a="http://schemas.openxmlformats.org/drawingml/2006/main">
            <a:off x="685800" y="1600200"/>
            <a:ext cx="5486400" cy="420624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Least-squares fit of 1/S vs 1/p over p = 1…32.</a:t>
            </a:r>
          </a:p>
          <a:p xmlns:a="http://schemas.openxmlformats.org/drawingml/2006/main">
            <a:pPr marL="285750" indent="-285750" algn="l">
              <a:lnSpc>
                <a:spcPct val="104000"/>
              </a:lnSpc>
              <a:spcAft>
                <a:spcPts val="800"/>
              </a:spcAft>
              <a:buClr>
                <a:srgbClr val="1F6FEB"/>
              </a:buClr>
              <a:buFont typeface="Arial"/>
              <a:buChar char="•"/>
            </a:pPr>
            <a:r>
              <a:rPr sz="1800" b="1">
                <a:solidFill>
                  <a:srgbClr val="1F6FEB"/>
                </a:solidFill>
                <a:latin typeface="Calibri"/>
                <a:ea typeface="Calibri"/>
                <a:cs typeface="Calibri"/>
              </a:rPr>
              <a:t>Serial fraction ≈ 0.21% → speedup ceiling ≈ 480×.</a:t>
            </a:r>
          </a:p>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Measured points match the model within ~3% at every p.</a:t>
            </a:r>
          </a:p>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The 32-core node exploits only ~6% of the parallel headroom → the algorithm scales far beyond one CPU (motivates GPU + MPI).</a:t>
            </a:r>
          </a:p>
        </p:txBody>
      </p:sp>
      <p:pic>
        <p:nvPicPr>
          <p:cNvPr id="9" name="Picture 3"/>
          <p:cNvPicPr>
            <a:picLocks xmlns:a="http://schemas.openxmlformats.org/drawingml/2006/main" noChangeAspect="1"/>
          </p:cNvPicPr>
          <p:nvPr/>
        </p:nvPicPr>
        <p:blipFill>
          <a:blip xmlns:r="http://schemas.openxmlformats.org/officeDocument/2006/relationships" xmlns:a="http://schemas.openxmlformats.org/drawingml/2006/main" r:embed="Rb0c754f8f3904ddc"/>
          <a:stretch xmlns:a="http://schemas.openxmlformats.org/drawingml/2006/main">
            <a:fillRect l="0" t="0" r="0" b="0"/>
          </a:stretch>
        </p:blipFill>
        <p:spPr>
          <a:xfrm xmlns:a="http://schemas.openxmlformats.org/drawingml/2006/main">
            <a:off x="6355080" y="1844040"/>
            <a:ext cx="5440680" cy="3627120"/>
          </a:xfrm>
          <a:prstGeom xmlns:a="http://schemas.openxmlformats.org/drawingml/2006/main" prst="rect">
            <a:avLst/>
          </a:prstGeom>
        </p:spPr>
      </p:pic>
      <p:sp>
        <p:nvSpPr>
          <p:cNvPr id="5" name="TextBox 4">
            <a:extLst xmlns:a="http://schemas.openxmlformats.org/drawingml/2006/main">
              <a:ext uri="{FF2B5EF4-FFF2-40B4-BE49-F238E27FC236}">
                <a16:creationId xmlns:a16="http://schemas.microsoft.com/office/drawing/2014/main" id="{CAF462EE-2BBC-4C80-A347-02A39571C0A9}"/>
              </a:ext>
            </a:extLst>
          </p:cNvPr>
          <p:cNvSpPr>
            <a:spLocks xmlns:a="http://schemas.openxmlformats.org/drawingml/2006/main" noGrp="1"/>
          </p:cNvSpPr>
          <p:nvPr/>
        </p:nvSpPr>
        <p:spPr>
          <a:xfrm xmlns:a="http://schemas.openxmlformats.org/drawingml/2006/main">
            <a:off x="11292840" y="6455664"/>
            <a:ext cx="777240" cy="292608"/>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pPr>
            <a:r>
              <a:rPr sz="1000">
                <a:solidFill>
                  <a:srgbClr val="5A5A5A"/>
                </a:solidFill>
                <a:latin typeface="Calibri"/>
                <a:ea typeface="Calibri"/>
                <a:cs typeface="Calibri"/>
              </a:rPr>
              <a:t>11 / 19</a:t>
            </a:r>
          </a:p>
        </p:txBody>
      </p:sp>
    </p:spTree>
    <p:extLst>
      <p:ext uri="{BB962C8B-B14F-4D97-AF65-F5344CB8AC3E}">
        <p14:creationId xmlns:p14="http://schemas.microsoft.com/office/powerpoint/2010/main" val="24881319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1F5DF0BE-862A-422C-B521-BD635CAC4AEA}"/>
              </a:ext>
            </a:extLst>
          </p:cNvPr>
          <p:cNvSpPr>
            <a:spLocks xmlns:a="http://schemas.openxmlformats.org/drawingml/2006/main" noGrp="1"/>
          </p:cNvSpPr>
          <p:nvPr/>
        </p:nvSpPr>
        <p:spPr>
          <a:xfrm xmlns:a="http://schemas.openxmlformats.org/drawingml/2006/main">
            <a:off x="640080" y="329184"/>
            <a:ext cx="10881360" cy="8686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3000" b="1">
                <a:solidFill>
                  <a:srgbClr val="1A1A1A"/>
                </a:solidFill>
                <a:latin typeface="Calibri"/>
                <a:ea typeface="Calibri"/>
                <a:cs typeface="Calibri"/>
              </a:rPr>
              <a:t>CUDA port: what was offloaded</a:t>
            </a:r>
          </a:p>
        </p:txBody>
      </p:sp>
      <p:sp>
        <p:nvSpPr>
          <p:cNvPr id="3" name="TextBox 2">
            <a:extLst xmlns:a="http://schemas.openxmlformats.org/drawingml/2006/main">
              <a:ext uri="{FF2B5EF4-FFF2-40B4-BE49-F238E27FC236}">
                <a16:creationId xmlns:a16="http://schemas.microsoft.com/office/drawing/2014/main" id="{7E367131-D20A-469C-BB2B-561BAC1EA008}"/>
              </a:ext>
            </a:extLst>
          </p:cNvPr>
          <p:cNvSpPr>
            <a:spLocks xmlns:a="http://schemas.openxmlformats.org/drawingml/2006/main" noGrp="1"/>
          </p:cNvSpPr>
          <p:nvPr/>
        </p:nvSpPr>
        <p:spPr>
          <a:xfrm xmlns:a="http://schemas.openxmlformats.org/drawingml/2006/main">
            <a:off x="685800" y="1463040"/>
            <a:ext cx="10881360" cy="457200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One thread per particle i (128-thread blocks); inner j-loop in registers, serial order preserved.</a:t>
            </a:r>
          </a:p>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Whole SoA state </a:t>
            </a:r>
            <a:r>
              <a:rPr sz="1800" b="1">
                <a:solidFill>
                  <a:srgbClr val="1F6FEB"/>
                </a:solidFill>
                <a:latin typeface="Calibri"/>
                <a:ea typeface="Calibri"/>
                <a:cs typeface="Calibri"/>
              </a:rPr>
              <a:t>device-resident across all 200 steps</a:t>
            </a:r>
            <a:r>
              <a:rPr sz="1800">
                <a:solidFill>
                  <a:srgbClr val="1A1A1A"/>
                </a:solidFill>
                <a:latin typeface="Calibri"/>
                <a:ea typeface="Calibri"/>
                <a:cs typeface="Calibri"/>
              </a:rPr>
              <a:t>; copies only for HDF5 frames and the final validation (9 memcpys, 0.19 ms total).</a:t>
            </a:r>
          </a:p>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Round-to-nearest intrinsics (</a:t>
            </a:r>
            <a:r>
              <a:rPr sz="1700">
                <a:solidFill>
                  <a:srgbClr val="0B3D91"/>
                </a:solidFill>
                <a:latin typeface="Consolas"/>
                <a:ea typeface="Consolas"/>
                <a:cs typeface="Consolas"/>
              </a:rPr>
              <a:t>__dadd_rn</a:t>
            </a:r>
            <a:r>
              <a:rPr sz="1800">
                <a:solidFill>
                  <a:srgbClr val="1A1A1A"/>
                </a:solidFill>
                <a:latin typeface="Calibri"/>
                <a:ea typeface="Calibri"/>
                <a:cs typeface="Calibri"/>
              </a:rPr>
              <a:t>, </a:t>
            </a:r>
            <a:r>
              <a:rPr sz="1700">
                <a:solidFill>
                  <a:srgbClr val="0B3D91"/>
                </a:solidFill>
                <a:latin typeface="Consolas"/>
                <a:ea typeface="Consolas"/>
                <a:cs typeface="Consolas"/>
              </a:rPr>
              <a:t>__dmul_rn</a:t>
            </a:r>
            <a:r>
              <a:rPr sz="1800">
                <a:solidFill>
                  <a:srgbClr val="1A1A1A"/>
                </a:solidFill>
                <a:latin typeface="Calibri"/>
                <a:ea typeface="Calibri"/>
                <a:cs typeface="Calibri"/>
              </a:rPr>
              <a:t>, </a:t>
            </a:r>
            <a:r>
              <a:rPr sz="1700">
                <a:solidFill>
                  <a:srgbClr val="0B3D91"/>
                </a:solidFill>
                <a:latin typeface="Consolas"/>
                <a:ea typeface="Consolas"/>
                <a:cs typeface="Consolas"/>
              </a:rPr>
              <a:t>__drcp_rn(sqrt)</a:t>
            </a:r>
            <a:r>
              <a:rPr sz="1800">
                <a:solidFill>
                  <a:srgbClr val="1A1A1A"/>
                </a:solidFill>
                <a:latin typeface="Calibri"/>
                <a:ea typeface="Calibri"/>
                <a:cs typeface="Calibri"/>
              </a:rPr>
              <a:t>) — immune to </a:t>
            </a:r>
            <a:r>
              <a:rPr sz="1700">
                <a:solidFill>
                  <a:srgbClr val="0B3D91"/>
                </a:solidFill>
                <a:latin typeface="Consolas"/>
                <a:ea typeface="Consolas"/>
                <a:cs typeface="Consolas"/>
              </a:rPr>
              <a:t>--fmad</a:t>
            </a:r>
            <a:r>
              <a:rPr sz="1800">
                <a:solidFill>
                  <a:srgbClr val="1A1A1A"/>
                </a:solidFill>
                <a:latin typeface="Calibri"/>
                <a:ea typeface="Calibri"/>
                <a:cs typeface="Calibri"/>
              </a:rPr>
              <a:t> contraction by construction.</a:t>
            </a:r>
          </a:p>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Result (S6): </a:t>
            </a:r>
            <a:r>
              <a:rPr sz="1800" b="1">
                <a:solidFill>
                  <a:srgbClr val="1F6FEB"/>
                </a:solidFill>
                <a:latin typeface="Calibri"/>
                <a:ea typeface="Calibri"/>
                <a:cs typeface="Calibri"/>
              </a:rPr>
              <a:t>bitwise identical to serial</a:t>
            </a:r>
            <a:r>
              <a:rPr sz="1800">
                <a:solidFill>
                  <a:srgbClr val="1A1A1A"/>
                </a:solidFill>
                <a:latin typeface="Calibri"/>
                <a:ea typeface="Calibri"/>
                <a:cs typeface="Calibri"/>
              </a:rPr>
              <a:t> on the A100.</a:t>
            </a:r>
          </a:p>
        </p:txBody>
      </p:sp>
      <p:sp>
        <p:nvSpPr>
          <p:cNvPr id="4" name="TextBox 3">
            <a:extLst xmlns:a="http://schemas.openxmlformats.org/drawingml/2006/main">
              <a:ext uri="{FF2B5EF4-FFF2-40B4-BE49-F238E27FC236}">
                <a16:creationId xmlns:a16="http://schemas.microsoft.com/office/drawing/2014/main" id="{DF36D3DF-8F9D-4B12-9B9C-55E81A3D4033}"/>
              </a:ext>
            </a:extLst>
          </p:cNvPr>
          <p:cNvSpPr>
            <a:spLocks xmlns:a="http://schemas.openxmlformats.org/drawingml/2006/main" noGrp="1"/>
          </p:cNvSpPr>
          <p:nvPr/>
        </p:nvSpPr>
        <p:spPr>
          <a:xfrm xmlns:a="http://schemas.openxmlformats.org/drawingml/2006/main">
            <a:off x="11292840" y="6455664"/>
            <a:ext cx="777240" cy="292608"/>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pPr>
            <a:r>
              <a:rPr sz="1000">
                <a:solidFill>
                  <a:srgbClr val="5A5A5A"/>
                </a:solidFill>
                <a:latin typeface="Calibri"/>
                <a:ea typeface="Calibri"/>
                <a:cs typeface="Calibri"/>
              </a:rPr>
              <a:t>12 / 19</a:t>
            </a:r>
          </a:p>
        </p:txBody>
      </p:sp>
    </p:spTree>
    <p:extLst>
      <p:ext uri="{BB962C8B-B14F-4D97-AF65-F5344CB8AC3E}">
        <p14:creationId xmlns:p14="http://schemas.microsoft.com/office/powerpoint/2010/main" val="40314260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F9BD1E8-291A-448E-B7A3-F76AFBDB6107}"/>
              </a:ext>
            </a:extLst>
          </p:cNvPr>
          <p:cNvSpPr>
            <a:spLocks xmlns:a="http://schemas.openxmlformats.org/drawingml/2006/main" noGrp="1"/>
          </p:cNvSpPr>
          <p:nvPr/>
        </p:nvSpPr>
        <p:spPr>
          <a:xfrm xmlns:a="http://schemas.openxmlformats.org/drawingml/2006/main">
            <a:off x="640080" y="329184"/>
            <a:ext cx="10881360" cy="8686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3000" b="1">
                <a:solidFill>
                  <a:srgbClr val="1A1A1A"/>
                </a:solidFill>
                <a:latin typeface="Calibri"/>
                <a:ea typeface="Calibri"/>
                <a:cs typeface="Calibri"/>
              </a:rPr>
              <a:t>CPU vs GPU at the official size</a:t>
            </a:r>
          </a:p>
        </p:txBody>
      </p:sp>
      <p:graphicFrame>
        <p:nvGraphicFramePr>
          <p:cNvPr id="10" name="Table 2"/>
          <p:cNvGraphicFramePr/>
          <p:nvPr/>
        </p:nvGraphicFramePr>
        <p:xfrm>
          <a:off xmlns:a="http://schemas.openxmlformats.org/drawingml/2006/main" x="640080" y="1508760"/>
          <a:ext xmlns:a="http://schemas.openxmlformats.org/drawingml/2006/main" cx="5897880" cy="2560320"/>
        </p:xfrm>
        <a:graphic xmlns:a="http://schemas.openxmlformats.org/drawingml/2006/main">
          <a:graphicData uri="http://schemas.openxmlformats.org/drawingml/2006/table">
            <a:tbl>
              <a:tblPr firstRow="0" firstCol="0" lastRow="0" lastCol="0" bandRow="0" bandCol="0"/>
              <a:tblGrid>
                <a:gridCol w="2331720"/>
                <a:gridCol w="1417320"/>
                <a:gridCol w="2148840"/>
              </a:tblGrid>
              <a:tr h="457200">
                <a:tc>
                  <a:txBody>
                    <a:bodyPr wrap="square"/>
                    <a:lstStyle/>
                    <a:p>
                      <a:pPr algn="ctr">
                        <a:buNone/>
                      </a:pPr>
                      <a:r>
                        <a:rPr sz="1250" b="1">
                          <a:solidFill>
                            <a:srgbClr val="FFFFFF"/>
                          </a:solidFill>
                          <a:latin typeface="Calibri"/>
                          <a:ea typeface="Calibri"/>
                          <a:cs typeface="Calibri"/>
                        </a:rPr>
                        <a:t>Implementation</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1F6FEB"/>
                    </a:solidFill>
                  </a:tcPr>
                </a:tc>
                <a:tc>
                  <a:txBody>
                    <a:bodyPr wrap="square"/>
                    <a:lstStyle/>
                    <a:p>
                      <a:pPr algn="ctr">
                        <a:buNone/>
                      </a:pPr>
                      <a:r>
                        <a:rPr sz="1250" b="1">
                          <a:solidFill>
                            <a:srgbClr val="FFFFFF"/>
                          </a:solidFill>
                          <a:latin typeface="Calibri"/>
                          <a:ea typeface="Calibri"/>
                          <a:cs typeface="Calibri"/>
                        </a:rPr>
                        <a:t>GInt/s</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1F6FEB"/>
                    </a:solidFill>
                  </a:tcPr>
                </a:tc>
                <a:tc>
                  <a:txBody>
                    <a:bodyPr wrap="square"/>
                    <a:lstStyle/>
                    <a:p>
                      <a:pPr algn="ctr">
                        <a:buNone/>
                      </a:pPr>
                      <a:r>
                        <a:rPr sz="1250" b="1">
                          <a:solidFill>
                            <a:srgbClr val="FFFFFF"/>
                          </a:solidFill>
                          <a:latin typeface="Calibri"/>
                          <a:ea typeface="Calibri"/>
                          <a:cs typeface="Calibri"/>
                        </a:rPr>
                        <a:t>Speed-up vs serial</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1F6FEB"/>
                    </a:solidFill>
                  </a:tcPr>
                </a:tc>
              </a:tr>
              <a:tr h="420624">
                <a:tc>
                  <a:txBody>
                    <a:bodyPr wrap="square"/>
                    <a:lstStyle/>
                    <a:p>
                      <a:pPr algn="l">
                        <a:buNone/>
                      </a:pPr>
                      <a:r>
                        <a:rPr sz="1350" b="0">
                          <a:solidFill>
                            <a:srgbClr val="1A1A1A"/>
                          </a:solidFill>
                          <a:latin typeface="Calibri"/>
                          <a:ea typeface="Calibri"/>
                          <a:cs typeface="Calibri"/>
                        </a:rPr>
                        <a:t>serial</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FFFFF"/>
                    </a:solidFill>
                  </a:tcPr>
                </a:tc>
                <a:tc>
                  <a:txBody>
                    <a:bodyPr wrap="square"/>
                    <a:lstStyle/>
                    <a:p>
                      <a:pPr algn="r">
                        <a:buNone/>
                      </a:pPr>
                      <a:r>
                        <a:rPr sz="1350" b="0">
                          <a:solidFill>
                            <a:srgbClr val="1A1A1A"/>
                          </a:solidFill>
                          <a:latin typeface="Calibri"/>
                          <a:ea typeface="Calibri"/>
                          <a:cs typeface="Calibri"/>
                        </a:rPr>
                        <a:t>0.283</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FFFFF"/>
                    </a:solidFill>
                  </a:tcPr>
                </a:tc>
                <a:tc>
                  <a:txBody>
                    <a:bodyPr wrap="square"/>
                    <a:lstStyle/>
                    <a:p>
                      <a:pPr algn="r">
                        <a:buNone/>
                      </a:pPr>
                      <a:r>
                        <a:rPr sz="1350" b="0">
                          <a:solidFill>
                            <a:srgbClr val="1A1A1A"/>
                          </a:solidFill>
                          <a:latin typeface="Calibri"/>
                          <a:ea typeface="Calibri"/>
                          <a:cs typeface="Calibri"/>
                        </a:rPr>
                        <a:t>1×</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FFFFF"/>
                    </a:solidFill>
                  </a:tcPr>
                </a:tc>
              </a:tr>
              <a:tr h="420624">
                <a:tc>
                  <a:txBody>
                    <a:bodyPr wrap="square"/>
                    <a:lstStyle/>
                    <a:p>
                      <a:pPr algn="l">
                        <a:buNone/>
                      </a:pPr>
                      <a:r>
                        <a:rPr sz="1350" b="0">
                          <a:solidFill>
                            <a:srgbClr val="1A1A1A"/>
                          </a:solidFill>
                          <a:latin typeface="Calibri"/>
                          <a:ea typeface="Calibri"/>
                          <a:cs typeface="Calibri"/>
                        </a:rPr>
                        <a:t>OpenMP-32</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5F8FC"/>
                    </a:solidFill>
                  </a:tcPr>
                </a:tc>
                <a:tc>
                  <a:txBody>
                    <a:bodyPr wrap="square"/>
                    <a:lstStyle/>
                    <a:p>
                      <a:pPr algn="r">
                        <a:buNone/>
                      </a:pPr>
                      <a:r>
                        <a:rPr sz="1350" b="0">
                          <a:solidFill>
                            <a:srgbClr val="1A1A1A"/>
                          </a:solidFill>
                          <a:latin typeface="Calibri"/>
                          <a:ea typeface="Calibri"/>
                          <a:cs typeface="Calibri"/>
                        </a:rPr>
                        <a:t>8.31</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5F8FC"/>
                    </a:solidFill>
                  </a:tcPr>
                </a:tc>
                <a:tc>
                  <a:txBody>
                    <a:bodyPr wrap="square"/>
                    <a:lstStyle/>
                    <a:p>
                      <a:pPr algn="r">
                        <a:buNone/>
                      </a:pPr>
                      <a:r>
                        <a:rPr sz="1350" b="0">
                          <a:solidFill>
                            <a:srgbClr val="1A1A1A"/>
                          </a:solidFill>
                          <a:latin typeface="Calibri"/>
                          <a:ea typeface="Calibri"/>
                          <a:cs typeface="Calibri"/>
                        </a:rPr>
                        <a:t>29.2×</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5F8FC"/>
                    </a:solidFill>
                  </a:tcPr>
                </a:tc>
              </a:tr>
              <a:tr h="420624">
                <a:tc>
                  <a:txBody>
                    <a:bodyPr wrap="square"/>
                    <a:lstStyle/>
                    <a:p>
                      <a:pPr algn="l">
                        <a:buNone/>
                      </a:pPr>
                      <a:r>
                        <a:rPr sz="1350" b="1">
                          <a:solidFill>
                            <a:srgbClr val="1F6FEB"/>
                          </a:solidFill>
                          <a:latin typeface="Calibri"/>
                          <a:ea typeface="Calibri"/>
                          <a:cs typeface="Calibri"/>
                        </a:rPr>
                        <a:t>CUDA A100</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E1ECFF"/>
                    </a:solidFill>
                  </a:tcPr>
                </a:tc>
                <a:tc>
                  <a:txBody>
                    <a:bodyPr wrap="square"/>
                    <a:lstStyle/>
                    <a:p>
                      <a:pPr algn="r">
                        <a:buNone/>
                      </a:pPr>
                      <a:r>
                        <a:rPr sz="1350" b="1">
                          <a:solidFill>
                            <a:srgbClr val="1F6FEB"/>
                          </a:solidFill>
                          <a:latin typeface="Calibri"/>
                          <a:ea typeface="Calibri"/>
                          <a:cs typeface="Calibri"/>
                        </a:rPr>
                        <a:t>8.80</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E1ECFF"/>
                    </a:solidFill>
                  </a:tcPr>
                </a:tc>
                <a:tc>
                  <a:txBody>
                    <a:bodyPr wrap="square"/>
                    <a:lstStyle/>
                    <a:p>
                      <a:pPr algn="r">
                        <a:buNone/>
                      </a:pPr>
                      <a:r>
                        <a:rPr sz="1350" b="1">
                          <a:solidFill>
                            <a:srgbClr val="1F6FEB"/>
                          </a:solidFill>
                          <a:latin typeface="Calibri"/>
                          <a:ea typeface="Calibri"/>
                          <a:cs typeface="Calibri"/>
                        </a:rPr>
                        <a:t>31.1×</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E1ECFF"/>
                    </a:solidFill>
                  </a:tcPr>
                </a:tc>
              </a:tr>
              <a:tr h="420624">
                <a:tc>
                  <a:txBody>
                    <a:bodyPr wrap="square"/>
                    <a:lstStyle/>
                    <a:p>
                      <a:pPr algn="l">
                        <a:buNone/>
                      </a:pPr>
                      <a:r>
                        <a:rPr sz="1350" b="0">
                          <a:solidFill>
                            <a:srgbClr val="1A1A1A"/>
                          </a:solidFill>
                          <a:latin typeface="Calibri"/>
                          <a:ea typeface="Calibri"/>
                          <a:cs typeface="Calibri"/>
                        </a:rPr>
                        <a:t>Numba CPU</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5F8FC"/>
                    </a:solidFill>
                  </a:tcPr>
                </a:tc>
                <a:tc>
                  <a:txBody>
                    <a:bodyPr wrap="square"/>
                    <a:lstStyle/>
                    <a:p>
                      <a:pPr algn="r">
                        <a:buNone/>
                      </a:pPr>
                      <a:r>
                        <a:rPr sz="1350" b="0">
                          <a:solidFill>
                            <a:srgbClr val="1A1A1A"/>
                          </a:solidFill>
                          <a:latin typeface="Calibri"/>
                          <a:ea typeface="Calibri"/>
                          <a:cs typeface="Calibri"/>
                        </a:rPr>
                        <a:t>7.83</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5F8FC"/>
                    </a:solidFill>
                  </a:tcPr>
                </a:tc>
                <a:tc>
                  <a:txBody>
                    <a:bodyPr wrap="square"/>
                    <a:lstStyle/>
                    <a:p>
                      <a:pPr algn="r">
                        <a:buNone/>
                      </a:pPr>
                      <a:r>
                        <a:rPr sz="1350" b="0">
                          <a:solidFill>
                            <a:srgbClr val="1A1A1A"/>
                          </a:solidFill>
                          <a:latin typeface="Calibri"/>
                          <a:ea typeface="Calibri"/>
                          <a:cs typeface="Calibri"/>
                        </a:rPr>
                        <a:t>27.5×</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5F8FC"/>
                    </a:solidFill>
                  </a:tcPr>
                </a:tc>
              </a:tr>
              <a:tr h="420624">
                <a:tc>
                  <a:txBody>
                    <a:bodyPr wrap="square"/>
                    <a:lstStyle/>
                    <a:p>
                      <a:pPr algn="l">
                        <a:buNone/>
                      </a:pPr>
                      <a:r>
                        <a:rPr sz="1350" b="0">
                          <a:solidFill>
                            <a:srgbClr val="1A1A1A"/>
                          </a:solidFill>
                          <a:latin typeface="Calibri"/>
                          <a:ea typeface="Calibri"/>
                          <a:cs typeface="Calibri"/>
                        </a:rPr>
                        <a:t>Numba CUDA</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FFFFF"/>
                    </a:solidFill>
                  </a:tcPr>
                </a:tc>
                <a:tc>
                  <a:txBody>
                    <a:bodyPr wrap="square"/>
                    <a:lstStyle/>
                    <a:p>
                      <a:pPr algn="r">
                        <a:buNone/>
                      </a:pPr>
                      <a:r>
                        <a:rPr sz="1350" b="0">
                          <a:solidFill>
                            <a:srgbClr val="1A1A1A"/>
                          </a:solidFill>
                          <a:latin typeface="Calibri"/>
                          <a:ea typeface="Calibri"/>
                          <a:cs typeface="Calibri"/>
                        </a:rPr>
                        <a:t>3.42</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FFFFF"/>
                    </a:solidFill>
                  </a:tcPr>
                </a:tc>
                <a:tc>
                  <a:txBody>
                    <a:bodyPr wrap="square"/>
                    <a:lstStyle/>
                    <a:p>
                      <a:pPr algn="r">
                        <a:buNone/>
                      </a:pPr>
                      <a:r>
                        <a:rPr sz="1350" b="0">
                          <a:solidFill>
                            <a:srgbClr val="1A1A1A"/>
                          </a:solidFill>
                          <a:latin typeface="Calibri"/>
                          <a:ea typeface="Calibri"/>
                          <a:cs typeface="Calibri"/>
                        </a:rPr>
                        <a:t>11.9×</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FFFFF"/>
                    </a:solidFill>
                  </a:tcPr>
                </a:tc>
              </a:tr>
            </a:tbl>
          </a:graphicData>
        </a:graphic>
      </p:graphicFrame>
      <p:sp>
        <p:nvSpPr>
          <p:cNvPr id="4" name="TextBox 3">
            <a:extLst xmlns:a="http://schemas.openxmlformats.org/drawingml/2006/main">
              <a:ext uri="{FF2B5EF4-FFF2-40B4-BE49-F238E27FC236}">
                <a16:creationId xmlns:a16="http://schemas.microsoft.com/office/drawing/2014/main" id="{44B39820-0CAA-40CF-B538-C11098C8F2B7}"/>
              </a:ext>
            </a:extLst>
          </p:cNvPr>
          <p:cNvSpPr>
            <a:spLocks xmlns:a="http://schemas.openxmlformats.org/drawingml/2006/main" noGrp="1"/>
          </p:cNvSpPr>
          <p:nvPr/>
        </p:nvSpPr>
        <p:spPr>
          <a:xfrm xmlns:a="http://schemas.openxmlformats.org/drawingml/2006/main">
            <a:off x="685800" y="4251960"/>
            <a:ext cx="5623560" cy="20116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285750" indent="-285750" algn="l">
              <a:lnSpc>
                <a:spcPct val="104000"/>
              </a:lnSpc>
              <a:spcAft>
                <a:spcPts val="600"/>
              </a:spcAft>
              <a:buClr>
                <a:srgbClr val="1F6FEB"/>
              </a:buClr>
              <a:buFont typeface="Arial"/>
              <a:buChar char="•"/>
            </a:pPr>
            <a:r>
              <a:rPr sz="1500">
                <a:solidFill>
                  <a:srgbClr val="1A1A1A"/>
                </a:solidFill>
                <a:latin typeface="Calibri"/>
                <a:ea typeface="Calibri"/>
                <a:cs typeface="Calibri"/>
              </a:rPr>
              <a:t>At N=2231 the A100 </a:t>
            </a:r>
            <a:r>
              <a:rPr sz="1500" b="1">
                <a:solidFill>
                  <a:srgbClr val="1F6FEB"/>
                </a:solidFill>
                <a:latin typeface="Calibri"/>
                <a:ea typeface="Calibri"/>
                <a:cs typeface="Calibri"/>
              </a:rPr>
              <a:t>barely beats 32 CPU cores</a:t>
            </a:r>
            <a:r>
              <a:rPr sz="1500">
                <a:solidFill>
                  <a:srgbClr val="1A1A1A"/>
                </a:solidFill>
                <a:latin typeface="Calibri"/>
                <a:ea typeface="Calibri"/>
                <a:cs typeface="Calibri"/>
              </a:rPr>
              <a:t> — why?</a:t>
            </a:r>
          </a:p>
          <a:p xmlns:a="http://schemas.openxmlformats.org/drawingml/2006/main">
            <a:pPr marL="285750" indent="-285750" algn="l">
              <a:lnSpc>
                <a:spcPct val="104000"/>
              </a:lnSpc>
              <a:spcAft>
                <a:spcPts val="600"/>
              </a:spcAft>
              <a:buClr>
                <a:srgbClr val="1F6FEB"/>
              </a:buClr>
              <a:buFont typeface="Arial"/>
              <a:buChar char="•"/>
            </a:pPr>
            <a:r>
              <a:rPr sz="1500">
                <a:solidFill>
                  <a:srgbClr val="1A1A1A"/>
                </a:solidFill>
                <a:latin typeface="Calibri"/>
                <a:ea typeface="Calibri"/>
                <a:cs typeface="Calibri"/>
              </a:rPr>
              <a:t>ncu: grid = 18 blocks on </a:t>
            </a:r>
            <a:r>
              <a:rPr sz="1500" b="1">
                <a:solidFill>
                  <a:srgbClr val="1F6FEB"/>
                </a:solidFill>
                <a:latin typeface="Calibri"/>
                <a:ea typeface="Calibri"/>
                <a:cs typeface="Calibri"/>
              </a:rPr>
              <a:t>108 SMs</a:t>
            </a:r>
            <a:r>
              <a:rPr sz="1500">
                <a:solidFill>
                  <a:srgbClr val="1A1A1A"/>
                </a:solidFill>
                <a:latin typeface="Calibri"/>
                <a:ea typeface="Calibri"/>
                <a:cs typeface="Calibri"/>
              </a:rPr>
              <a:t> → occupancy </a:t>
            </a:r>
            <a:r>
              <a:rPr sz="1500" b="1">
                <a:solidFill>
                  <a:srgbClr val="1F6FEB"/>
                </a:solidFill>
                <a:latin typeface="Calibri"/>
                <a:ea typeface="Calibri"/>
                <a:cs typeface="Calibri"/>
              </a:rPr>
              <a:t>6.1%</a:t>
            </a:r>
            <a:r>
              <a:rPr sz="1500">
                <a:solidFill>
                  <a:srgbClr val="1A1A1A"/>
                </a:solidFill>
                <a:latin typeface="Calibri"/>
                <a:ea typeface="Calibri"/>
                <a:cs typeface="Calibri"/>
              </a:rPr>
              <a:t>, SM throughput 4.5% — the GPU is ~95% idle.</a:t>
            </a:r>
          </a:p>
        </p:txBody>
      </p:sp>
      <p:pic>
        <p:nvPicPr>
          <p:cNvPr id="12" name="Picture 4"/>
          <p:cNvPicPr>
            <a:picLocks xmlns:a="http://schemas.openxmlformats.org/drawingml/2006/main" noChangeAspect="1"/>
          </p:cNvPicPr>
          <p:nvPr/>
        </p:nvPicPr>
        <p:blipFill>
          <a:blip xmlns:r="http://schemas.openxmlformats.org/officeDocument/2006/relationships" xmlns:a="http://schemas.openxmlformats.org/drawingml/2006/main" r:embed="Rc72cfaa3701c4281"/>
          <a:stretch xmlns:a="http://schemas.openxmlformats.org/drawingml/2006/main">
            <a:fillRect l="0" t="0" r="0" b="0"/>
          </a:stretch>
        </p:blipFill>
        <p:spPr>
          <a:xfrm xmlns:a="http://schemas.openxmlformats.org/drawingml/2006/main">
            <a:off x="6537960" y="2155371"/>
            <a:ext cx="5257800" cy="3004457"/>
          </a:xfrm>
          <a:prstGeom xmlns:a="http://schemas.openxmlformats.org/drawingml/2006/main" prst="rect">
            <a:avLst/>
          </a:prstGeom>
        </p:spPr>
      </p:pic>
      <p:sp>
        <p:nvSpPr>
          <p:cNvPr id="6" name="TextBox 5">
            <a:extLst xmlns:a="http://schemas.openxmlformats.org/drawingml/2006/main">
              <a:ext uri="{FF2B5EF4-FFF2-40B4-BE49-F238E27FC236}">
                <a16:creationId xmlns:a16="http://schemas.microsoft.com/office/drawing/2014/main" id="{E60B366D-949D-41EC-B054-B49DDC05695E}"/>
              </a:ext>
            </a:extLst>
          </p:cNvPr>
          <p:cNvSpPr>
            <a:spLocks xmlns:a="http://schemas.openxmlformats.org/drawingml/2006/main" noGrp="1"/>
          </p:cNvSpPr>
          <p:nvPr/>
        </p:nvSpPr>
        <p:spPr>
          <a:xfrm xmlns:a="http://schemas.openxmlformats.org/drawingml/2006/main">
            <a:off x="11292840" y="6455664"/>
            <a:ext cx="777240" cy="292608"/>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pPr>
            <a:r>
              <a:rPr sz="1000">
                <a:solidFill>
                  <a:srgbClr val="5A5A5A"/>
                </a:solidFill>
                <a:latin typeface="Calibri"/>
                <a:ea typeface="Calibri"/>
                <a:cs typeface="Calibri"/>
              </a:rPr>
              <a:t>13 / 19</a:t>
            </a:r>
          </a:p>
        </p:txBody>
      </p:sp>
    </p:spTree>
    <p:extLst>
      <p:ext uri="{BB962C8B-B14F-4D97-AF65-F5344CB8AC3E}">
        <p14:creationId xmlns:p14="http://schemas.microsoft.com/office/powerpoint/2010/main" val="85812410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354E9A5-E34C-48A7-8291-406B3A1510DF}"/>
              </a:ext>
            </a:extLst>
          </p:cNvPr>
          <p:cNvSpPr>
            <a:spLocks xmlns:a="http://schemas.openxmlformats.org/drawingml/2006/main" noGrp="1"/>
          </p:cNvSpPr>
          <p:nvPr/>
        </p:nvSpPr>
        <p:spPr>
          <a:xfrm xmlns:a="http://schemas.openxmlformats.org/drawingml/2006/main">
            <a:off x="640080" y="329184"/>
            <a:ext cx="10881360" cy="8686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3000" b="1">
                <a:solidFill>
                  <a:srgbClr val="1A1A1A"/>
                </a:solidFill>
                <a:latin typeface="Calibri"/>
                <a:ea typeface="Calibri"/>
                <a:cs typeface="Calibri"/>
              </a:rPr>
              <a:t>Problem-size scaling: the GPU needs work</a:t>
            </a:r>
          </a:p>
        </p:txBody>
      </p:sp>
      <p:graphicFrame>
        <p:nvGraphicFramePr>
          <p:cNvPr id="11" name="Table 2"/>
          <p:cNvGraphicFramePr/>
          <p:nvPr/>
        </p:nvGraphicFramePr>
        <p:xfrm>
          <a:off xmlns:a="http://schemas.openxmlformats.org/drawingml/2006/main" x="594360" y="1371600"/>
          <a:ext xmlns:a="http://schemas.openxmlformats.org/drawingml/2006/main" cx="10972800" cy="2340864"/>
        </p:xfrm>
        <a:graphic xmlns:a="http://schemas.openxmlformats.org/drawingml/2006/main">
          <a:graphicData uri="http://schemas.openxmlformats.org/drawingml/2006/table">
            <a:tbl>
              <a:tblPr firstRow="0" firstCol="0" lastRow="0" lastCol="0" bandRow="0" bandCol="0"/>
              <a:tblGrid>
                <a:gridCol w="1554480"/>
                <a:gridCol w="2286000"/>
                <a:gridCol w="2194560"/>
                <a:gridCol w="1828800"/>
                <a:gridCol w="3108960"/>
              </a:tblGrid>
              <a:tr h="420624">
                <a:tc>
                  <a:txBody>
                    <a:bodyPr wrap="square"/>
                    <a:lstStyle/>
                    <a:p>
                      <a:pPr algn="ctr">
                        <a:buNone/>
                      </a:pPr>
                      <a:r>
                        <a:rPr sz="1250" b="1">
                          <a:solidFill>
                            <a:srgbClr val="FFFFFF"/>
                          </a:solidFill>
                          <a:latin typeface="Calibri"/>
                          <a:ea typeface="Calibri"/>
                          <a:cs typeface="Calibri"/>
                        </a:rPr>
                        <a:t>N</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1F6FEB"/>
                    </a:solidFill>
                  </a:tcPr>
                </a:tc>
                <a:tc>
                  <a:txBody>
                    <a:bodyPr wrap="square"/>
                    <a:lstStyle/>
                    <a:p>
                      <a:pPr algn="ctr">
                        <a:buNone/>
                      </a:pPr>
                      <a:r>
                        <a:rPr sz="1250" b="1">
                          <a:solidFill>
                            <a:srgbClr val="FFFFFF"/>
                          </a:solidFill>
                          <a:latin typeface="Calibri"/>
                          <a:ea typeface="Calibri"/>
                          <a:cs typeface="Calibri"/>
                        </a:rPr>
                        <a:t>serial GInt/s</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1F6FEB"/>
                    </a:solidFill>
                  </a:tcPr>
                </a:tc>
                <a:tc>
                  <a:txBody>
                    <a:bodyPr wrap="square"/>
                    <a:lstStyle/>
                    <a:p>
                      <a:pPr algn="ctr">
                        <a:buNone/>
                      </a:pPr>
                      <a:r>
                        <a:rPr sz="1250" b="1">
                          <a:solidFill>
                            <a:srgbClr val="FFFFFF"/>
                          </a:solidFill>
                          <a:latin typeface="Calibri"/>
                          <a:ea typeface="Calibri"/>
                          <a:cs typeface="Calibri"/>
                        </a:rPr>
                        <a:t>OpenMP-32</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1F6FEB"/>
                    </a:solidFill>
                  </a:tcPr>
                </a:tc>
                <a:tc>
                  <a:txBody>
                    <a:bodyPr wrap="square"/>
                    <a:lstStyle/>
                    <a:p>
                      <a:pPr algn="ctr">
                        <a:buNone/>
                      </a:pPr>
                      <a:r>
                        <a:rPr sz="1250" b="1">
                          <a:solidFill>
                            <a:srgbClr val="FFFFFF"/>
                          </a:solidFill>
                          <a:latin typeface="Calibri"/>
                          <a:ea typeface="Calibri"/>
                          <a:cs typeface="Calibri"/>
                        </a:rPr>
                        <a:t>CUDA</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1F6FEB"/>
                    </a:solidFill>
                  </a:tcPr>
                </a:tc>
                <a:tc>
                  <a:txBody>
                    <a:bodyPr wrap="square"/>
                    <a:lstStyle/>
                    <a:p>
                      <a:pPr algn="ctr">
                        <a:buNone/>
                      </a:pPr>
                      <a:r>
                        <a:rPr sz="1250" b="1">
                          <a:solidFill>
                            <a:srgbClr val="FFFFFF"/>
                          </a:solidFill>
                          <a:latin typeface="Calibri"/>
                          <a:ea typeface="Calibri"/>
                          <a:cs typeface="Calibri"/>
                        </a:rPr>
                        <a:t>CUDA speed-up</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1F6FEB"/>
                    </a:solidFill>
                  </a:tcPr>
                </a:tc>
              </a:tr>
              <a:tr h="384048">
                <a:tc>
                  <a:txBody>
                    <a:bodyPr wrap="square"/>
                    <a:lstStyle/>
                    <a:p>
                      <a:pPr algn="r">
                        <a:buNone/>
                      </a:pPr>
                      <a:r>
                        <a:rPr sz="1250" b="0">
                          <a:solidFill>
                            <a:srgbClr val="1A1A1A"/>
                          </a:solidFill>
                          <a:latin typeface="Calibri"/>
                          <a:ea typeface="Calibri"/>
                          <a:cs typeface="Calibri"/>
                        </a:rPr>
                        <a:t>567</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FFFFF"/>
                    </a:solidFill>
                  </a:tcPr>
                </a:tc>
                <a:tc>
                  <a:txBody>
                    <a:bodyPr wrap="square"/>
                    <a:lstStyle/>
                    <a:p>
                      <a:pPr algn="r">
                        <a:buNone/>
                      </a:pPr>
                      <a:r>
                        <a:rPr sz="1250" b="0">
                          <a:solidFill>
                            <a:srgbClr val="1A1A1A"/>
                          </a:solidFill>
                          <a:latin typeface="Calibri"/>
                          <a:ea typeface="Calibri"/>
                          <a:cs typeface="Calibri"/>
                        </a:rPr>
                        <a:t>0.282</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FFFFF"/>
                    </a:solidFill>
                  </a:tcPr>
                </a:tc>
                <a:tc>
                  <a:txBody>
                    <a:bodyPr wrap="square"/>
                    <a:lstStyle/>
                    <a:p>
                      <a:pPr algn="r">
                        <a:buNone/>
                      </a:pPr>
                      <a:r>
                        <a:rPr sz="1250" b="0">
                          <a:solidFill>
                            <a:srgbClr val="1A1A1A"/>
                          </a:solidFill>
                          <a:latin typeface="Calibri"/>
                          <a:ea typeface="Calibri"/>
                          <a:cs typeface="Calibri"/>
                        </a:rPr>
                        <a:t>5.78</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FFFFF"/>
                    </a:solidFill>
                  </a:tcPr>
                </a:tc>
                <a:tc>
                  <a:txBody>
                    <a:bodyPr wrap="square"/>
                    <a:lstStyle/>
                    <a:p>
                      <a:pPr algn="r">
                        <a:buNone/>
                      </a:pPr>
                      <a:r>
                        <a:rPr sz="1250" b="0">
                          <a:solidFill>
                            <a:srgbClr val="1A1A1A"/>
                          </a:solidFill>
                          <a:latin typeface="Calibri"/>
                          <a:ea typeface="Calibri"/>
                          <a:cs typeface="Calibri"/>
                        </a:rPr>
                        <a:t>1.78</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FFFFF"/>
                    </a:solidFill>
                  </a:tcPr>
                </a:tc>
                <a:tc>
                  <a:txBody>
                    <a:bodyPr wrap="square"/>
                    <a:lstStyle/>
                    <a:p>
                      <a:pPr algn="r">
                        <a:buNone/>
                      </a:pPr>
                      <a:r>
                        <a:rPr sz="1250" b="0">
                          <a:solidFill>
                            <a:srgbClr val="1A1A1A"/>
                          </a:solidFill>
                          <a:latin typeface="Calibri"/>
                          <a:ea typeface="Calibri"/>
                          <a:cs typeface="Calibri"/>
                        </a:rPr>
                        <a:t>6.3×</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FFFFF"/>
                    </a:solidFill>
                  </a:tcPr>
                </a:tc>
              </a:tr>
              <a:tr h="384048">
                <a:tc>
                  <a:txBody>
                    <a:bodyPr wrap="square"/>
                    <a:lstStyle/>
                    <a:p>
                      <a:pPr algn="r">
                        <a:buNone/>
                      </a:pPr>
                      <a:r>
                        <a:rPr sz="1250" b="0">
                          <a:solidFill>
                            <a:srgbClr val="1A1A1A"/>
                          </a:solidFill>
                          <a:latin typeface="Calibri"/>
                          <a:ea typeface="Calibri"/>
                          <a:cs typeface="Calibri"/>
                        </a:rPr>
                        <a:t>2,231</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EFF4FF"/>
                    </a:solidFill>
                  </a:tcPr>
                </a:tc>
                <a:tc>
                  <a:txBody>
                    <a:bodyPr wrap="square"/>
                    <a:lstStyle/>
                    <a:p>
                      <a:pPr algn="r">
                        <a:buNone/>
                      </a:pPr>
                      <a:r>
                        <a:rPr sz="1250" b="0">
                          <a:solidFill>
                            <a:srgbClr val="1A1A1A"/>
                          </a:solidFill>
                          <a:latin typeface="Calibri"/>
                          <a:ea typeface="Calibri"/>
                          <a:cs typeface="Calibri"/>
                        </a:rPr>
                        <a:t>0.283</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EFF4FF"/>
                    </a:solidFill>
                  </a:tcPr>
                </a:tc>
                <a:tc>
                  <a:txBody>
                    <a:bodyPr wrap="square"/>
                    <a:lstStyle/>
                    <a:p>
                      <a:pPr algn="r">
                        <a:buNone/>
                      </a:pPr>
                      <a:r>
                        <a:rPr sz="1250" b="0">
                          <a:solidFill>
                            <a:srgbClr val="1A1A1A"/>
                          </a:solidFill>
                          <a:latin typeface="Calibri"/>
                          <a:ea typeface="Calibri"/>
                          <a:cs typeface="Calibri"/>
                        </a:rPr>
                        <a:t>8.37</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EFF4FF"/>
                    </a:solidFill>
                  </a:tcPr>
                </a:tc>
                <a:tc>
                  <a:txBody>
                    <a:bodyPr wrap="square"/>
                    <a:lstStyle/>
                    <a:p>
                      <a:pPr algn="r">
                        <a:buNone/>
                      </a:pPr>
                      <a:r>
                        <a:rPr sz="1250" b="0">
                          <a:solidFill>
                            <a:srgbClr val="1A1A1A"/>
                          </a:solidFill>
                          <a:latin typeface="Calibri"/>
                          <a:ea typeface="Calibri"/>
                          <a:cs typeface="Calibri"/>
                        </a:rPr>
                        <a:t>8.86</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EFF4FF"/>
                    </a:solidFill>
                  </a:tcPr>
                </a:tc>
                <a:tc>
                  <a:txBody>
                    <a:bodyPr wrap="square"/>
                    <a:lstStyle/>
                    <a:p>
                      <a:pPr algn="r">
                        <a:buNone/>
                      </a:pPr>
                      <a:r>
                        <a:rPr sz="1250" b="0">
                          <a:solidFill>
                            <a:srgbClr val="1A1A1A"/>
                          </a:solidFill>
                          <a:latin typeface="Calibri"/>
                          <a:ea typeface="Calibri"/>
                          <a:cs typeface="Calibri"/>
                        </a:rPr>
                        <a:t>31×  ← crossover</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EFF4FF"/>
                    </a:solidFill>
                  </a:tcPr>
                </a:tc>
              </a:tr>
              <a:tr h="384048">
                <a:tc>
                  <a:txBody>
                    <a:bodyPr wrap="square"/>
                    <a:lstStyle/>
                    <a:p>
                      <a:pPr algn="r">
                        <a:buNone/>
                      </a:pPr>
                      <a:r>
                        <a:rPr sz="1250" b="0">
                          <a:solidFill>
                            <a:srgbClr val="1A1A1A"/>
                          </a:solidFill>
                          <a:latin typeface="Calibri"/>
                          <a:ea typeface="Calibri"/>
                          <a:cs typeface="Calibri"/>
                        </a:rPr>
                        <a:t>8,996</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FFFFF"/>
                    </a:solidFill>
                  </a:tcPr>
                </a:tc>
                <a:tc>
                  <a:txBody>
                    <a:bodyPr wrap="square"/>
                    <a:lstStyle/>
                    <a:p>
                      <a:pPr algn="r">
                        <a:buNone/>
                      </a:pPr>
                      <a:r>
                        <a:rPr sz="1250" b="0">
                          <a:solidFill>
                            <a:srgbClr val="1A1A1A"/>
                          </a:solidFill>
                          <a:latin typeface="Calibri"/>
                          <a:ea typeface="Calibri"/>
                          <a:cs typeface="Calibri"/>
                        </a:rPr>
                        <a:t>0.283</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FFFFF"/>
                    </a:solidFill>
                  </a:tcPr>
                </a:tc>
                <a:tc>
                  <a:txBody>
                    <a:bodyPr wrap="square"/>
                    <a:lstStyle/>
                    <a:p>
                      <a:pPr algn="r">
                        <a:buNone/>
                      </a:pPr>
                      <a:r>
                        <a:rPr sz="1250" b="0">
                          <a:solidFill>
                            <a:srgbClr val="1A1A1A"/>
                          </a:solidFill>
                          <a:latin typeface="Calibri"/>
                          <a:ea typeface="Calibri"/>
                          <a:cs typeface="Calibri"/>
                        </a:rPr>
                        <a:t>8.39</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FFFFF"/>
                    </a:solidFill>
                  </a:tcPr>
                </a:tc>
                <a:tc>
                  <a:txBody>
                    <a:bodyPr wrap="square"/>
                    <a:lstStyle/>
                    <a:p>
                      <a:pPr algn="r">
                        <a:buNone/>
                      </a:pPr>
                      <a:r>
                        <a:rPr sz="1250" b="0">
                          <a:solidFill>
                            <a:srgbClr val="1A1A1A"/>
                          </a:solidFill>
                          <a:latin typeface="Calibri"/>
                          <a:ea typeface="Calibri"/>
                          <a:cs typeface="Calibri"/>
                        </a:rPr>
                        <a:t>36.8</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FFFFF"/>
                    </a:solidFill>
                  </a:tcPr>
                </a:tc>
                <a:tc>
                  <a:txBody>
                    <a:bodyPr wrap="square"/>
                    <a:lstStyle/>
                    <a:p>
                      <a:pPr algn="r">
                        <a:buNone/>
                      </a:pPr>
                      <a:r>
                        <a:rPr sz="1250" b="0">
                          <a:solidFill>
                            <a:srgbClr val="1A1A1A"/>
                          </a:solidFill>
                          <a:latin typeface="Calibri"/>
                          <a:ea typeface="Calibri"/>
                          <a:cs typeface="Calibri"/>
                        </a:rPr>
                        <a:t>130×</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FFFFF"/>
                    </a:solidFill>
                  </a:tcPr>
                </a:tc>
              </a:tr>
              <a:tr h="384048">
                <a:tc>
                  <a:txBody>
                    <a:bodyPr wrap="square"/>
                    <a:lstStyle/>
                    <a:p>
                      <a:pPr algn="r">
                        <a:buNone/>
                      </a:pPr>
                      <a:r>
                        <a:rPr sz="1250" b="0">
                          <a:solidFill>
                            <a:srgbClr val="1A1A1A"/>
                          </a:solidFill>
                          <a:latin typeface="Calibri"/>
                          <a:ea typeface="Calibri"/>
                          <a:cs typeface="Calibri"/>
                        </a:rPr>
                        <a:t>35,919</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5F8FC"/>
                    </a:solidFill>
                  </a:tcPr>
                </a:tc>
                <a:tc>
                  <a:txBody>
                    <a:bodyPr wrap="square"/>
                    <a:lstStyle/>
                    <a:p>
                      <a:pPr algn="r">
                        <a:buNone/>
                      </a:pPr>
                      <a:r>
                        <a:rPr sz="1250" b="0">
                          <a:solidFill>
                            <a:srgbClr val="1A1A1A"/>
                          </a:solidFill>
                          <a:latin typeface="Calibri"/>
                          <a:ea typeface="Calibri"/>
                          <a:cs typeface="Calibri"/>
                        </a:rPr>
                        <a:t>0.283</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5F8FC"/>
                    </a:solidFill>
                  </a:tcPr>
                </a:tc>
                <a:tc>
                  <a:txBody>
                    <a:bodyPr wrap="square"/>
                    <a:lstStyle/>
                    <a:p>
                      <a:pPr algn="r">
                        <a:buNone/>
                      </a:pPr>
                      <a:r>
                        <a:rPr sz="1250" b="0">
                          <a:solidFill>
                            <a:srgbClr val="1A1A1A"/>
                          </a:solidFill>
                          <a:latin typeface="Calibri"/>
                          <a:ea typeface="Calibri"/>
                          <a:cs typeface="Calibri"/>
                        </a:rPr>
                        <a:t>8.44</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5F8FC"/>
                    </a:solidFill>
                  </a:tcPr>
                </a:tc>
                <a:tc>
                  <a:txBody>
                    <a:bodyPr wrap="square"/>
                    <a:lstStyle/>
                    <a:p>
                      <a:pPr algn="r">
                        <a:buNone/>
                      </a:pPr>
                      <a:r>
                        <a:rPr sz="1250" b="0">
                          <a:solidFill>
                            <a:srgbClr val="1A1A1A"/>
                          </a:solidFill>
                          <a:latin typeface="Calibri"/>
                          <a:ea typeface="Calibri"/>
                          <a:cs typeface="Calibri"/>
                        </a:rPr>
                        <a:t>105.4</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5F8FC"/>
                    </a:solidFill>
                  </a:tcPr>
                </a:tc>
                <a:tc>
                  <a:txBody>
                    <a:bodyPr wrap="square"/>
                    <a:lstStyle/>
                    <a:p>
                      <a:pPr algn="r">
                        <a:buNone/>
                      </a:pPr>
                      <a:r>
                        <a:rPr sz="1250" b="0">
                          <a:solidFill>
                            <a:srgbClr val="1A1A1A"/>
                          </a:solidFill>
                          <a:latin typeface="Calibri"/>
                          <a:ea typeface="Calibri"/>
                          <a:cs typeface="Calibri"/>
                        </a:rPr>
                        <a:t>372×</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5F8FC"/>
                    </a:solidFill>
                  </a:tcPr>
                </a:tc>
              </a:tr>
              <a:tr h="384048">
                <a:tc>
                  <a:txBody>
                    <a:bodyPr wrap="square"/>
                    <a:lstStyle/>
                    <a:p>
                      <a:pPr algn="r">
                        <a:buNone/>
                      </a:pPr>
                      <a:r>
                        <a:rPr sz="1250" b="0">
                          <a:solidFill>
                            <a:srgbClr val="1A1A1A"/>
                          </a:solidFill>
                          <a:latin typeface="Calibri"/>
                          <a:ea typeface="Calibri"/>
                          <a:cs typeface="Calibri"/>
                        </a:rPr>
                        <a:t>143,768</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E1ECFF"/>
                    </a:solidFill>
                  </a:tcPr>
                </a:tc>
                <a:tc>
                  <a:txBody>
                    <a:bodyPr wrap="square"/>
                    <a:lstStyle/>
                    <a:p>
                      <a:pPr algn="r">
                        <a:buNone/>
                      </a:pPr>
                      <a:r>
                        <a:rPr sz="1250" b="0">
                          <a:solidFill>
                            <a:srgbClr val="1A1A1A"/>
                          </a:solidFill>
                          <a:latin typeface="Calibri"/>
                          <a:ea typeface="Calibri"/>
                          <a:cs typeface="Calibri"/>
                        </a:rPr>
                        <a:t>(0.283)</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E1ECFF"/>
                    </a:solidFill>
                  </a:tcPr>
                </a:tc>
                <a:tc>
                  <a:txBody>
                    <a:bodyPr wrap="square"/>
                    <a:lstStyle/>
                    <a:p>
                      <a:pPr algn="r">
                        <a:buNone/>
                      </a:pPr>
                      <a:r>
                        <a:rPr sz="1250" b="0">
                          <a:solidFill>
                            <a:srgbClr val="1A1A1A"/>
                          </a:solidFill>
                          <a:latin typeface="Calibri"/>
                          <a:ea typeface="Calibri"/>
                          <a:cs typeface="Calibri"/>
                        </a:rPr>
                        <a:t>8.07</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E1ECFF"/>
                    </a:solidFill>
                  </a:tcPr>
                </a:tc>
                <a:tc>
                  <a:txBody>
                    <a:bodyPr wrap="square"/>
                    <a:lstStyle/>
                    <a:p>
                      <a:pPr algn="r">
                        <a:buNone/>
                      </a:pPr>
                      <a:r>
                        <a:rPr sz="1250" b="1">
                          <a:solidFill>
                            <a:srgbClr val="1F6FEB"/>
                          </a:solidFill>
                          <a:latin typeface="Calibri"/>
                          <a:ea typeface="Calibri"/>
                          <a:cs typeface="Calibri"/>
                        </a:rPr>
                        <a:t>153.9</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E1ECFF"/>
                    </a:solidFill>
                  </a:tcPr>
                </a:tc>
                <a:tc>
                  <a:txBody>
                    <a:bodyPr wrap="square"/>
                    <a:lstStyle/>
                    <a:p>
                      <a:pPr algn="r">
                        <a:buNone/>
                      </a:pPr>
                      <a:r>
                        <a:rPr sz="1250" b="1">
                          <a:solidFill>
                            <a:srgbClr val="1F6FEB"/>
                          </a:solidFill>
                          <a:latin typeface="Calibri"/>
                          <a:ea typeface="Calibri"/>
                          <a:cs typeface="Calibri"/>
                        </a:rPr>
                        <a:t>543×</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E1ECFF"/>
                    </a:solidFill>
                  </a:tcPr>
                </a:tc>
              </a:tr>
            </a:tbl>
          </a:graphicData>
        </a:graphic>
      </p:graphicFrame>
      <p:pic>
        <p:nvPicPr>
          <p:cNvPr id="12" name="Picture 3"/>
          <p:cNvPicPr>
            <a:picLocks xmlns:a="http://schemas.openxmlformats.org/drawingml/2006/main" noChangeAspect="1"/>
          </p:cNvPicPr>
          <p:nvPr/>
        </p:nvPicPr>
        <p:blipFill>
          <a:blip xmlns:r="http://schemas.openxmlformats.org/officeDocument/2006/relationships" xmlns:a="http://schemas.openxmlformats.org/drawingml/2006/main" r:embed="Rf0716416a0324670"/>
          <a:stretch xmlns:a="http://schemas.openxmlformats.org/drawingml/2006/main">
            <a:fillRect l="0" t="0" r="0" b="0"/>
          </a:stretch>
        </p:blipFill>
        <p:spPr>
          <a:xfrm xmlns:a="http://schemas.openxmlformats.org/drawingml/2006/main">
            <a:off x="1858771" y="4041648"/>
            <a:ext cx="3460496" cy="2395728"/>
          </a:xfrm>
          <a:prstGeom xmlns:a="http://schemas.openxmlformats.org/drawingml/2006/main" prst="rect">
            <a:avLst/>
          </a:prstGeom>
        </p:spPr>
      </p:pic>
      <p:pic>
        <p:nvPicPr>
          <p:cNvPr id="13" name="Picture 4"/>
          <p:cNvPicPr>
            <a:picLocks xmlns:a="http://schemas.openxmlformats.org/drawingml/2006/main" noChangeAspect="1"/>
          </p:cNvPicPr>
          <p:nvPr/>
        </p:nvPicPr>
        <p:blipFill>
          <a:blip xmlns:r="http://schemas.openxmlformats.org/officeDocument/2006/relationships" xmlns:a="http://schemas.openxmlformats.org/drawingml/2006/main" r:embed="Rdedf065806144527"/>
          <a:stretch xmlns:a="http://schemas.openxmlformats.org/drawingml/2006/main">
            <a:fillRect l="0" t="0" r="0" b="0"/>
          </a:stretch>
        </p:blipFill>
        <p:spPr>
          <a:xfrm xmlns:a="http://schemas.openxmlformats.org/drawingml/2006/main">
            <a:off x="6705092" y="4041648"/>
            <a:ext cx="3460496" cy="2395728"/>
          </a:xfrm>
          <a:prstGeom xmlns:a="http://schemas.openxmlformats.org/drawingml/2006/main" prst="rect">
            <a:avLst/>
          </a:prstGeom>
        </p:spPr>
      </p:pic>
      <p:sp>
        <p:nvSpPr>
          <p:cNvPr id="6" name="TextBox 5">
            <a:extLst xmlns:a="http://schemas.openxmlformats.org/drawingml/2006/main">
              <a:ext uri="{FF2B5EF4-FFF2-40B4-BE49-F238E27FC236}">
                <a16:creationId xmlns:a16="http://schemas.microsoft.com/office/drawing/2014/main" id="{16D2EC9E-361B-405F-BD39-1D51D7CED39A}"/>
              </a:ext>
            </a:extLst>
          </p:cNvPr>
          <p:cNvSpPr>
            <a:spLocks xmlns:a="http://schemas.openxmlformats.org/drawingml/2006/main" noGrp="1"/>
          </p:cNvSpPr>
          <p:nvPr/>
        </p:nvSpPr>
        <p:spPr>
          <a:xfrm xmlns:a="http://schemas.openxmlformats.org/drawingml/2006/main">
            <a:off x="11292840" y="6455664"/>
            <a:ext cx="777240" cy="292608"/>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pPr>
            <a:r>
              <a:rPr sz="1000">
                <a:solidFill>
                  <a:srgbClr val="5A5A5A"/>
                </a:solidFill>
                <a:latin typeface="Calibri"/>
                <a:ea typeface="Calibri"/>
                <a:cs typeface="Calibri"/>
              </a:rPr>
              <a:t>14 / 19</a:t>
            </a:r>
          </a:p>
        </p:txBody>
      </p:sp>
    </p:spTree>
    <p:extLst>
      <p:ext uri="{BB962C8B-B14F-4D97-AF65-F5344CB8AC3E}">
        <p14:creationId xmlns:p14="http://schemas.microsoft.com/office/powerpoint/2010/main" val="58578027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76EB90E-D9A9-48FC-85AE-8D8111FC0420}"/>
              </a:ext>
            </a:extLst>
          </p:cNvPr>
          <p:cNvSpPr>
            <a:spLocks xmlns:a="http://schemas.openxmlformats.org/drawingml/2006/main" noGrp="1"/>
          </p:cNvSpPr>
          <p:nvPr/>
        </p:nvSpPr>
        <p:spPr>
          <a:xfrm xmlns:a="http://schemas.openxmlformats.org/drawingml/2006/main">
            <a:off x="640080" y="329184"/>
            <a:ext cx="10881360" cy="8686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3000" b="1">
                <a:solidFill>
                  <a:srgbClr val="1A1A1A"/>
                </a:solidFill>
                <a:latin typeface="Calibri"/>
                <a:ea typeface="Calibri"/>
                <a:cs typeface="Calibri"/>
              </a:rPr>
              <a:t>GPU profiling: nsys + ncu (roofline view)</a:t>
            </a:r>
          </a:p>
        </p:txBody>
      </p:sp>
      <p:sp>
        <p:nvSpPr>
          <p:cNvPr id="3" name="TextBox 2">
            <a:extLst xmlns:a="http://schemas.openxmlformats.org/drawingml/2006/main">
              <a:ext uri="{FF2B5EF4-FFF2-40B4-BE49-F238E27FC236}">
                <a16:creationId xmlns:a16="http://schemas.microsoft.com/office/drawing/2014/main" id="{1993674D-33AA-4968-88C0-B230B82E05F2}"/>
              </a:ext>
            </a:extLst>
          </p:cNvPr>
          <p:cNvSpPr>
            <a:spLocks xmlns:a="http://schemas.openxmlformats.org/drawingml/2006/main" noGrp="1"/>
          </p:cNvSpPr>
          <p:nvPr/>
        </p:nvSpPr>
        <p:spPr>
          <a:xfrm xmlns:a="http://schemas.openxmlformats.org/drawingml/2006/main">
            <a:off x="685800" y="1417320"/>
            <a:ext cx="10881360" cy="47548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nsys: </a:t>
            </a:r>
            <a:r>
              <a:rPr sz="1700">
                <a:solidFill>
                  <a:srgbClr val="0B3D91"/>
                </a:solidFill>
                <a:latin typeface="Consolas"/>
                <a:ea typeface="Consolas"/>
                <a:cs typeface="Consolas"/>
              </a:rPr>
              <a:t>computeForcesKernel</a:t>
            </a:r>
            <a:r>
              <a:rPr sz="1800">
                <a:solidFill>
                  <a:srgbClr val="1A1A1A"/>
                </a:solidFill>
                <a:latin typeface="Calibri"/>
                <a:ea typeface="Calibri"/>
                <a:cs typeface="Calibri"/>
              </a:rPr>
              <a:t> = </a:t>
            </a:r>
            <a:r>
              <a:rPr sz="1800" b="1">
                <a:solidFill>
                  <a:srgbClr val="1F6FEB"/>
                </a:solidFill>
                <a:latin typeface="Calibri"/>
                <a:ea typeface="Calibri"/>
                <a:cs typeface="Calibri"/>
              </a:rPr>
              <a:t>99.1%</a:t>
            </a:r>
            <a:r>
              <a:rPr sz="1800">
                <a:solidFill>
                  <a:srgbClr val="1A1A1A"/>
                </a:solidFill>
                <a:latin typeface="Calibri"/>
                <a:ea typeface="Calibri"/>
                <a:cs typeface="Calibri"/>
              </a:rPr>
              <a:t> of GPU time; memcpy total </a:t>
            </a:r>
            <a:r>
              <a:rPr sz="1800" b="1">
                <a:solidFill>
                  <a:srgbClr val="1F6FEB"/>
                </a:solidFill>
                <a:latin typeface="Calibri"/>
                <a:ea typeface="Calibri"/>
                <a:cs typeface="Calibri"/>
              </a:rPr>
              <a:t>0.19 ms</a:t>
            </a:r>
            <a:r>
              <a:rPr sz="1800">
                <a:solidFill>
                  <a:srgbClr val="1A1A1A"/>
                </a:solidFill>
                <a:latin typeface="Calibri"/>
                <a:ea typeface="Calibri"/>
                <a:cs typeface="Calibri"/>
              </a:rPr>
              <a:t> → streams/overlap would buy nothing.</a:t>
            </a:r>
          </a:p>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ncu @ XL: SM throughput 53.5%, </a:t>
            </a:r>
            <a:r>
              <a:rPr sz="1800" b="1">
                <a:solidFill>
                  <a:srgbClr val="1F6FEB"/>
                </a:solidFill>
                <a:latin typeface="Calibri"/>
                <a:ea typeface="Calibri"/>
                <a:cs typeface="Calibri"/>
              </a:rPr>
              <a:t>DRAM ≈ 0%</a:t>
            </a:r>
            <a:r>
              <a:rPr sz="1800">
                <a:solidFill>
                  <a:srgbClr val="1A1A1A"/>
                </a:solidFill>
                <a:latin typeface="Calibri"/>
                <a:ea typeface="Calibri"/>
                <a:cs typeface="Calibri"/>
              </a:rPr>
              <a:t> → purely </a:t>
            </a:r>
            <a:r>
              <a:rPr sz="1800" b="1">
                <a:solidFill>
                  <a:srgbClr val="1F6FEB"/>
                </a:solidFill>
                <a:latin typeface="Calibri"/>
                <a:ea typeface="Calibri"/>
                <a:cs typeface="Calibri"/>
              </a:rPr>
              <a:t>compute-bound</a:t>
            </a:r>
            <a:r>
              <a:rPr sz="1800">
                <a:solidFill>
                  <a:srgbClr val="1A1A1A"/>
                </a:solidFill>
                <a:latin typeface="Calibri"/>
                <a:ea typeface="Calibri"/>
                <a:cs typeface="Calibri"/>
              </a:rPr>
              <a:t> (all particle data lives in L1/L2; effectively infinite arithmetic intensity).</a:t>
            </a:r>
          </a:p>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Hottest pipe: </a:t>
            </a:r>
            <a:r>
              <a:rPr sz="1800" b="1">
                <a:solidFill>
                  <a:srgbClr val="1F6FEB"/>
                </a:solidFill>
                <a:latin typeface="Calibri"/>
                <a:ea typeface="Calibri"/>
                <a:cs typeface="Calibri"/>
              </a:rPr>
              <a:t>FP64 at 63%</a:t>
            </a:r>
            <a:r>
              <a:rPr sz="1800">
                <a:solidFill>
                  <a:srgbClr val="1A1A1A"/>
                </a:solidFill>
                <a:latin typeface="Calibri"/>
                <a:ea typeface="Calibri"/>
                <a:cs typeface="Calibri"/>
              </a:rPr>
              <a:t>; achieved ≈ </a:t>
            </a:r>
            <a:r>
              <a:rPr sz="1800" b="1">
                <a:solidFill>
                  <a:srgbClr val="1F6FEB"/>
                </a:solidFill>
                <a:latin typeface="Calibri"/>
                <a:ea typeface="Calibri"/>
                <a:cs typeface="Calibri"/>
              </a:rPr>
              <a:t>37% of A100 FP64 peak</a:t>
            </a:r>
            <a:r>
              <a:rPr sz="1800">
                <a:solidFill>
                  <a:srgbClr val="1A1A1A"/>
                </a:solidFill>
                <a:latin typeface="Calibri"/>
                <a:ea typeface="Calibri"/>
                <a:cs typeface="Calibri"/>
              </a:rPr>
              <a:t>.</a:t>
            </a:r>
          </a:p>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ncu optimizer: fusing to FMA would gain ≈ </a:t>
            </a:r>
            <a:r>
              <a:rPr sz="1800" b="1">
                <a:solidFill>
                  <a:srgbClr val="1F6FEB"/>
                </a:solidFill>
                <a:latin typeface="Calibri"/>
                <a:ea typeface="Calibri"/>
                <a:cs typeface="Calibri"/>
              </a:rPr>
              <a:t>+31%</a:t>
            </a:r>
            <a:r>
              <a:rPr sz="1800">
                <a:solidFill>
                  <a:srgbClr val="1A1A1A"/>
                </a:solidFill>
                <a:latin typeface="Calibri"/>
                <a:ea typeface="Calibri"/>
                <a:cs typeface="Calibri"/>
              </a:rPr>
              <a:t> — </a:t>
            </a:r>
            <a:r>
              <a:rPr sz="1800" b="1">
                <a:solidFill>
                  <a:srgbClr val="1F6FEB"/>
                </a:solidFill>
                <a:latin typeface="Calibri"/>
                <a:ea typeface="Calibri"/>
                <a:cs typeface="Calibri"/>
              </a:rPr>
              <a:t>declined</a:t>
            </a:r>
            <a:r>
              <a:rPr sz="1800">
                <a:solidFill>
                  <a:srgbClr val="1A1A1A"/>
                </a:solidFill>
                <a:latin typeface="Calibri"/>
                <a:ea typeface="Calibri"/>
                <a:cs typeface="Calibri"/>
              </a:rPr>
              <a:t>: non-contracted arithmetic is what makes the GPU bitwise-identical to serial.</a:t>
            </a:r>
          </a:p>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Occupancy M → XL: 6.1% → 13.8%; waves/SM 0.02 → 0.25 (explains S13/S14).</a:t>
            </a:r>
          </a:p>
        </p:txBody>
      </p:sp>
      <p:sp>
        <p:nvSpPr>
          <p:cNvPr id="4" name="TextBox 3">
            <a:extLst xmlns:a="http://schemas.openxmlformats.org/drawingml/2006/main">
              <a:ext uri="{FF2B5EF4-FFF2-40B4-BE49-F238E27FC236}">
                <a16:creationId xmlns:a16="http://schemas.microsoft.com/office/drawing/2014/main" id="{69CF7229-19F1-4928-A537-03A91DA13E49}"/>
              </a:ext>
            </a:extLst>
          </p:cNvPr>
          <p:cNvSpPr>
            <a:spLocks xmlns:a="http://schemas.openxmlformats.org/drawingml/2006/main" noGrp="1"/>
          </p:cNvSpPr>
          <p:nvPr/>
        </p:nvSpPr>
        <p:spPr>
          <a:xfrm xmlns:a="http://schemas.openxmlformats.org/drawingml/2006/main">
            <a:off x="11292840" y="6455664"/>
            <a:ext cx="777240" cy="292608"/>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pPr>
            <a:r>
              <a:rPr sz="1000">
                <a:solidFill>
                  <a:srgbClr val="5A5A5A"/>
                </a:solidFill>
                <a:latin typeface="Calibri"/>
                <a:ea typeface="Calibri"/>
                <a:cs typeface="Calibri"/>
              </a:rPr>
              <a:t>15 / 19</a:t>
            </a:r>
          </a:p>
        </p:txBody>
      </p:sp>
    </p:spTree>
    <p:extLst>
      <p:ext uri="{BB962C8B-B14F-4D97-AF65-F5344CB8AC3E}">
        <p14:creationId xmlns:p14="http://schemas.microsoft.com/office/powerpoint/2010/main" val="58473169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9432541C-A5A0-4777-8685-34D83C1A9B1F}"/>
              </a:ext>
            </a:extLst>
          </p:cNvPr>
          <p:cNvSpPr>
            <a:spLocks xmlns:a="http://schemas.openxmlformats.org/drawingml/2006/main" noGrp="1"/>
          </p:cNvSpPr>
          <p:nvPr/>
        </p:nvSpPr>
        <p:spPr>
          <a:xfrm xmlns:a="http://schemas.openxmlformats.org/drawingml/2006/main">
            <a:off x="640080" y="329184"/>
            <a:ext cx="10881360" cy="8686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3000" b="1">
                <a:solidFill>
                  <a:srgbClr val="1A1A1A"/>
                </a:solidFill>
                <a:latin typeface="Calibri"/>
                <a:ea typeface="Calibri"/>
                <a:cs typeface="Calibri"/>
              </a:rPr>
              <a:t>MPI: distributed memory across nodes</a:t>
            </a:r>
          </a:p>
        </p:txBody>
      </p:sp>
      <p:sp>
        <p:nvSpPr>
          <p:cNvPr id="3" name="TextBox 2">
            <a:extLst xmlns:a="http://schemas.openxmlformats.org/drawingml/2006/main">
              <a:ext uri="{FF2B5EF4-FFF2-40B4-BE49-F238E27FC236}">
                <a16:creationId xmlns:a16="http://schemas.microsoft.com/office/drawing/2014/main" id="{A8885007-431A-495D-971B-35F43BA5F59C}"/>
              </a:ext>
            </a:extLst>
          </p:cNvPr>
          <p:cNvSpPr>
            <a:spLocks xmlns:a="http://schemas.openxmlformats.org/drawingml/2006/main" noGrp="1"/>
          </p:cNvSpPr>
          <p:nvPr/>
        </p:nvSpPr>
        <p:spPr>
          <a:xfrm xmlns:a="http://schemas.openxmlformats.org/drawingml/2006/main">
            <a:off x="685800" y="1463040"/>
            <a:ext cx="10881360" cy="457200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Block decomposition of the outer index; each rank computes its slice against ALL positions; per-step </a:t>
            </a:r>
            <a:r>
              <a:rPr sz="1700">
                <a:solidFill>
                  <a:srgbClr val="0B3D91"/>
                </a:solidFill>
                <a:latin typeface="Consolas"/>
                <a:ea typeface="Consolas"/>
                <a:cs typeface="Consolas"/>
              </a:rPr>
              <a:t>MPI_Allgatherv</a:t>
            </a:r>
            <a:r>
              <a:rPr sz="1800">
                <a:solidFill>
                  <a:srgbClr val="1A1A1A"/>
                </a:solidFill>
                <a:latin typeface="Calibri"/>
                <a:ea typeface="Calibri"/>
                <a:cs typeface="Calibri"/>
              </a:rPr>
              <a:t> (positions only).</a:t>
            </a:r>
          </a:p>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Preserves the inner sum order → </a:t>
            </a:r>
            <a:r>
              <a:rPr sz="1800" b="1">
                <a:solidFill>
                  <a:srgbClr val="1F6FEB"/>
                </a:solidFill>
                <a:latin typeface="Calibri"/>
                <a:ea typeface="Calibri"/>
                <a:cs typeface="Calibri"/>
              </a:rPr>
              <a:t>bitwise identical to serial, 1 → 128 ranks</a:t>
            </a:r>
            <a:r>
              <a:rPr sz="1800">
                <a:solidFill>
                  <a:srgbClr val="1A1A1A"/>
                </a:solidFill>
                <a:latin typeface="Calibri"/>
                <a:ea typeface="Calibri"/>
                <a:cs typeface="Calibri"/>
              </a:rPr>
              <a:t>.</a:t>
            </a:r>
          </a:p>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Same 32-way node: MPI 27.5× (86%) vs OpenMP 29.2× (91%) — the gap IS the Allgatherv that shared memory avoids → argument for hybrid MPI+OpenMP.</a:t>
            </a:r>
          </a:p>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Communication cost isolated: 32 ranks packed on 1 node = </a:t>
            </a:r>
            <a:r>
              <a:rPr sz="1800" b="1">
                <a:solidFill>
                  <a:srgbClr val="1F6FEB"/>
                </a:solidFill>
                <a:latin typeface="Calibri"/>
                <a:ea typeface="Calibri"/>
                <a:cs typeface="Calibri"/>
              </a:rPr>
              <a:t>27.5×</a:t>
            </a:r>
            <a:r>
              <a:rPr sz="1800">
                <a:solidFill>
                  <a:srgbClr val="1A1A1A"/>
                </a:solidFill>
                <a:latin typeface="Calibri"/>
                <a:ea typeface="Calibri"/>
                <a:cs typeface="Calibri"/>
              </a:rPr>
              <a:t> vs spread over 4 nodes = </a:t>
            </a:r>
            <a:r>
              <a:rPr sz="1800" b="1">
                <a:solidFill>
                  <a:srgbClr val="1F6FEB"/>
                </a:solidFill>
                <a:latin typeface="Calibri"/>
                <a:ea typeface="Calibri"/>
                <a:cs typeface="Calibri"/>
              </a:rPr>
              <a:t>19.2×</a:t>
            </a:r>
            <a:r>
              <a:rPr sz="1800">
                <a:solidFill>
                  <a:srgbClr val="1A1A1A"/>
                </a:solidFill>
                <a:latin typeface="Calibri"/>
                <a:ea typeface="Calibri"/>
                <a:cs typeface="Calibri"/>
              </a:rPr>
              <a:t> (same ranks, same N).</a:t>
            </a:r>
          </a:p>
        </p:txBody>
      </p:sp>
      <p:sp>
        <p:nvSpPr>
          <p:cNvPr id="4" name="TextBox 3">
            <a:extLst xmlns:a="http://schemas.openxmlformats.org/drawingml/2006/main">
              <a:ext uri="{FF2B5EF4-FFF2-40B4-BE49-F238E27FC236}">
                <a16:creationId xmlns:a16="http://schemas.microsoft.com/office/drawing/2014/main" id="{93F8F759-3FF8-42A7-B225-32426FFF70FC}"/>
              </a:ext>
            </a:extLst>
          </p:cNvPr>
          <p:cNvSpPr>
            <a:spLocks xmlns:a="http://schemas.openxmlformats.org/drawingml/2006/main" noGrp="1"/>
          </p:cNvSpPr>
          <p:nvPr/>
        </p:nvSpPr>
        <p:spPr>
          <a:xfrm xmlns:a="http://schemas.openxmlformats.org/drawingml/2006/main">
            <a:off x="11292840" y="6455664"/>
            <a:ext cx="777240" cy="292608"/>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pPr>
            <a:r>
              <a:rPr sz="1000">
                <a:solidFill>
                  <a:srgbClr val="5A5A5A"/>
                </a:solidFill>
                <a:latin typeface="Calibri"/>
                <a:ea typeface="Calibri"/>
                <a:cs typeface="Calibri"/>
              </a:rPr>
              <a:t>16 / 19</a:t>
            </a:r>
          </a:p>
        </p:txBody>
      </p:sp>
    </p:spTree>
    <p:extLst>
      <p:ext uri="{BB962C8B-B14F-4D97-AF65-F5344CB8AC3E}">
        <p14:creationId xmlns:p14="http://schemas.microsoft.com/office/powerpoint/2010/main" val="35383788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52CF0113-EB78-4954-92F8-7BE3E8704A27}"/>
              </a:ext>
            </a:extLst>
          </p:cNvPr>
          <p:cNvSpPr>
            <a:spLocks xmlns:a="http://schemas.openxmlformats.org/drawingml/2006/main" noGrp="1"/>
          </p:cNvSpPr>
          <p:nvPr/>
        </p:nvSpPr>
        <p:spPr>
          <a:xfrm xmlns:a="http://schemas.openxmlformats.org/drawingml/2006/main">
            <a:off x="640080" y="329184"/>
            <a:ext cx="10881360" cy="8686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3000" b="1">
                <a:solidFill>
                  <a:srgbClr val="1A1A1A"/>
                </a:solidFill>
                <a:latin typeface="Calibri"/>
                <a:ea typeface="Calibri"/>
                <a:cs typeface="Calibri"/>
              </a:rPr>
              <a:t>MPI scaling</a:t>
            </a:r>
          </a:p>
        </p:txBody>
      </p:sp>
      <p:sp>
        <p:nvSpPr>
          <p:cNvPr id="3" name="TextBox 2">
            <a:extLst xmlns:a="http://schemas.openxmlformats.org/drawingml/2006/main">
              <a:ext uri="{FF2B5EF4-FFF2-40B4-BE49-F238E27FC236}">
                <a16:creationId xmlns:a16="http://schemas.microsoft.com/office/drawing/2014/main" id="{7EB1FB88-14A2-451D-81FF-A965051AA9BE}"/>
              </a:ext>
            </a:extLst>
          </p:cNvPr>
          <p:cNvSpPr>
            <a:spLocks xmlns:a="http://schemas.openxmlformats.org/drawingml/2006/main" noGrp="1"/>
          </p:cNvSpPr>
          <p:nvPr/>
        </p:nvSpPr>
        <p:spPr>
          <a:xfrm xmlns:a="http://schemas.openxmlformats.org/drawingml/2006/main">
            <a:off x="640080" y="1234440"/>
            <a:ext cx="5669280" cy="27432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l">
              <a:buNone/>
            </a:pPr>
            <a:r>
              <a:rPr sz="1200" i="1">
                <a:solidFill>
                  <a:srgbClr val="5A5A5A"/>
                </a:solidFill>
                <a:latin typeface="Calibri"/>
                <a:ea typeface="Calibri"/>
                <a:cs typeface="Calibri"/>
              </a:rPr>
              <a:t>Strong-scaling speed-up @ ranks</a:t>
            </a:r>
          </a:p>
        </p:txBody>
      </p:sp>
      <p:graphicFrame>
        <p:nvGraphicFramePr>
          <p:cNvPr id="14" name="Table 3"/>
          <p:cNvGraphicFramePr/>
          <p:nvPr/>
        </p:nvGraphicFramePr>
        <p:xfrm>
          <a:off xmlns:a="http://schemas.openxmlformats.org/drawingml/2006/main" x="640080" y="1554480"/>
          <a:ext xmlns:a="http://schemas.openxmlformats.org/drawingml/2006/main" cx="6080760" cy="1792224"/>
        </p:xfrm>
        <a:graphic xmlns:a="http://schemas.openxmlformats.org/drawingml/2006/main">
          <a:graphicData uri="http://schemas.openxmlformats.org/drawingml/2006/table">
            <a:tbl>
              <a:tblPr firstRow="0" firstCol="0" lastRow="0" lastCol="0" bandRow="0" bandCol="0"/>
              <a:tblGrid>
                <a:gridCol w="1554480"/>
                <a:gridCol w="1691640"/>
                <a:gridCol w="1234440"/>
                <a:gridCol w="1600200"/>
              </a:tblGrid>
              <a:tr h="420624">
                <a:tc>
                  <a:txBody>
                    <a:bodyPr wrap="square"/>
                    <a:lstStyle/>
                    <a:p>
                      <a:pPr algn="ctr">
                        <a:buNone/>
                      </a:pPr>
                      <a:r>
                        <a:rPr sz="1250" b="1">
                          <a:solidFill>
                            <a:srgbClr val="FFFFFF"/>
                          </a:solidFill>
                          <a:latin typeface="Calibri"/>
                          <a:ea typeface="Calibri"/>
                          <a:cs typeface="Calibri"/>
                        </a:rPr>
                        <a:t>N</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1F6FEB"/>
                    </a:solidFill>
                  </a:tcPr>
                </a:tc>
                <a:tc>
                  <a:txBody>
                    <a:bodyPr wrap="square"/>
                    <a:lstStyle/>
                    <a:p>
                      <a:pPr algn="ctr">
                        <a:buNone/>
                      </a:pPr>
                      <a:r>
                        <a:rPr sz="1250" b="1">
                          <a:solidFill>
                            <a:srgbClr val="FFFFFF"/>
                          </a:solidFill>
                          <a:latin typeface="Calibri"/>
                          <a:ea typeface="Calibri"/>
                          <a:cs typeface="Calibri"/>
                        </a:rPr>
                        <a:t>32</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1F6FEB"/>
                    </a:solidFill>
                  </a:tcPr>
                </a:tc>
                <a:tc>
                  <a:txBody>
                    <a:bodyPr wrap="square"/>
                    <a:lstStyle/>
                    <a:p>
                      <a:pPr algn="ctr">
                        <a:buNone/>
                      </a:pPr>
                      <a:r>
                        <a:rPr sz="1250" b="1">
                          <a:solidFill>
                            <a:srgbClr val="FFFFFF"/>
                          </a:solidFill>
                          <a:latin typeface="Calibri"/>
                          <a:ea typeface="Calibri"/>
                          <a:cs typeface="Calibri"/>
                        </a:rPr>
                        <a:t>64</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1F6FEB"/>
                    </a:solidFill>
                  </a:tcPr>
                </a:tc>
                <a:tc>
                  <a:txBody>
                    <a:bodyPr wrap="square"/>
                    <a:lstStyle/>
                    <a:p>
                      <a:pPr algn="ctr">
                        <a:buNone/>
                      </a:pPr>
                      <a:r>
                        <a:rPr sz="1250" b="1">
                          <a:solidFill>
                            <a:srgbClr val="FFFFFF"/>
                          </a:solidFill>
                          <a:latin typeface="Calibri"/>
                          <a:ea typeface="Calibri"/>
                          <a:cs typeface="Calibri"/>
                        </a:rPr>
                        <a:t>128</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1F6FEB"/>
                    </a:solidFill>
                  </a:tcPr>
                </a:tc>
              </a:tr>
              <a:tr h="457200">
                <a:tc>
                  <a:txBody>
                    <a:bodyPr wrap="square"/>
                    <a:lstStyle/>
                    <a:p>
                      <a:pPr algn="l">
                        <a:buNone/>
                      </a:pPr>
                      <a:r>
                        <a:rPr sz="1250" b="0">
                          <a:solidFill>
                            <a:srgbClr val="1A1A1A"/>
                          </a:solidFill>
                          <a:latin typeface="Calibri"/>
                          <a:ea typeface="Calibri"/>
                          <a:cs typeface="Calibri"/>
                        </a:rPr>
                        <a:t>2,231 (M)</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FFFFF"/>
                    </a:solidFill>
                  </a:tcPr>
                </a:tc>
                <a:tc>
                  <a:txBody>
                    <a:bodyPr wrap="square"/>
                    <a:lstStyle/>
                    <a:p>
                      <a:pPr algn="ctr">
                        <a:buNone/>
                      </a:pPr>
                      <a:r>
                        <a:rPr sz="1250" b="0">
                          <a:solidFill>
                            <a:srgbClr val="1A1A1A"/>
                          </a:solidFill>
                          <a:latin typeface="Calibri"/>
                          <a:ea typeface="Calibri"/>
                          <a:cs typeface="Calibri"/>
                        </a:rPr>
                        <a:t>27.5× (1 node)</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FFFFF"/>
                    </a:solidFill>
                  </a:tcPr>
                </a:tc>
                <a:tc>
                  <a:txBody>
                    <a:bodyPr wrap="square"/>
                    <a:lstStyle/>
                    <a:p>
                      <a:pPr algn="ctr">
                        <a:buNone/>
                      </a:pPr>
                      <a:r>
                        <a:rPr sz="1250" b="0">
                          <a:solidFill>
                            <a:srgbClr val="1A1A1A"/>
                          </a:solidFill>
                          <a:latin typeface="Calibri"/>
                          <a:ea typeface="Calibri"/>
                          <a:cs typeface="Calibri"/>
                        </a:rPr>
                        <a:t>38.6×</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FFFFF"/>
                    </a:solidFill>
                  </a:tcPr>
                </a:tc>
                <a:tc>
                  <a:txBody>
                    <a:bodyPr wrap="square"/>
                    <a:lstStyle/>
                    <a:p>
                      <a:pPr algn="ctr">
                        <a:buNone/>
                      </a:pPr>
                      <a:r>
                        <a:rPr sz="1250" b="0">
                          <a:solidFill>
                            <a:srgbClr val="1A1A1A"/>
                          </a:solidFill>
                          <a:latin typeface="Calibri"/>
                          <a:ea typeface="Calibri"/>
                          <a:cs typeface="Calibri"/>
                        </a:rPr>
                        <a:t>38.2× — saturated</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FFFFF"/>
                    </a:solidFill>
                  </a:tcPr>
                </a:tc>
              </a:tr>
              <a:tr h="457200">
                <a:tc>
                  <a:txBody>
                    <a:bodyPr wrap="square"/>
                    <a:lstStyle/>
                    <a:p>
                      <a:pPr algn="l">
                        <a:buNone/>
                      </a:pPr>
                      <a:r>
                        <a:rPr sz="1250" b="0">
                          <a:solidFill>
                            <a:srgbClr val="1A1A1A"/>
                          </a:solidFill>
                          <a:latin typeface="Calibri"/>
                          <a:ea typeface="Calibri"/>
                          <a:cs typeface="Calibri"/>
                        </a:rPr>
                        <a:t>8,996 (L)</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5F8FC"/>
                    </a:solidFill>
                  </a:tcPr>
                </a:tc>
                <a:tc>
                  <a:txBody>
                    <a:bodyPr wrap="square"/>
                    <a:lstStyle/>
                    <a:p>
                      <a:pPr algn="ctr">
                        <a:buNone/>
                      </a:pPr>
                      <a:r>
                        <a:rPr sz="1250" b="0">
                          <a:solidFill>
                            <a:srgbClr val="1A1A1A"/>
                          </a:solidFill>
                          <a:latin typeface="Calibri"/>
                          <a:ea typeface="Calibri"/>
                          <a:cs typeface="Calibri"/>
                        </a:rPr>
                        <a:t>30.3×</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5F8FC"/>
                    </a:solidFill>
                  </a:tcPr>
                </a:tc>
                <a:tc>
                  <a:txBody>
                    <a:bodyPr wrap="square"/>
                    <a:lstStyle/>
                    <a:p>
                      <a:pPr algn="ctr">
                        <a:buNone/>
                      </a:pPr>
                      <a:r>
                        <a:rPr sz="1250" b="0">
                          <a:solidFill>
                            <a:srgbClr val="1A1A1A"/>
                          </a:solidFill>
                          <a:latin typeface="Calibri"/>
                          <a:ea typeface="Calibri"/>
                          <a:cs typeface="Calibri"/>
                        </a:rPr>
                        <a:t>57.4×</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5F8FC"/>
                    </a:solidFill>
                  </a:tcPr>
                </a:tc>
                <a:tc>
                  <a:txBody>
                    <a:bodyPr wrap="square"/>
                    <a:lstStyle/>
                    <a:p>
                      <a:pPr algn="ctr">
                        <a:buNone/>
                      </a:pPr>
                      <a:r>
                        <a:rPr sz="1250" b="0">
                          <a:solidFill>
                            <a:srgbClr val="1A1A1A"/>
                          </a:solidFill>
                          <a:latin typeface="Calibri"/>
                          <a:ea typeface="Calibri"/>
                          <a:cs typeface="Calibri"/>
                        </a:rPr>
                        <a:t>89.7× (70%)</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F5F8FC"/>
                    </a:solidFill>
                  </a:tcPr>
                </a:tc>
              </a:tr>
              <a:tr h="457200">
                <a:tc>
                  <a:txBody>
                    <a:bodyPr wrap="square"/>
                    <a:lstStyle/>
                    <a:p>
                      <a:pPr algn="l">
                        <a:buNone/>
                      </a:pPr>
                      <a:r>
                        <a:rPr sz="1250" b="0">
                          <a:solidFill>
                            <a:srgbClr val="1A1A1A"/>
                          </a:solidFill>
                          <a:latin typeface="Calibri"/>
                          <a:ea typeface="Calibri"/>
                          <a:cs typeface="Calibri"/>
                        </a:rPr>
                        <a:t>35,919 (XL)</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E1ECFF"/>
                    </a:solidFill>
                  </a:tcPr>
                </a:tc>
                <a:tc>
                  <a:txBody>
                    <a:bodyPr wrap="square"/>
                    <a:lstStyle/>
                    <a:p>
                      <a:pPr algn="ctr">
                        <a:buNone/>
                      </a:pPr>
                      <a:r>
                        <a:rPr sz="1250" b="0">
                          <a:solidFill>
                            <a:srgbClr val="1A1A1A"/>
                          </a:solidFill>
                          <a:latin typeface="Calibri"/>
                          <a:ea typeface="Calibri"/>
                          <a:cs typeface="Calibri"/>
                        </a:rPr>
                        <a:t>—</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E1ECFF"/>
                    </a:solidFill>
                  </a:tcPr>
                </a:tc>
                <a:tc>
                  <a:txBody>
                    <a:bodyPr wrap="square"/>
                    <a:lstStyle/>
                    <a:p>
                      <a:pPr algn="ctr">
                        <a:buNone/>
                      </a:pPr>
                      <a:r>
                        <a:rPr sz="1250" b="0">
                          <a:solidFill>
                            <a:srgbClr val="1A1A1A"/>
                          </a:solidFill>
                          <a:latin typeface="Calibri"/>
                          <a:ea typeface="Calibri"/>
                          <a:cs typeface="Calibri"/>
                        </a:rPr>
                        <a:t>61.1× (95%)</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E1ECFF"/>
                    </a:solidFill>
                  </a:tcPr>
                </a:tc>
                <a:tc>
                  <a:txBody>
                    <a:bodyPr wrap="square"/>
                    <a:lstStyle/>
                    <a:p>
                      <a:pPr algn="ctr">
                        <a:buNone/>
                      </a:pPr>
                      <a:r>
                        <a:rPr sz="1250" b="1">
                          <a:solidFill>
                            <a:srgbClr val="1F6FEB"/>
                          </a:solidFill>
                          <a:latin typeface="Calibri"/>
                          <a:ea typeface="Calibri"/>
                          <a:cs typeface="Calibri"/>
                        </a:rPr>
                        <a:t>113.7× (89%)</a:t>
                      </a:r>
                    </a:p>
                  </a:txBody>
                  <a:tcPr marL="91440" marR="118872" marT="18288" marB="18288" anchor="ctr">
                    <a:lnL w="9525" cmpd="sng">
                      <a:solidFill>
                        <a:srgbClr val="D0D7DE"/>
                      </a:solidFill>
                    </a:lnL>
                    <a:lnR w="9525" cmpd="sng">
                      <a:solidFill>
                        <a:srgbClr val="D0D7DE"/>
                      </a:solidFill>
                    </a:lnR>
                    <a:lnT w="9525" cmpd="sng">
                      <a:solidFill>
                        <a:srgbClr val="D0D7DE"/>
                      </a:solidFill>
                    </a:lnT>
                    <a:lnB w="9525" cmpd="sng">
                      <a:solidFill>
                        <a:srgbClr val="D0D7DE"/>
                      </a:solidFill>
                    </a:lnB>
                    <a:solidFill>
                      <a:srgbClr val="E1ECFF"/>
                    </a:solidFill>
                  </a:tcPr>
                </a:tc>
              </a:tr>
            </a:tbl>
          </a:graphicData>
        </a:graphic>
      </p:graphicFrame>
      <p:sp>
        <p:nvSpPr>
          <p:cNvPr id="5" name="TextBox 4">
            <a:extLst xmlns:a="http://schemas.openxmlformats.org/drawingml/2006/main">
              <a:ext uri="{FF2B5EF4-FFF2-40B4-BE49-F238E27FC236}">
                <a16:creationId xmlns:a16="http://schemas.microsoft.com/office/drawing/2014/main" id="{73CA9684-DCFD-4510-A4A3-2ED6A3E8A282}"/>
              </a:ext>
            </a:extLst>
          </p:cNvPr>
          <p:cNvSpPr>
            <a:spLocks xmlns:a="http://schemas.openxmlformats.org/drawingml/2006/main" noGrp="1"/>
          </p:cNvSpPr>
          <p:nvPr/>
        </p:nvSpPr>
        <p:spPr>
          <a:xfrm xmlns:a="http://schemas.openxmlformats.org/drawingml/2006/main">
            <a:off x="6995160" y="1481328"/>
            <a:ext cx="4846320" cy="219456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285750" indent="-285750" algn="l">
              <a:lnSpc>
                <a:spcPct val="104000"/>
              </a:lnSpc>
              <a:spcAft>
                <a:spcPts val="500"/>
              </a:spcAft>
              <a:buClr>
                <a:srgbClr val="1F6FEB"/>
              </a:buClr>
              <a:buFont typeface="Arial"/>
              <a:buChar char="•"/>
            </a:pPr>
            <a:r>
              <a:rPr sz="1350">
                <a:solidFill>
                  <a:srgbClr val="1A1A1A"/>
                </a:solidFill>
                <a:latin typeface="Calibri"/>
                <a:ea typeface="Calibri"/>
                <a:cs typeface="Calibri"/>
              </a:rPr>
              <a:t>Weak scaling (work/rank const): p=4 → 99%, p=16 → 95%, p=64 → </a:t>
            </a:r>
            <a:r>
              <a:rPr sz="1350" b="1">
                <a:solidFill>
                  <a:srgbClr val="1F6FEB"/>
                </a:solidFill>
                <a:latin typeface="Calibri"/>
                <a:ea typeface="Calibri"/>
                <a:cs typeface="Calibri"/>
              </a:rPr>
              <a:t>92%</a:t>
            </a:r>
            <a:r>
              <a:rPr sz="1350">
                <a:solidFill>
                  <a:srgbClr val="1A1A1A"/>
                </a:solidFill>
                <a:latin typeface="Calibri"/>
                <a:ea typeface="Calibri"/>
                <a:cs typeface="Calibri"/>
              </a:rPr>
              <a:t>.</a:t>
            </a:r>
          </a:p>
          <a:p xmlns:a="http://schemas.openxmlformats.org/drawingml/2006/main">
            <a:pPr marL="285750" indent="-285750" algn="l">
              <a:lnSpc>
                <a:spcPct val="104000"/>
              </a:lnSpc>
              <a:spcAft>
                <a:spcPts val="500"/>
              </a:spcAft>
              <a:buClr>
                <a:srgbClr val="1F6FEB"/>
              </a:buClr>
              <a:buFont typeface="Arial"/>
              <a:buChar char="•"/>
            </a:pPr>
            <a:r>
              <a:rPr sz="1350">
                <a:solidFill>
                  <a:srgbClr val="1A1A1A"/>
                </a:solidFill>
                <a:latin typeface="Calibri"/>
                <a:ea typeface="Calibri"/>
                <a:cs typeface="Calibri"/>
              </a:rPr>
              <a:t>At N=2231, 128 ranks ≈ 17 particles/rank → communication-bound, speedup saturates.</a:t>
            </a:r>
          </a:p>
          <a:p xmlns:a="http://schemas.openxmlformats.org/drawingml/2006/main">
            <a:pPr marL="285750" indent="-285750" algn="l">
              <a:lnSpc>
                <a:spcPct val="104000"/>
              </a:lnSpc>
              <a:spcAft>
                <a:spcPts val="500"/>
              </a:spcAft>
              <a:buClr>
                <a:srgbClr val="1F6FEB"/>
              </a:buClr>
              <a:buFont typeface="Arial"/>
              <a:buChar char="•"/>
            </a:pPr>
            <a:r>
              <a:rPr sz="1350">
                <a:solidFill>
                  <a:srgbClr val="1A1A1A"/>
                </a:solidFill>
                <a:latin typeface="Calibri"/>
                <a:ea typeface="Calibri"/>
                <a:cs typeface="Calibri"/>
              </a:rPr>
              <a:t>Scaling ceiling moves with problem size — the MPI twin of the GPU occupancy story.</a:t>
            </a:r>
          </a:p>
        </p:txBody>
      </p:sp>
      <p:pic>
        <p:nvPicPr>
          <p:cNvPr id="16" name="Picture 5"/>
          <p:cNvPicPr>
            <a:picLocks xmlns:a="http://schemas.openxmlformats.org/drawingml/2006/main" noChangeAspect="1"/>
          </p:cNvPicPr>
          <p:nvPr/>
        </p:nvPicPr>
        <p:blipFill>
          <a:blip xmlns:r="http://schemas.openxmlformats.org/officeDocument/2006/relationships" xmlns:a="http://schemas.openxmlformats.org/drawingml/2006/main" r:embed="R3ab222efd799448b"/>
          <a:stretch xmlns:a="http://schemas.openxmlformats.org/drawingml/2006/main">
            <a:fillRect l="0" t="0" r="0" b="0"/>
          </a:stretch>
        </p:blipFill>
        <p:spPr>
          <a:xfrm xmlns:a="http://schemas.openxmlformats.org/drawingml/2006/main">
            <a:off x="1485900" y="3611880"/>
            <a:ext cx="4160520" cy="2880360"/>
          </a:xfrm>
          <a:prstGeom xmlns:a="http://schemas.openxmlformats.org/drawingml/2006/main" prst="rect">
            <a:avLst/>
          </a:prstGeom>
        </p:spPr>
      </p:pic>
      <p:pic>
        <p:nvPicPr>
          <p:cNvPr id="17" name="Picture 6"/>
          <p:cNvPicPr>
            <a:picLocks xmlns:a="http://schemas.openxmlformats.org/drawingml/2006/main" noChangeAspect="1"/>
          </p:cNvPicPr>
          <p:nvPr/>
        </p:nvPicPr>
        <p:blipFill>
          <a:blip xmlns:r="http://schemas.openxmlformats.org/officeDocument/2006/relationships" xmlns:a="http://schemas.openxmlformats.org/drawingml/2006/main" r:embed="R5d1c8a39eac9439a"/>
          <a:stretch xmlns:a="http://schemas.openxmlformats.org/drawingml/2006/main">
            <a:fillRect l="0" t="0" r="0" b="0"/>
          </a:stretch>
        </p:blipFill>
        <p:spPr>
          <a:xfrm xmlns:a="http://schemas.openxmlformats.org/drawingml/2006/main">
            <a:off x="6355080" y="3619500"/>
            <a:ext cx="4297680" cy="2865120"/>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AFED4933-63B8-4028-BC0E-2A3396F4EFBC}"/>
              </a:ext>
            </a:extLst>
          </p:cNvPr>
          <p:cNvSpPr>
            <a:spLocks xmlns:a="http://schemas.openxmlformats.org/drawingml/2006/main" noGrp="1"/>
          </p:cNvSpPr>
          <p:nvPr/>
        </p:nvSpPr>
        <p:spPr>
          <a:xfrm xmlns:a="http://schemas.openxmlformats.org/drawingml/2006/main">
            <a:off x="11292840" y="6455664"/>
            <a:ext cx="777240" cy="292608"/>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pPr>
            <a:r>
              <a:rPr sz="1000">
                <a:solidFill>
                  <a:srgbClr val="5A5A5A"/>
                </a:solidFill>
                <a:latin typeface="Calibri"/>
                <a:ea typeface="Calibri"/>
                <a:cs typeface="Calibri"/>
              </a:rPr>
              <a:t>17 / 19</a:t>
            </a:r>
          </a:p>
        </p:txBody>
      </p:sp>
    </p:spTree>
    <p:extLst>
      <p:ext uri="{BB962C8B-B14F-4D97-AF65-F5344CB8AC3E}">
        <p14:creationId xmlns:p14="http://schemas.microsoft.com/office/powerpoint/2010/main" val="106468684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5898FACC-13F8-48F8-AA65-64A5AA3F8889}"/>
              </a:ext>
            </a:extLst>
          </p:cNvPr>
          <p:cNvSpPr>
            <a:spLocks xmlns:a="http://schemas.openxmlformats.org/drawingml/2006/main" noGrp="1"/>
          </p:cNvSpPr>
          <p:nvPr/>
        </p:nvSpPr>
        <p:spPr>
          <a:xfrm xmlns:a="http://schemas.openxmlformats.org/drawingml/2006/main">
            <a:off x="640080" y="329184"/>
            <a:ext cx="10881360" cy="8686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3000" b="1">
                <a:solidFill>
                  <a:srgbClr val="1A1A1A"/>
                </a:solidFill>
                <a:latin typeface="Calibri"/>
                <a:ea typeface="Calibri"/>
                <a:cs typeface="Calibri"/>
              </a:rPr>
              <a:t>Conclusions</a:t>
            </a:r>
          </a:p>
        </p:txBody>
      </p:sp>
      <p:sp>
        <p:nvSpPr>
          <p:cNvPr id="3" name="TextBox 2">
            <a:extLst xmlns:a="http://schemas.openxmlformats.org/drawingml/2006/main">
              <a:ext uri="{FF2B5EF4-FFF2-40B4-BE49-F238E27FC236}">
                <a16:creationId xmlns:a16="http://schemas.microsoft.com/office/drawing/2014/main" id="{C9EFB179-D24F-4A79-8A29-03E7DDF8FBF7}"/>
              </a:ext>
            </a:extLst>
          </p:cNvPr>
          <p:cNvSpPr>
            <a:spLocks xmlns:a="http://schemas.openxmlformats.org/drawingml/2006/main" noGrp="1"/>
          </p:cNvSpPr>
          <p:nvPr/>
        </p:nvSpPr>
        <p:spPr>
          <a:xfrm xmlns:a="http://schemas.openxmlformats.org/drawingml/2006/main">
            <a:off x="685800" y="1463040"/>
            <a:ext cx="10881360" cy="457200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Seven runnable programs: six produce bitwise-identical state arrays; Numba-CUDA passes the 2·10⁻³ course gate.</a:t>
            </a:r>
          </a:p>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One design rule made that possible: preserve the inner sum order and refuse contraction—an estimated +31% FMA opportunity knowingly declined.</a:t>
            </a:r>
          </a:p>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Performance: </a:t>
            </a:r>
            <a:r>
              <a:rPr sz="1800" b="1">
                <a:solidFill>
                  <a:srgbClr val="1F6FEB"/>
                </a:solidFill>
                <a:latin typeface="Calibri"/>
                <a:ea typeface="Calibri"/>
                <a:cs typeface="Calibri"/>
              </a:rPr>
              <a:t>29.2×</a:t>
            </a:r>
            <a:r>
              <a:rPr sz="1800">
                <a:solidFill>
                  <a:srgbClr val="1A1A1A"/>
                </a:solidFill>
                <a:latin typeface="Calibri"/>
                <a:ea typeface="Calibri"/>
                <a:cs typeface="Calibri"/>
              </a:rPr>
              <a:t> (OpenMP, 32 cores) · </a:t>
            </a:r>
            <a:r>
              <a:rPr sz="1800" b="1">
                <a:solidFill>
                  <a:srgbClr val="1F6FEB"/>
                </a:solidFill>
                <a:latin typeface="Calibri"/>
                <a:ea typeface="Calibri"/>
                <a:cs typeface="Calibri"/>
              </a:rPr>
              <a:t>31→543×</a:t>
            </a:r>
            <a:r>
              <a:rPr sz="1800">
                <a:solidFill>
                  <a:srgbClr val="1A1A1A"/>
                </a:solidFill>
                <a:latin typeface="Calibri"/>
                <a:ea typeface="Calibri"/>
                <a:cs typeface="Calibri"/>
              </a:rPr>
              <a:t> (CUDA, N-dependent) · </a:t>
            </a:r>
            <a:r>
              <a:rPr sz="1800" b="1">
                <a:solidFill>
                  <a:srgbClr val="1F6FEB"/>
                </a:solidFill>
                <a:latin typeface="Calibri"/>
                <a:ea typeface="Calibri"/>
                <a:cs typeface="Calibri"/>
              </a:rPr>
              <a:t>113.7×</a:t>
            </a:r>
            <a:r>
              <a:rPr sz="1800">
                <a:solidFill>
                  <a:srgbClr val="1A1A1A"/>
                </a:solidFill>
                <a:latin typeface="Calibri"/>
                <a:ea typeface="Calibri"/>
                <a:cs typeface="Calibri"/>
              </a:rPr>
              <a:t> (MPI, 128 ranks) · Numba within 6% of hand-written OpenMP.</a:t>
            </a:r>
          </a:p>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One lesson everywhere: speedup = work per processing element (Amdahl ceiling, GPU occupancy, MPI ranks — the same curve three times).</a:t>
            </a:r>
          </a:p>
        </p:txBody>
      </p:sp>
      <p:sp>
        <p:nvSpPr>
          <p:cNvPr id="4" name="TextBox 3">
            <a:extLst xmlns:a="http://schemas.openxmlformats.org/drawingml/2006/main">
              <a:ext uri="{FF2B5EF4-FFF2-40B4-BE49-F238E27FC236}">
                <a16:creationId xmlns:a16="http://schemas.microsoft.com/office/drawing/2014/main" id="{96ED0E87-7707-4A23-B57B-15E9EA3D68F4}"/>
              </a:ext>
            </a:extLst>
          </p:cNvPr>
          <p:cNvSpPr>
            <a:spLocks xmlns:a="http://schemas.openxmlformats.org/drawingml/2006/main" noGrp="1"/>
          </p:cNvSpPr>
          <p:nvPr/>
        </p:nvSpPr>
        <p:spPr>
          <a:xfrm xmlns:a="http://schemas.openxmlformats.org/drawingml/2006/main">
            <a:off x="11292840" y="6455664"/>
            <a:ext cx="777240" cy="292608"/>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pPr>
            <a:r>
              <a:rPr sz="1000">
                <a:solidFill>
                  <a:srgbClr val="5A5A5A"/>
                </a:solidFill>
                <a:latin typeface="Calibri"/>
                <a:ea typeface="Calibri"/>
                <a:cs typeface="Calibri"/>
              </a:rPr>
              <a:t>18 / 19</a:t>
            </a:r>
          </a:p>
        </p:txBody>
      </p:sp>
    </p:spTree>
    <p:extLst>
      <p:ext uri="{BB962C8B-B14F-4D97-AF65-F5344CB8AC3E}">
        <p14:creationId xmlns:p14="http://schemas.microsoft.com/office/powerpoint/2010/main" val="21482093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5D6AD905-CCB3-441C-A46C-902AC8928200}"/>
              </a:ext>
            </a:extLst>
          </p:cNvPr>
          <p:cNvSpPr>
            <a:spLocks xmlns:a="http://schemas.openxmlformats.org/drawingml/2006/main" noGrp="1"/>
          </p:cNvSpPr>
          <p:nvPr/>
        </p:nvSpPr>
        <p:spPr>
          <a:xfrm xmlns:a="http://schemas.openxmlformats.org/drawingml/2006/main">
            <a:off x="640080" y="329184"/>
            <a:ext cx="10881360" cy="8686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3000" b="1">
                <a:solidFill>
                  <a:srgbClr val="1A1A1A"/>
                </a:solidFill>
                <a:latin typeface="Calibri"/>
                <a:ea typeface="Calibri"/>
                <a:cs typeface="Calibri"/>
              </a:rPr>
              <a:t>Backup: artifacts</a:t>
            </a:r>
          </a:p>
        </p:txBody>
      </p:sp>
      <p:sp>
        <p:nvSpPr>
          <p:cNvPr id="3" name="TextBox 2">
            <a:extLst xmlns:a="http://schemas.openxmlformats.org/drawingml/2006/main">
              <a:ext uri="{FF2B5EF4-FFF2-40B4-BE49-F238E27FC236}">
                <a16:creationId xmlns:a16="http://schemas.microsoft.com/office/drawing/2014/main" id="{BF17A58D-BE9B-460B-A519-A83EE42D0F23}"/>
              </a:ext>
            </a:extLst>
          </p:cNvPr>
          <p:cNvSpPr>
            <a:spLocks xmlns:a="http://schemas.openxmlformats.org/drawingml/2006/main" noGrp="1"/>
          </p:cNvSpPr>
          <p:nvPr/>
        </p:nvSpPr>
        <p:spPr>
          <a:xfrm xmlns:a="http://schemas.openxmlformats.org/drawingml/2006/main">
            <a:off x="685800" y="1463040"/>
            <a:ext cx="10881360" cy="457200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Repo: github.com/Leonard013/polimi-phd-school → FinalProjects/Particles.</a:t>
            </a:r>
          </a:p>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Raw evidence: </a:t>
            </a:r>
            <a:r>
              <a:rPr sz="1700">
                <a:solidFill>
                  <a:srgbClr val="0B3D91"/>
                </a:solidFill>
                <a:latin typeface="Consolas"/>
                <a:ea typeface="Consolas"/>
                <a:cs typeface="Consolas"/>
              </a:rPr>
              <a:t>logs/*.out</a:t>
            </a:r>
            <a:r>
              <a:rPr sz="1800">
                <a:solidFill>
                  <a:srgbClr val="1A1A1A"/>
                </a:solidFill>
                <a:latin typeface="Calibri"/>
                <a:ea typeface="Calibri"/>
                <a:cs typeface="Calibri"/>
              </a:rPr>
              <a:t> (SLURM jobs), </a:t>
            </a:r>
            <a:r>
              <a:rPr sz="1700">
                <a:solidFill>
                  <a:srgbClr val="0B3D91"/>
                </a:solidFill>
                <a:latin typeface="Consolas"/>
                <a:ea typeface="Consolas"/>
                <a:cs typeface="Consolas"/>
              </a:rPr>
              <a:t>reports/validation.log</a:t>
            </a:r>
            <a:r>
              <a:rPr sz="1800">
                <a:solidFill>
                  <a:srgbClr val="1A1A1A"/>
                </a:solidFill>
                <a:latin typeface="Calibri"/>
                <a:ea typeface="Calibri"/>
                <a:cs typeface="Calibri"/>
              </a:rPr>
              <a:t> (15-pair matrix), </a:t>
            </a:r>
            <a:r>
              <a:rPr sz="1700">
                <a:solidFill>
                  <a:srgbClr val="0B3D91"/>
                </a:solidFill>
                <a:latin typeface="Consolas"/>
                <a:ea typeface="Consolas"/>
                <a:cs typeface="Consolas"/>
              </a:rPr>
              <a:t>reports/*.csv</a:t>
            </a:r>
            <a:r>
              <a:rPr sz="1800">
                <a:solidFill>
                  <a:srgbClr val="1A1A1A"/>
                </a:solidFill>
                <a:latin typeface="Calibri"/>
                <a:ea typeface="Calibri"/>
                <a:cs typeface="Calibri"/>
              </a:rPr>
              <a:t> (every measurement), </a:t>
            </a:r>
            <a:r>
              <a:rPr sz="1700">
                <a:solidFill>
                  <a:srgbClr val="0B3D91"/>
                </a:solidFill>
                <a:latin typeface="Consolas"/>
                <a:ea typeface="Consolas"/>
                <a:cs typeface="Consolas"/>
              </a:rPr>
              <a:t>reports/ncu/*.ncu-rep</a:t>
            </a:r>
            <a:r>
              <a:rPr sz="1800">
                <a:solidFill>
                  <a:srgbClr val="1A1A1A"/>
                </a:solidFill>
                <a:latin typeface="Calibri"/>
                <a:ea typeface="Calibri"/>
                <a:cs typeface="Calibri"/>
              </a:rPr>
              <a:t>, </a:t>
            </a:r>
            <a:r>
              <a:rPr sz="1700">
                <a:solidFill>
                  <a:srgbClr val="0B3D91"/>
                </a:solidFill>
                <a:latin typeface="Consolas"/>
                <a:ea typeface="Consolas"/>
                <a:cs typeface="Consolas"/>
              </a:rPr>
              <a:t>reports/nsys/*</a:t>
            </a:r>
            <a:r>
              <a:rPr sz="1800">
                <a:solidFill>
                  <a:srgbClr val="1A1A1A"/>
                </a:solidFill>
                <a:latin typeface="Calibri"/>
                <a:ea typeface="Calibri"/>
                <a:cs typeface="Calibri"/>
              </a:rPr>
              <a:t>.</a:t>
            </a:r>
          </a:p>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Run: scripts/submit_pipeline.sh; validate: run_validate.sh; reports: tools/parse_*.py.</a:t>
            </a:r>
          </a:p>
          <a:p xmlns:a="http://schemas.openxmlformats.org/drawingml/2006/main">
            <a:pPr marL="285750" indent="-285750" algn="l">
              <a:lnSpc>
                <a:spcPct val="104000"/>
              </a:lnSpc>
              <a:spcAft>
                <a:spcPts val="800"/>
              </a:spcAft>
              <a:buClr>
                <a:srgbClr val="1F6FEB"/>
              </a:buClr>
              <a:buFont typeface="Arial"/>
              <a:buChar char="•"/>
            </a:pPr>
            <a:r>
              <a:rPr sz="1800">
                <a:solidFill>
                  <a:srgbClr val="1A1A1A"/>
                </a:solidFill>
                <a:latin typeface="Calibri"/>
                <a:ea typeface="Calibri"/>
                <a:cs typeface="Calibri"/>
              </a:rPr>
              <a:t>Run environment details: </a:t>
            </a:r>
            <a:r>
              <a:rPr sz="1700">
                <a:solidFill>
                  <a:srgbClr val="0B3D91"/>
                </a:solidFill>
                <a:latin typeface="Consolas"/>
                <a:ea typeface="Consolas"/>
                <a:cs typeface="Consolas"/>
              </a:rPr>
              <a:t>LEONARDO_RUN_STATUS.md</a:t>
            </a:r>
            <a:r>
              <a:rPr sz="1800">
                <a:solidFill>
                  <a:srgbClr val="1A1A1A"/>
                </a:solidFill>
                <a:latin typeface="Calibri"/>
                <a:ea typeface="Calibri"/>
                <a:cs typeface="Calibri"/>
              </a:rPr>
              <a:t>.</a:t>
            </a:r>
          </a:p>
        </p:txBody>
      </p:sp>
      <p:sp>
        <p:nvSpPr>
          <p:cNvPr id="4" name="TextBox 3">
            <a:extLst xmlns:a="http://schemas.openxmlformats.org/drawingml/2006/main">
              <a:ext uri="{FF2B5EF4-FFF2-40B4-BE49-F238E27FC236}">
                <a16:creationId xmlns:a16="http://schemas.microsoft.com/office/drawing/2014/main" id="{C3D9B611-C530-44D4-8D4B-15C3352E2E75}"/>
              </a:ext>
            </a:extLst>
          </p:cNvPr>
          <p:cNvSpPr>
            <a:spLocks xmlns:a="http://schemas.openxmlformats.org/drawingml/2006/main" noGrp="1"/>
          </p:cNvSpPr>
          <p:nvPr/>
        </p:nvSpPr>
        <p:spPr>
          <a:xfrm xmlns:a="http://schemas.openxmlformats.org/drawingml/2006/main">
            <a:off x="11292840" y="6455664"/>
            <a:ext cx="777240" cy="292608"/>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pPr>
            <a:r>
              <a:rPr sz="1000">
                <a:solidFill>
                  <a:srgbClr val="5A5A5A"/>
                </a:solidFill>
                <a:latin typeface="Calibri"/>
                <a:ea typeface="Calibri"/>
                <a:cs typeface="Calibri"/>
              </a:rPr>
              <a:t>19 / 19</a:t>
            </a:r>
          </a:p>
        </p:txBody>
      </p:sp>
    </p:spTree>
    <p:extLst>
      <p:ext uri="{BB962C8B-B14F-4D97-AF65-F5344CB8AC3E}">
        <p14:creationId xmlns:p14="http://schemas.microsoft.com/office/powerpoint/2010/main" val="161248066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2026-07-20T17:18:02.3690000Z</dcterms:created>
  <dcterms:modified xsi:type="dcterms:W3CDTF">2026-07-20T17:18:02.3690000Z</dcterms:modified>
</coreProperties>
</file>